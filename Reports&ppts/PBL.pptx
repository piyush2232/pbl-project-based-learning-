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67" r:id="rId2"/>
    <p:sldId id="257" r:id="rId3"/>
    <p:sldId id="258" r:id="rId4"/>
    <p:sldId id="259" r:id="rId5"/>
    <p:sldId id="260" r:id="rId6"/>
    <p:sldId id="268" r:id="rId7"/>
    <p:sldId id="261" r:id="rId8"/>
    <p:sldId id="275" r:id="rId9"/>
    <p:sldId id="262" r:id="rId10"/>
    <p:sldId id="272" r:id="rId11"/>
    <p:sldId id="269" r:id="rId12"/>
    <p:sldId id="270" r:id="rId13"/>
    <p:sldId id="271" r:id="rId14"/>
    <p:sldId id="273" r:id="rId15"/>
    <p:sldId id="274" r:id="rId16"/>
    <p:sldId id="266" r:id="rId17"/>
  </p:sldIdLst>
  <p:sldSz cx="12188825" cy="6858000"/>
  <p:notesSz cx="7772400" cy="100584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5" d="100"/>
          <a:sy n="105" d="100"/>
        </p:scale>
        <p:origin x="798" y="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902749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1B262C-5EAA-92F1-A89B-BDF6636C69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>
            <a:extLst>
              <a:ext uri="{FF2B5EF4-FFF2-40B4-BE49-F238E27FC236}">
                <a16:creationId xmlns:a16="http://schemas.microsoft.com/office/drawing/2014/main" id="{FD44462A-AC9A-8DB7-483D-B1A7CE2071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825380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83406" y="3118104"/>
            <a:ext cx="6611937" cy="21122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66812" y="5632704"/>
            <a:ext cx="5445124" cy="251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1543574" y="5078135"/>
            <a:ext cx="782972" cy="69348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2427215" y="5134062"/>
            <a:ext cx="3679971" cy="49215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k object 18"/>
          <p:cNvSpPr/>
          <p:nvPr/>
        </p:nvSpPr>
        <p:spPr>
          <a:xfrm>
            <a:off x="1990986" y="7628388"/>
            <a:ext cx="3792220" cy="0"/>
          </a:xfrm>
          <a:custGeom>
            <a:avLst/>
            <a:gdLst/>
            <a:ahLst/>
            <a:cxnLst/>
            <a:rect l="l" t="t" r="r" b="b"/>
            <a:pathLst>
              <a:path w="3792220">
                <a:moveTo>
                  <a:pt x="0" y="0"/>
                </a:moveTo>
                <a:lnTo>
                  <a:pt x="3791825" y="0"/>
                </a:lnTo>
              </a:path>
            </a:pathLst>
          </a:custGeom>
          <a:ln w="11185">
            <a:solidFill>
              <a:srgbClr val="44444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50" b="1" i="0">
                <a:solidFill>
                  <a:srgbClr val="1C1A1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550" b="1" i="0">
                <a:solidFill>
                  <a:srgbClr val="1C1A1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50" b="1" i="0">
                <a:solidFill>
                  <a:srgbClr val="1C1A1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88937" y="2313432"/>
            <a:ext cx="3383756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006056" y="2313432"/>
            <a:ext cx="3383756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50" b="1" i="0">
                <a:solidFill>
                  <a:srgbClr val="1C1A1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35255" y="1596913"/>
            <a:ext cx="5908238" cy="4000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50" b="1" i="0">
                <a:solidFill>
                  <a:srgbClr val="1C1A1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04496" y="3387518"/>
            <a:ext cx="5969757" cy="51111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50" b="1" i="0">
                <a:solidFill>
                  <a:srgbClr val="1C1A1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644775" y="9354312"/>
            <a:ext cx="2489199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88937" y="9354312"/>
            <a:ext cx="178911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600700" y="9354312"/>
            <a:ext cx="178911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ynab.com/the-fou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E7D73-1DF0-B2D1-6A47-FF96E25CAE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812" y="2310422"/>
            <a:ext cx="11353800" cy="3323987"/>
          </a:xfrm>
        </p:spPr>
        <p:txBody>
          <a:bodyPr/>
          <a:lstStyle/>
          <a:p>
            <a:pPr algn="ctr"/>
            <a:r>
              <a:rPr lang="en-IN" sz="7200" spc="75" dirty="0">
                <a:solidFill>
                  <a:srgbClr val="231F1F"/>
                </a:solidFill>
                <a:latin typeface="Times New Roman"/>
                <a:cs typeface="Times New Roman"/>
              </a:rPr>
              <a:t>Personal</a:t>
            </a:r>
            <a:r>
              <a:rPr lang="en-IN" sz="7200" spc="330" dirty="0">
                <a:solidFill>
                  <a:srgbClr val="231F1F"/>
                </a:solidFill>
                <a:latin typeface="Times New Roman"/>
                <a:cs typeface="Times New Roman"/>
              </a:rPr>
              <a:t> </a:t>
            </a:r>
            <a:r>
              <a:rPr lang="en-IN" sz="7200" spc="10" dirty="0">
                <a:solidFill>
                  <a:srgbClr val="231F1F"/>
                </a:solidFill>
                <a:latin typeface="Times New Roman"/>
                <a:cs typeface="Times New Roman"/>
              </a:rPr>
              <a:t>F</a:t>
            </a:r>
            <a:r>
              <a:rPr lang="en-IN" sz="7200" spc="100" dirty="0">
                <a:solidFill>
                  <a:srgbClr val="231F1F"/>
                </a:solidFill>
                <a:latin typeface="Times New Roman"/>
                <a:cs typeface="Times New Roman"/>
              </a:rPr>
              <a:t>in</a:t>
            </a:r>
            <a:r>
              <a:rPr lang="en-IN" sz="7200" spc="275" dirty="0">
                <a:solidFill>
                  <a:srgbClr val="231F1F"/>
                </a:solidFill>
                <a:latin typeface="Times New Roman"/>
                <a:cs typeface="Times New Roman"/>
              </a:rPr>
              <a:t>a</a:t>
            </a:r>
            <a:r>
              <a:rPr lang="en-IN" sz="7200" spc="90" dirty="0">
                <a:solidFill>
                  <a:srgbClr val="231F1F"/>
                </a:solidFill>
                <a:latin typeface="Times New Roman"/>
                <a:cs typeface="Times New Roman"/>
              </a:rPr>
              <a:t>n</a:t>
            </a:r>
            <a:r>
              <a:rPr lang="en-IN" sz="7200" spc="145" dirty="0">
                <a:solidFill>
                  <a:srgbClr val="231F1F"/>
                </a:solidFill>
                <a:latin typeface="Times New Roman"/>
                <a:cs typeface="Times New Roman"/>
              </a:rPr>
              <a:t>c</a:t>
            </a:r>
            <a:r>
              <a:rPr lang="en-IN" sz="7200" spc="95" dirty="0">
                <a:solidFill>
                  <a:srgbClr val="231F1F"/>
                </a:solidFill>
                <a:latin typeface="Times New Roman"/>
                <a:cs typeface="Times New Roman"/>
              </a:rPr>
              <a:t>e</a:t>
            </a:r>
            <a:r>
              <a:rPr lang="en-IN" sz="7200" spc="-170" dirty="0">
                <a:solidFill>
                  <a:srgbClr val="231F1F"/>
                </a:solidFill>
                <a:latin typeface="Times New Roman"/>
                <a:cs typeface="Times New Roman"/>
              </a:rPr>
              <a:t> </a:t>
            </a:r>
            <a:br>
              <a:rPr lang="en-IN" sz="7200" spc="-170" dirty="0">
                <a:solidFill>
                  <a:srgbClr val="231F1F"/>
                </a:solidFill>
                <a:latin typeface="Times New Roman"/>
                <a:cs typeface="Times New Roman"/>
              </a:rPr>
            </a:br>
            <a:r>
              <a:rPr lang="en-IN" sz="7200" spc="100" dirty="0">
                <a:solidFill>
                  <a:srgbClr val="231F1F"/>
                </a:solidFill>
                <a:latin typeface="Times New Roman"/>
                <a:cs typeface="Times New Roman"/>
              </a:rPr>
              <a:t>Tra</a:t>
            </a:r>
            <a:r>
              <a:rPr lang="en-IN" sz="7200" spc="-15" dirty="0">
                <a:solidFill>
                  <a:srgbClr val="231F1F"/>
                </a:solidFill>
                <a:latin typeface="Times New Roman"/>
                <a:cs typeface="Times New Roman"/>
              </a:rPr>
              <a:t>c</a:t>
            </a:r>
            <a:r>
              <a:rPr lang="en-IN" sz="7200" spc="75" dirty="0">
                <a:solidFill>
                  <a:srgbClr val="231F1F"/>
                </a:solidFill>
                <a:latin typeface="Times New Roman"/>
                <a:cs typeface="Times New Roman"/>
              </a:rPr>
              <a:t>ker</a:t>
            </a:r>
            <a:br>
              <a:rPr lang="en-IN" sz="7200" dirty="0">
                <a:latin typeface="Times New Roman"/>
                <a:cs typeface="Times New Roman"/>
              </a:rPr>
            </a:br>
            <a:endParaRPr lang="en-IN" sz="7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641403-AF5C-059E-3B11-45D81E8A3C9E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3275012" y="5634409"/>
            <a:ext cx="5445124" cy="1082348"/>
          </a:xfrm>
        </p:spPr>
        <p:txBody>
          <a:bodyPr/>
          <a:lstStyle/>
          <a:p>
            <a:pPr marL="12700" algn="ctr">
              <a:lnSpc>
                <a:spcPct val="100000"/>
              </a:lnSpc>
            </a:pPr>
            <a:r>
              <a:rPr lang="en-IN" sz="1800" b="0" spc="5" dirty="0">
                <a:solidFill>
                  <a:srgbClr val="231F1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Submitted By : P</a:t>
            </a:r>
            <a:r>
              <a:rPr lang="en-IN" sz="1800" b="0" spc="-75" dirty="0">
                <a:solidFill>
                  <a:srgbClr val="231F1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i</a:t>
            </a:r>
            <a:r>
              <a:rPr lang="en-IN" sz="1800" b="0" spc="55" dirty="0">
                <a:solidFill>
                  <a:srgbClr val="231F1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yush</a:t>
            </a:r>
            <a:r>
              <a:rPr lang="en-IN" sz="1800" b="0" spc="114" dirty="0">
                <a:solidFill>
                  <a:srgbClr val="231F1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 </a:t>
            </a:r>
            <a:r>
              <a:rPr lang="en-IN" sz="1800" b="0" spc="25" dirty="0">
                <a:solidFill>
                  <a:srgbClr val="231F1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Prakash</a:t>
            </a:r>
            <a:r>
              <a:rPr lang="en-IN" sz="1800" b="0" spc="20" dirty="0">
                <a:solidFill>
                  <a:srgbClr val="231F1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 Sharma</a:t>
            </a:r>
            <a:endParaRPr lang="en-IN" sz="1800" b="0" dirty="0">
              <a:latin typeface="Arial Black" panose="020B0A04020102020204" pitchFamily="34" charset="0"/>
              <a:cs typeface="Arial" panose="020B0604020202020204" pitchFamily="34" charset="0"/>
            </a:endParaRPr>
          </a:p>
          <a:p>
            <a:pPr marL="12700" algn="ctr">
              <a:lnSpc>
                <a:spcPct val="100000"/>
              </a:lnSpc>
            </a:pPr>
            <a:r>
              <a:rPr lang="en-IN" sz="1800" b="0" spc="-130" dirty="0">
                <a:solidFill>
                  <a:srgbClr val="231F1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Registration No. = 2</a:t>
            </a:r>
            <a:r>
              <a:rPr lang="en-IN" sz="1800" b="0" spc="-45" dirty="0">
                <a:solidFill>
                  <a:srgbClr val="231F1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4</a:t>
            </a:r>
            <a:r>
              <a:rPr lang="en-IN" sz="1800" b="0" spc="-150" dirty="0">
                <a:solidFill>
                  <a:srgbClr val="231F1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2</a:t>
            </a:r>
            <a:r>
              <a:rPr lang="en-IN" sz="1800" b="0" spc="-110" dirty="0">
                <a:solidFill>
                  <a:srgbClr val="231F1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7</a:t>
            </a:r>
            <a:r>
              <a:rPr lang="en-IN" sz="1800" b="0" spc="-45" dirty="0">
                <a:solidFill>
                  <a:srgbClr val="231F1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0</a:t>
            </a:r>
            <a:r>
              <a:rPr lang="en-IN" sz="1800" b="0" spc="-110" dirty="0">
                <a:solidFill>
                  <a:srgbClr val="231F1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3</a:t>
            </a:r>
            <a:r>
              <a:rPr lang="en-IN" sz="1800" b="0" spc="-25" dirty="0">
                <a:solidFill>
                  <a:srgbClr val="231F1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0</a:t>
            </a:r>
            <a:r>
              <a:rPr lang="en-IN" sz="1800" b="0" spc="-110" dirty="0">
                <a:solidFill>
                  <a:srgbClr val="231F1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22</a:t>
            </a:r>
            <a:r>
              <a:rPr lang="en-IN" sz="1800" b="0" spc="40" dirty="0">
                <a:solidFill>
                  <a:srgbClr val="231F1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2</a:t>
            </a:r>
          </a:p>
          <a:p>
            <a:pPr marL="43815" algn="ctr">
              <a:lnSpc>
                <a:spcPct val="100000"/>
              </a:lnSpc>
              <a:spcBef>
                <a:spcPts val="125"/>
              </a:spcBef>
            </a:pPr>
            <a:r>
              <a:rPr lang="en-IN" sz="1800" b="0" spc="40" dirty="0">
                <a:solidFill>
                  <a:srgbClr val="231F1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Supervised By : </a:t>
            </a:r>
            <a:r>
              <a:rPr lang="en-IN" sz="1800" b="0" spc="40" dirty="0" err="1">
                <a:solidFill>
                  <a:srgbClr val="231F1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Ms</a:t>
            </a:r>
            <a:r>
              <a:rPr lang="en-IN" sz="1800" b="0" spc="10" dirty="0" err="1">
                <a:solidFill>
                  <a:srgbClr val="231F1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.</a:t>
            </a:r>
            <a:r>
              <a:rPr lang="en-IN" sz="1800" b="0" spc="50" dirty="0" err="1">
                <a:solidFill>
                  <a:srgbClr val="231F1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Harsh</a:t>
            </a:r>
            <a:r>
              <a:rPr lang="en-IN" sz="1800" b="0" spc="55" dirty="0" err="1">
                <a:solidFill>
                  <a:srgbClr val="231F1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i</a:t>
            </a:r>
            <a:r>
              <a:rPr lang="en-IN" sz="1800" b="0" spc="25" dirty="0" err="1">
                <a:solidFill>
                  <a:srgbClr val="231F1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ka</a:t>
            </a:r>
            <a:r>
              <a:rPr lang="en-IN" sz="1800" b="0" spc="40" dirty="0">
                <a:solidFill>
                  <a:srgbClr val="231F1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 </a:t>
            </a:r>
            <a:r>
              <a:rPr lang="en-IN" sz="1800" b="0" spc="55" dirty="0">
                <a:solidFill>
                  <a:srgbClr val="231F1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Mathur</a:t>
            </a:r>
            <a:endParaRPr lang="en-IN" sz="1800" b="0" dirty="0">
              <a:latin typeface="Arial Black" panose="020B0A04020102020204" pitchFamily="34" charset="0"/>
              <a:cs typeface="Arial" panose="020B0604020202020204" pitchFamily="34" charset="0"/>
            </a:endParaRPr>
          </a:p>
          <a:p>
            <a:endParaRPr lang="en-IN" dirty="0"/>
          </a:p>
        </p:txBody>
      </p:sp>
      <p:pic>
        <p:nvPicPr>
          <p:cNvPr id="6" name="Picture 5" descr="A close up of a logo&#10;&#10;AI-generated content may be incorrect.">
            <a:extLst>
              <a:ext uri="{FF2B5EF4-FFF2-40B4-BE49-F238E27FC236}">
                <a16:creationId xmlns:a16="http://schemas.microsoft.com/office/drawing/2014/main" id="{0D9139A1-770D-9D55-FFF7-1B172FF82E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2750" y="914400"/>
            <a:ext cx="5363323" cy="1105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99269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8012" y="381000"/>
            <a:ext cx="5908238" cy="4000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750"/>
              </a:lnSpc>
            </a:pPr>
            <a:r>
              <a:rPr spc="75" dirty="0"/>
              <a:t>I.</a:t>
            </a:r>
            <a:r>
              <a:rPr spc="-110" dirty="0"/>
              <a:t> </a:t>
            </a:r>
            <a:r>
              <a:rPr spc="105" dirty="0"/>
              <a:t>Introduct</a:t>
            </a:r>
            <a:r>
              <a:rPr spc="110" dirty="0"/>
              <a:t>i</a:t>
            </a:r>
            <a:r>
              <a:rPr spc="35" dirty="0"/>
              <a:t>on</a:t>
            </a:r>
            <a:r>
              <a:rPr spc="-100" dirty="0"/>
              <a:t> </a:t>
            </a:r>
            <a:r>
              <a:rPr spc="145" dirty="0"/>
              <a:t>to</a:t>
            </a:r>
            <a:r>
              <a:rPr spc="160" dirty="0"/>
              <a:t> </a:t>
            </a:r>
            <a:r>
              <a:rPr spc="35" dirty="0"/>
              <a:t>Problem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34999" y="942975"/>
            <a:ext cx="3628390" cy="4000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750"/>
              </a:lnSpc>
            </a:pPr>
            <a:r>
              <a:rPr sz="3150" b="1" spc="80" dirty="0">
                <a:solidFill>
                  <a:srgbClr val="1C1A1A"/>
                </a:solidFill>
                <a:latin typeface="Arial"/>
                <a:cs typeface="Arial"/>
              </a:rPr>
              <a:t>(</a:t>
            </a:r>
            <a:r>
              <a:rPr sz="3150" b="1" spc="120" dirty="0">
                <a:solidFill>
                  <a:srgbClr val="1C1A1A"/>
                </a:solidFill>
                <a:latin typeface="Arial"/>
                <a:cs typeface="Arial"/>
              </a:rPr>
              <a:t>What,</a:t>
            </a:r>
            <a:r>
              <a:rPr sz="3150" b="1" spc="-12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3150" b="1" spc="90" dirty="0">
                <a:solidFill>
                  <a:srgbClr val="1C1A1A"/>
                </a:solidFill>
                <a:latin typeface="Arial"/>
                <a:cs typeface="Arial"/>
              </a:rPr>
              <a:t>Why,</a:t>
            </a:r>
            <a:r>
              <a:rPr sz="3150" b="1" spc="22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3150" b="1" spc="110" dirty="0">
                <a:solidFill>
                  <a:srgbClr val="1C1A1A"/>
                </a:solidFill>
                <a:latin typeface="Arial"/>
                <a:cs typeface="Arial"/>
              </a:rPr>
              <a:t>How</a:t>
            </a:r>
            <a:r>
              <a:rPr sz="3150" b="1" spc="60" dirty="0">
                <a:solidFill>
                  <a:srgbClr val="1C1A1A"/>
                </a:solidFill>
                <a:latin typeface="Arial"/>
                <a:cs typeface="Arial"/>
              </a:rPr>
              <a:t>)</a:t>
            </a:r>
            <a:endParaRPr sz="315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xfrm>
            <a:off x="303212" y="1905000"/>
            <a:ext cx="11734800" cy="35669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45"/>
              </a:lnSpc>
            </a:pPr>
            <a:r>
              <a:rPr dirty="0"/>
              <a:t>The</a:t>
            </a:r>
            <a:r>
              <a:rPr spc="45" dirty="0"/>
              <a:t> </a:t>
            </a:r>
            <a:r>
              <a:rPr sz="750" spc="15" baseline="83333" dirty="0"/>
              <a:t>1</a:t>
            </a:r>
            <a:r>
              <a:rPr sz="750" baseline="83333" dirty="0"/>
              <a:t>1</a:t>
            </a:r>
            <a:r>
              <a:rPr sz="1550" spc="35" dirty="0"/>
              <a:t>What</a:t>
            </a:r>
            <a:r>
              <a:rPr sz="1550" spc="-245" dirty="0"/>
              <a:t> </a:t>
            </a:r>
            <a:r>
              <a:rPr sz="750" spc="15" baseline="83333" dirty="0"/>
              <a:t>11</a:t>
            </a:r>
            <a:r>
              <a:rPr sz="750" baseline="83333" dirty="0"/>
              <a:t>     </a:t>
            </a:r>
            <a:r>
              <a:rPr sz="750" spc="-37" baseline="83333" dirty="0"/>
              <a:t> </a:t>
            </a:r>
            <a:r>
              <a:rPr sz="1550" dirty="0"/>
              <a:t>The</a:t>
            </a:r>
            <a:r>
              <a:rPr sz="1550" spc="90" dirty="0"/>
              <a:t> </a:t>
            </a:r>
            <a:r>
              <a:rPr sz="1550" spc="5" dirty="0"/>
              <a:t>Problem</a:t>
            </a:r>
            <a:r>
              <a:rPr sz="1550" spc="-35" dirty="0"/>
              <a:t> </a:t>
            </a:r>
            <a:r>
              <a:rPr sz="1550" spc="20" dirty="0"/>
              <a:t>of</a:t>
            </a:r>
            <a:r>
              <a:rPr sz="1550" spc="114" dirty="0"/>
              <a:t> </a:t>
            </a:r>
            <a:r>
              <a:rPr sz="1550" spc="-20" dirty="0"/>
              <a:t>Personal</a:t>
            </a:r>
            <a:r>
              <a:rPr sz="1550" spc="95" dirty="0"/>
              <a:t> </a:t>
            </a:r>
            <a:r>
              <a:rPr sz="1550" spc="-60" dirty="0"/>
              <a:t>Fi</a:t>
            </a:r>
            <a:r>
              <a:rPr sz="1550" dirty="0"/>
              <a:t>nanc</a:t>
            </a:r>
            <a:r>
              <a:rPr sz="1550" spc="-15" dirty="0"/>
              <a:t>i</a:t>
            </a:r>
            <a:r>
              <a:rPr sz="1550" dirty="0"/>
              <a:t>al</a:t>
            </a:r>
            <a:r>
              <a:rPr sz="1550" spc="45" dirty="0"/>
              <a:t> </a:t>
            </a:r>
            <a:r>
              <a:rPr sz="1550" spc="25" dirty="0"/>
              <a:t>Management</a:t>
            </a:r>
            <a:endParaRPr sz="1550" dirty="0"/>
          </a:p>
          <a:p>
            <a:pPr marL="1105535">
              <a:lnSpc>
                <a:spcPts val="305"/>
              </a:lnSpc>
            </a:pPr>
            <a:r>
              <a:rPr sz="500" spc="525" dirty="0"/>
              <a:t>:</a:t>
            </a:r>
            <a:endParaRPr sz="500" dirty="0"/>
          </a:p>
          <a:p>
            <a:pPr>
              <a:lnSpc>
                <a:spcPct val="100000"/>
              </a:lnSpc>
            </a:pPr>
            <a:endParaRPr sz="5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500" dirty="0">
              <a:latin typeface="Times New Roman"/>
              <a:cs typeface="Times New Roman"/>
            </a:endParaRPr>
          </a:p>
          <a:p>
            <a:pPr marL="12700" marR="112395">
              <a:lnSpc>
                <a:spcPct val="119400"/>
              </a:lnSpc>
              <a:spcBef>
                <a:spcPts val="409"/>
              </a:spcBef>
            </a:pPr>
            <a:r>
              <a:rPr sz="1100" b="0" spc="-25" dirty="0">
                <a:latin typeface="Arial"/>
                <a:cs typeface="Arial"/>
              </a:rPr>
              <a:t>When</a:t>
            </a:r>
            <a:r>
              <a:rPr sz="1100" b="0" spc="50" dirty="0">
                <a:latin typeface="Arial"/>
                <a:cs typeface="Arial"/>
              </a:rPr>
              <a:t> </a:t>
            </a:r>
            <a:r>
              <a:rPr sz="1100" b="0" spc="-65" dirty="0">
                <a:latin typeface="Arial"/>
                <a:cs typeface="Arial"/>
              </a:rPr>
              <a:t>a</a:t>
            </a:r>
            <a:r>
              <a:rPr sz="1100" b="0" spc="65" dirty="0">
                <a:latin typeface="Arial"/>
                <a:cs typeface="Arial"/>
              </a:rPr>
              <a:t> </a:t>
            </a:r>
            <a:r>
              <a:rPr sz="1100" b="0" spc="5" dirty="0">
                <a:latin typeface="Arial"/>
                <a:cs typeface="Arial"/>
              </a:rPr>
              <a:t>person</a:t>
            </a:r>
            <a:r>
              <a:rPr sz="1100" b="0" spc="15" dirty="0">
                <a:latin typeface="Arial"/>
                <a:cs typeface="Arial"/>
              </a:rPr>
              <a:t> </a:t>
            </a:r>
            <a:r>
              <a:rPr sz="1100" b="0" spc="10" dirty="0">
                <a:latin typeface="Arial"/>
                <a:cs typeface="Arial"/>
              </a:rPr>
              <a:t>tries</a:t>
            </a:r>
            <a:r>
              <a:rPr sz="1100" b="0" dirty="0">
                <a:latin typeface="Arial"/>
                <a:cs typeface="Arial"/>
              </a:rPr>
              <a:t> </a:t>
            </a:r>
            <a:r>
              <a:rPr sz="1100" b="0" spc="45" dirty="0">
                <a:latin typeface="Arial"/>
                <a:cs typeface="Arial"/>
              </a:rPr>
              <a:t>to</a:t>
            </a:r>
            <a:r>
              <a:rPr sz="1100" b="0" spc="40" dirty="0">
                <a:latin typeface="Arial"/>
                <a:cs typeface="Arial"/>
              </a:rPr>
              <a:t> </a:t>
            </a:r>
            <a:r>
              <a:rPr sz="1100" b="0" spc="-10" dirty="0">
                <a:latin typeface="Arial"/>
                <a:cs typeface="Arial"/>
              </a:rPr>
              <a:t>manage</a:t>
            </a:r>
            <a:r>
              <a:rPr sz="1100" b="0" spc="5" dirty="0">
                <a:latin typeface="Arial"/>
                <a:cs typeface="Arial"/>
              </a:rPr>
              <a:t> their</a:t>
            </a:r>
            <a:r>
              <a:rPr sz="1100" b="0" spc="65" dirty="0">
                <a:latin typeface="Arial"/>
                <a:cs typeface="Arial"/>
              </a:rPr>
              <a:t> </a:t>
            </a:r>
            <a:r>
              <a:rPr sz="1100" b="0" spc="5" dirty="0">
                <a:latin typeface="Arial"/>
                <a:cs typeface="Arial"/>
              </a:rPr>
              <a:t>finances</a:t>
            </a:r>
            <a:r>
              <a:rPr sz="1100" b="0" spc="50" dirty="0">
                <a:latin typeface="Arial"/>
                <a:cs typeface="Arial"/>
              </a:rPr>
              <a:t> </a:t>
            </a:r>
            <a:r>
              <a:rPr sz="1100" b="0" spc="10" dirty="0">
                <a:latin typeface="Arial"/>
                <a:cs typeface="Arial"/>
              </a:rPr>
              <a:t>with</a:t>
            </a:r>
            <a:r>
              <a:rPr sz="1100" b="0" spc="15" dirty="0">
                <a:latin typeface="Arial"/>
                <a:cs typeface="Arial"/>
              </a:rPr>
              <a:t> </a:t>
            </a:r>
            <a:r>
              <a:rPr sz="1100" b="0" spc="25" dirty="0">
                <a:latin typeface="Arial"/>
                <a:cs typeface="Arial"/>
              </a:rPr>
              <a:t>the</a:t>
            </a:r>
            <a:r>
              <a:rPr sz="1100" b="0" spc="55" dirty="0">
                <a:latin typeface="Arial"/>
                <a:cs typeface="Arial"/>
              </a:rPr>
              <a:t> </a:t>
            </a:r>
            <a:r>
              <a:rPr sz="1100" b="0" spc="10" dirty="0">
                <a:latin typeface="Arial"/>
                <a:cs typeface="Arial"/>
              </a:rPr>
              <a:t>help</a:t>
            </a:r>
            <a:r>
              <a:rPr sz="1100" b="0" spc="-30" dirty="0">
                <a:latin typeface="Arial"/>
                <a:cs typeface="Arial"/>
              </a:rPr>
              <a:t> </a:t>
            </a:r>
            <a:r>
              <a:rPr sz="1100" b="0" spc="20" dirty="0">
                <a:latin typeface="Arial"/>
                <a:cs typeface="Arial"/>
              </a:rPr>
              <a:t>of</a:t>
            </a:r>
            <a:r>
              <a:rPr sz="1100" b="0" spc="40" dirty="0">
                <a:latin typeface="Arial"/>
                <a:cs typeface="Arial"/>
              </a:rPr>
              <a:t> </a:t>
            </a:r>
            <a:r>
              <a:rPr sz="1100" b="0" spc="-15" dirty="0">
                <a:latin typeface="Arial"/>
                <a:cs typeface="Arial"/>
              </a:rPr>
              <a:t>some</a:t>
            </a:r>
            <a:r>
              <a:rPr sz="1100" b="0" spc="30" dirty="0">
                <a:latin typeface="Arial"/>
                <a:cs typeface="Arial"/>
              </a:rPr>
              <a:t> </a:t>
            </a:r>
            <a:r>
              <a:rPr sz="1100" b="0" dirty="0">
                <a:latin typeface="Arial"/>
                <a:cs typeface="Arial"/>
              </a:rPr>
              <a:t>web</a:t>
            </a:r>
            <a:r>
              <a:rPr sz="1100" b="0" spc="50" dirty="0">
                <a:latin typeface="Arial"/>
                <a:cs typeface="Arial"/>
              </a:rPr>
              <a:t> </a:t>
            </a:r>
            <a:r>
              <a:rPr sz="1100" b="0" spc="5" dirty="0">
                <a:latin typeface="Arial"/>
                <a:cs typeface="Arial"/>
              </a:rPr>
              <a:t>or</a:t>
            </a:r>
            <a:r>
              <a:rPr sz="1100" b="0" spc="60" dirty="0">
                <a:latin typeface="Arial"/>
                <a:cs typeface="Arial"/>
              </a:rPr>
              <a:t> </a:t>
            </a:r>
            <a:r>
              <a:rPr sz="1100" b="0" spc="10" dirty="0">
                <a:latin typeface="Arial"/>
                <a:cs typeface="Arial"/>
              </a:rPr>
              <a:t>mobile</a:t>
            </a:r>
            <a:r>
              <a:rPr sz="1100" b="0" dirty="0">
                <a:latin typeface="Arial"/>
                <a:cs typeface="Arial"/>
              </a:rPr>
              <a:t> </a:t>
            </a:r>
            <a:r>
              <a:rPr sz="1100" b="0" spc="10" dirty="0">
                <a:latin typeface="Arial"/>
                <a:cs typeface="Arial"/>
              </a:rPr>
              <a:t>app</a:t>
            </a:r>
            <a:r>
              <a:rPr sz="1100" b="0" dirty="0">
                <a:latin typeface="Arial"/>
                <a:cs typeface="Arial"/>
              </a:rPr>
              <a:t> </a:t>
            </a:r>
            <a:r>
              <a:rPr sz="1100" b="0" spc="10" dirty="0">
                <a:latin typeface="Arial"/>
                <a:cs typeface="Arial"/>
              </a:rPr>
              <a:t>they</a:t>
            </a:r>
            <a:r>
              <a:rPr sz="1100" b="0" spc="5" dirty="0">
                <a:latin typeface="Arial"/>
                <a:cs typeface="Arial"/>
              </a:rPr>
              <a:t> </a:t>
            </a:r>
            <a:r>
              <a:rPr sz="1100" b="0" dirty="0">
                <a:latin typeface="Arial"/>
                <a:cs typeface="Arial"/>
              </a:rPr>
              <a:t>are</a:t>
            </a:r>
            <a:r>
              <a:rPr sz="1100" b="0" spc="40" dirty="0">
                <a:latin typeface="Arial"/>
                <a:cs typeface="Arial"/>
              </a:rPr>
              <a:t> </a:t>
            </a:r>
            <a:r>
              <a:rPr sz="1100" b="0" spc="5" dirty="0">
                <a:latin typeface="Arial"/>
                <a:cs typeface="Arial"/>
              </a:rPr>
              <a:t>met</a:t>
            </a:r>
            <a:r>
              <a:rPr sz="1100" b="0" spc="-20" dirty="0">
                <a:latin typeface="Arial"/>
                <a:cs typeface="Arial"/>
              </a:rPr>
              <a:t> </a:t>
            </a:r>
            <a:r>
              <a:rPr sz="1100" b="0" spc="20" dirty="0">
                <a:latin typeface="Arial"/>
                <a:cs typeface="Arial"/>
              </a:rPr>
              <a:t>with</a:t>
            </a:r>
            <a:r>
              <a:rPr sz="1100" b="0" spc="40" dirty="0">
                <a:latin typeface="Arial"/>
                <a:cs typeface="Arial"/>
              </a:rPr>
              <a:t> </a:t>
            </a:r>
            <a:r>
              <a:rPr sz="1100" b="0" dirty="0">
                <a:latin typeface="Arial"/>
                <a:cs typeface="Arial"/>
              </a:rPr>
              <a:t>possibilities</a:t>
            </a:r>
            <a:r>
              <a:rPr sz="1100" b="0" spc="35" dirty="0">
                <a:latin typeface="Arial"/>
                <a:cs typeface="Arial"/>
              </a:rPr>
              <a:t> </a:t>
            </a:r>
            <a:r>
              <a:rPr sz="1100" b="0" spc="20" dirty="0">
                <a:latin typeface="Arial"/>
                <a:cs typeface="Arial"/>
              </a:rPr>
              <a:t>of</a:t>
            </a:r>
            <a:r>
              <a:rPr sz="1100" b="0" spc="40" dirty="0">
                <a:latin typeface="Arial"/>
                <a:cs typeface="Arial"/>
              </a:rPr>
              <a:t> </a:t>
            </a:r>
            <a:r>
              <a:rPr sz="1100" b="0" spc="5" dirty="0">
                <a:latin typeface="Arial"/>
                <a:cs typeface="Arial"/>
              </a:rPr>
              <a:t>data</a:t>
            </a:r>
            <a:r>
              <a:rPr sz="1100" b="0" spc="85" dirty="0">
                <a:latin typeface="Arial"/>
                <a:cs typeface="Arial"/>
              </a:rPr>
              <a:t> </a:t>
            </a:r>
            <a:r>
              <a:rPr sz="1100" b="0" spc="-15" dirty="0">
                <a:latin typeface="Arial"/>
                <a:cs typeface="Arial"/>
              </a:rPr>
              <a:t>leaks</a:t>
            </a:r>
            <a:r>
              <a:rPr sz="1100" b="0" spc="-30" dirty="0">
                <a:latin typeface="Arial"/>
                <a:cs typeface="Arial"/>
              </a:rPr>
              <a:t> </a:t>
            </a:r>
            <a:r>
              <a:rPr sz="1100" b="0" spc="10" dirty="0">
                <a:latin typeface="Arial"/>
                <a:cs typeface="Arial"/>
              </a:rPr>
              <a:t>and</a:t>
            </a:r>
            <a:r>
              <a:rPr sz="1100" b="0" spc="-20" dirty="0">
                <a:latin typeface="Arial"/>
                <a:cs typeface="Arial"/>
              </a:rPr>
              <a:t> </a:t>
            </a:r>
            <a:r>
              <a:rPr sz="1100" b="0" spc="5" dirty="0">
                <a:latin typeface="Arial"/>
                <a:cs typeface="Arial"/>
              </a:rPr>
              <a:t>enormous</a:t>
            </a:r>
            <a:r>
              <a:rPr sz="1100" b="0" spc="60" dirty="0">
                <a:latin typeface="Arial"/>
                <a:cs typeface="Arial"/>
              </a:rPr>
              <a:t> </a:t>
            </a:r>
            <a:r>
              <a:rPr sz="1100" b="0" dirty="0">
                <a:latin typeface="Arial"/>
                <a:cs typeface="Arial"/>
              </a:rPr>
              <a:t>paywalls</a:t>
            </a:r>
            <a:r>
              <a:rPr sz="1100" b="0" spc="10" dirty="0">
                <a:latin typeface="Arial"/>
                <a:cs typeface="Arial"/>
              </a:rPr>
              <a:t> and</a:t>
            </a:r>
            <a:r>
              <a:rPr sz="1100" b="0" spc="20" dirty="0">
                <a:latin typeface="Arial"/>
                <a:cs typeface="Arial"/>
              </a:rPr>
              <a:t> </a:t>
            </a:r>
            <a:r>
              <a:rPr sz="1100" b="0" spc="-50" dirty="0">
                <a:latin typeface="Arial"/>
                <a:cs typeface="Arial"/>
              </a:rPr>
              <a:t>NO</a:t>
            </a:r>
            <a:r>
              <a:rPr sz="1100" b="0" spc="-5" dirty="0">
                <a:latin typeface="Arial"/>
                <a:cs typeface="Arial"/>
              </a:rPr>
              <a:t> </a:t>
            </a:r>
            <a:r>
              <a:rPr sz="1100" b="0" spc="10" dirty="0">
                <a:latin typeface="Arial"/>
                <a:cs typeface="Arial"/>
              </a:rPr>
              <a:t>normal</a:t>
            </a:r>
            <a:r>
              <a:rPr sz="1100" b="0" spc="30" dirty="0">
                <a:latin typeface="Arial"/>
                <a:cs typeface="Arial"/>
              </a:rPr>
              <a:t> </a:t>
            </a:r>
            <a:r>
              <a:rPr sz="1100" b="0" spc="-20" dirty="0">
                <a:latin typeface="Arial"/>
                <a:cs typeface="Arial"/>
              </a:rPr>
              <a:t>Person</a:t>
            </a:r>
            <a:r>
              <a:rPr sz="1100" b="0" spc="-25" dirty="0">
                <a:latin typeface="Arial"/>
                <a:cs typeface="Arial"/>
              </a:rPr>
              <a:t> </a:t>
            </a:r>
            <a:r>
              <a:rPr sz="1100" b="0" dirty="0">
                <a:latin typeface="Arial"/>
                <a:cs typeface="Arial"/>
              </a:rPr>
              <a:t>wants </a:t>
            </a:r>
            <a:r>
              <a:rPr sz="1100" b="0" spc="45" dirty="0">
                <a:latin typeface="Arial"/>
                <a:cs typeface="Arial"/>
              </a:rPr>
              <a:t>to</a:t>
            </a:r>
            <a:r>
              <a:rPr sz="1100" b="0" spc="40" dirty="0">
                <a:latin typeface="Arial"/>
                <a:cs typeface="Arial"/>
              </a:rPr>
              <a:t> </a:t>
            </a:r>
            <a:r>
              <a:rPr sz="1100" b="0" dirty="0">
                <a:latin typeface="Arial"/>
                <a:cs typeface="Arial"/>
              </a:rPr>
              <a:t>go</a:t>
            </a:r>
            <a:r>
              <a:rPr sz="1100" b="0" spc="10" dirty="0">
                <a:latin typeface="Arial"/>
                <a:cs typeface="Arial"/>
              </a:rPr>
              <a:t> </a:t>
            </a:r>
            <a:r>
              <a:rPr sz="1100" b="0" spc="20" dirty="0">
                <a:latin typeface="Arial"/>
                <a:cs typeface="Arial"/>
              </a:rPr>
              <a:t>through</a:t>
            </a:r>
            <a:r>
              <a:rPr sz="1100" b="0" spc="25" dirty="0">
                <a:latin typeface="Arial"/>
                <a:cs typeface="Arial"/>
              </a:rPr>
              <a:t> the</a:t>
            </a:r>
            <a:r>
              <a:rPr sz="1100" b="0" spc="30" dirty="0">
                <a:latin typeface="Arial"/>
                <a:cs typeface="Arial"/>
              </a:rPr>
              <a:t> </a:t>
            </a:r>
            <a:r>
              <a:rPr sz="1100" b="0" spc="-15" dirty="0">
                <a:latin typeface="Arial"/>
                <a:cs typeface="Arial"/>
              </a:rPr>
              <a:t>hassle</a:t>
            </a:r>
            <a:r>
              <a:rPr sz="1100" b="0" spc="10" dirty="0">
                <a:latin typeface="Arial"/>
                <a:cs typeface="Arial"/>
              </a:rPr>
              <a:t> </a:t>
            </a:r>
            <a:r>
              <a:rPr sz="1100" b="0" spc="20" dirty="0">
                <a:latin typeface="Arial"/>
                <a:cs typeface="Arial"/>
              </a:rPr>
              <a:t>of</a:t>
            </a:r>
            <a:r>
              <a:rPr sz="1100" b="0" dirty="0">
                <a:latin typeface="Arial"/>
                <a:cs typeface="Arial"/>
              </a:rPr>
              <a:t>  </a:t>
            </a:r>
            <a:r>
              <a:rPr sz="1100" b="0" spc="10" dirty="0">
                <a:latin typeface="Arial"/>
                <a:cs typeface="Arial"/>
              </a:rPr>
              <a:t>transforming</a:t>
            </a:r>
            <a:r>
              <a:rPr sz="1100" b="0" dirty="0">
                <a:latin typeface="Arial"/>
                <a:cs typeface="Arial"/>
              </a:rPr>
              <a:t> </a:t>
            </a:r>
            <a:r>
              <a:rPr sz="1100" b="0" spc="-150" dirty="0">
                <a:latin typeface="Arial"/>
                <a:cs typeface="Arial"/>
              </a:rPr>
              <a:t> </a:t>
            </a:r>
            <a:r>
              <a:rPr sz="1100" b="0" dirty="0">
                <a:latin typeface="Arial"/>
                <a:cs typeface="Arial"/>
              </a:rPr>
              <a:t>raw,</a:t>
            </a:r>
            <a:r>
              <a:rPr sz="1100" b="0" spc="-5" dirty="0">
                <a:latin typeface="Arial"/>
                <a:cs typeface="Arial"/>
              </a:rPr>
              <a:t> </a:t>
            </a:r>
            <a:r>
              <a:rPr sz="1100" b="0" spc="15" dirty="0">
                <a:latin typeface="Arial"/>
                <a:cs typeface="Arial"/>
              </a:rPr>
              <a:t>unstructured</a:t>
            </a:r>
            <a:r>
              <a:rPr sz="1100" b="0" spc="50" dirty="0">
                <a:latin typeface="Arial"/>
                <a:cs typeface="Arial"/>
              </a:rPr>
              <a:t> </a:t>
            </a:r>
            <a:r>
              <a:rPr sz="1100" b="0" dirty="0">
                <a:latin typeface="Arial"/>
                <a:cs typeface="Arial"/>
              </a:rPr>
              <a:t>financial</a:t>
            </a:r>
            <a:r>
              <a:rPr sz="1100" b="0" spc="45" dirty="0">
                <a:latin typeface="Arial"/>
                <a:cs typeface="Arial"/>
              </a:rPr>
              <a:t> </a:t>
            </a:r>
            <a:r>
              <a:rPr sz="1100" b="0" spc="10" dirty="0">
                <a:latin typeface="Arial"/>
                <a:cs typeface="Arial"/>
              </a:rPr>
              <a:t>transaction</a:t>
            </a:r>
            <a:r>
              <a:rPr sz="1100" b="0" spc="90" dirty="0">
                <a:latin typeface="Arial"/>
                <a:cs typeface="Arial"/>
              </a:rPr>
              <a:t> </a:t>
            </a:r>
            <a:r>
              <a:rPr sz="1100" b="0" spc="10" dirty="0">
                <a:latin typeface="Arial"/>
                <a:cs typeface="Arial"/>
              </a:rPr>
              <a:t>data</a:t>
            </a:r>
            <a:r>
              <a:rPr sz="1100" b="0" spc="5" dirty="0">
                <a:latin typeface="Arial"/>
                <a:cs typeface="Arial"/>
              </a:rPr>
              <a:t> </a:t>
            </a:r>
            <a:r>
              <a:rPr sz="1100" b="0" spc="20" dirty="0">
                <a:latin typeface="Arial"/>
                <a:cs typeface="Arial"/>
              </a:rPr>
              <a:t>provided</a:t>
            </a:r>
            <a:r>
              <a:rPr sz="1100" b="0" spc="40" dirty="0">
                <a:latin typeface="Arial"/>
                <a:cs typeface="Arial"/>
              </a:rPr>
              <a:t> </a:t>
            </a:r>
            <a:r>
              <a:rPr sz="1100" b="0" spc="10" dirty="0">
                <a:latin typeface="Arial"/>
                <a:cs typeface="Arial"/>
              </a:rPr>
              <a:t>by</a:t>
            </a:r>
            <a:r>
              <a:rPr sz="1100" b="0" spc="-60" dirty="0">
                <a:latin typeface="Arial"/>
                <a:cs typeface="Arial"/>
              </a:rPr>
              <a:t> </a:t>
            </a:r>
            <a:r>
              <a:rPr sz="1100" b="0" spc="25" dirty="0">
                <a:latin typeface="Arial"/>
                <a:cs typeface="Arial"/>
              </a:rPr>
              <a:t>the</a:t>
            </a:r>
            <a:r>
              <a:rPr sz="1100" b="0" spc="55" dirty="0">
                <a:latin typeface="Arial"/>
                <a:cs typeface="Arial"/>
              </a:rPr>
              <a:t> </a:t>
            </a:r>
            <a:r>
              <a:rPr sz="1100" b="0" spc="-10" dirty="0">
                <a:latin typeface="Arial"/>
                <a:cs typeface="Arial"/>
              </a:rPr>
              <a:t>banks</a:t>
            </a:r>
            <a:r>
              <a:rPr sz="1100" b="0" spc="25" dirty="0">
                <a:latin typeface="Arial"/>
                <a:cs typeface="Arial"/>
              </a:rPr>
              <a:t> </a:t>
            </a:r>
            <a:r>
              <a:rPr sz="1100" b="0" spc="-5" dirty="0">
                <a:latin typeface="Arial"/>
                <a:cs typeface="Arial"/>
              </a:rPr>
              <a:t>usually</a:t>
            </a:r>
            <a:r>
              <a:rPr sz="1100" b="0" spc="25" dirty="0">
                <a:latin typeface="Arial"/>
                <a:cs typeface="Arial"/>
              </a:rPr>
              <a:t> </a:t>
            </a:r>
            <a:r>
              <a:rPr sz="1100" b="0" dirty="0">
                <a:latin typeface="Arial"/>
                <a:cs typeface="Arial"/>
              </a:rPr>
              <a:t>in</a:t>
            </a:r>
            <a:r>
              <a:rPr sz="1100" b="0" spc="-70" dirty="0">
                <a:latin typeface="Arial"/>
                <a:cs typeface="Arial"/>
              </a:rPr>
              <a:t> </a:t>
            </a:r>
            <a:r>
              <a:rPr sz="1100" b="0" spc="25" dirty="0">
                <a:latin typeface="Arial"/>
                <a:cs typeface="Arial"/>
              </a:rPr>
              <a:t>form </a:t>
            </a:r>
            <a:r>
              <a:rPr sz="1100" b="0" spc="20" dirty="0">
                <a:latin typeface="Arial"/>
                <a:cs typeface="Arial"/>
              </a:rPr>
              <a:t>of</a:t>
            </a:r>
            <a:r>
              <a:rPr sz="1100" b="0" spc="40" dirty="0">
                <a:latin typeface="Arial"/>
                <a:cs typeface="Arial"/>
              </a:rPr>
              <a:t> </a:t>
            </a:r>
            <a:r>
              <a:rPr sz="1100" b="0" spc="-80" dirty="0">
                <a:latin typeface="Arial"/>
                <a:cs typeface="Arial"/>
              </a:rPr>
              <a:t>CSV</a:t>
            </a:r>
            <a:r>
              <a:rPr sz="1100" b="0" spc="-10" dirty="0">
                <a:latin typeface="Arial"/>
                <a:cs typeface="Arial"/>
              </a:rPr>
              <a:t> </a:t>
            </a:r>
            <a:r>
              <a:rPr sz="1100" b="0" spc="5" dirty="0">
                <a:latin typeface="Arial"/>
                <a:cs typeface="Arial"/>
              </a:rPr>
              <a:t>files</a:t>
            </a:r>
            <a:r>
              <a:rPr sz="1100" b="0" spc="55" dirty="0">
                <a:latin typeface="Arial"/>
                <a:cs typeface="Arial"/>
              </a:rPr>
              <a:t> </a:t>
            </a:r>
            <a:r>
              <a:rPr sz="1100" b="0" spc="25" dirty="0">
                <a:latin typeface="Arial"/>
                <a:cs typeface="Arial"/>
              </a:rPr>
              <a:t>into</a:t>
            </a:r>
            <a:r>
              <a:rPr sz="1100" b="0" spc="-5" dirty="0">
                <a:latin typeface="Arial"/>
                <a:cs typeface="Arial"/>
              </a:rPr>
              <a:t> </a:t>
            </a:r>
            <a:r>
              <a:rPr sz="1100" b="0" dirty="0">
                <a:latin typeface="Arial"/>
                <a:cs typeface="Arial"/>
              </a:rPr>
              <a:t>useful,</a:t>
            </a:r>
            <a:r>
              <a:rPr sz="1100" b="0" spc="-10" dirty="0">
                <a:latin typeface="Arial"/>
                <a:cs typeface="Arial"/>
              </a:rPr>
              <a:t> </a:t>
            </a:r>
            <a:r>
              <a:rPr sz="1100" b="0" spc="10" dirty="0">
                <a:latin typeface="Arial"/>
                <a:cs typeface="Arial"/>
              </a:rPr>
              <a:t>categorized</a:t>
            </a:r>
            <a:r>
              <a:rPr sz="1100" b="0" spc="45" dirty="0">
                <a:latin typeface="Arial"/>
                <a:cs typeface="Arial"/>
              </a:rPr>
              <a:t> </a:t>
            </a:r>
            <a:r>
              <a:rPr sz="1100" b="0" spc="10" dirty="0">
                <a:latin typeface="Arial"/>
                <a:cs typeface="Arial"/>
              </a:rPr>
              <a:t>,,high-level</a:t>
            </a:r>
            <a:r>
              <a:rPr sz="1100" b="0" spc="5" dirty="0">
                <a:latin typeface="Arial"/>
                <a:cs typeface="Arial"/>
              </a:rPr>
              <a:t> </a:t>
            </a:r>
            <a:r>
              <a:rPr sz="1100" b="0" dirty="0">
                <a:latin typeface="Arial"/>
                <a:cs typeface="Arial"/>
              </a:rPr>
              <a:t>financial</a:t>
            </a:r>
            <a:r>
              <a:rPr sz="1100" b="0" spc="114" dirty="0">
                <a:latin typeface="Arial"/>
                <a:cs typeface="Arial"/>
              </a:rPr>
              <a:t> </a:t>
            </a:r>
            <a:r>
              <a:rPr sz="1100" b="0" dirty="0">
                <a:latin typeface="Arial"/>
                <a:cs typeface="Arial"/>
              </a:rPr>
              <a:t>insights</a:t>
            </a:r>
            <a:r>
              <a:rPr sz="1100" b="0" spc="30" dirty="0">
                <a:latin typeface="Arial"/>
                <a:cs typeface="Arial"/>
              </a:rPr>
              <a:t> </a:t>
            </a:r>
            <a:r>
              <a:rPr sz="1100" b="0" spc="-5" dirty="0">
                <a:latin typeface="Arial"/>
                <a:cs typeface="Arial"/>
              </a:rPr>
              <a:t>.</a:t>
            </a:r>
            <a:r>
              <a:rPr sz="1100" b="0" spc="10" dirty="0">
                <a:latin typeface="Arial"/>
                <a:cs typeface="Arial"/>
              </a:rPr>
              <a:t>Information</a:t>
            </a:r>
            <a:r>
              <a:rPr sz="1100" b="0" spc="15" dirty="0">
                <a:latin typeface="Arial"/>
                <a:cs typeface="Arial"/>
              </a:rPr>
              <a:t> </a:t>
            </a:r>
            <a:r>
              <a:rPr sz="1100" b="0" spc="10" dirty="0">
                <a:latin typeface="Arial"/>
                <a:cs typeface="Arial"/>
              </a:rPr>
              <a:t>which</a:t>
            </a:r>
            <a:r>
              <a:rPr sz="1100" b="0" spc="15" dirty="0">
                <a:latin typeface="Arial"/>
                <a:cs typeface="Arial"/>
              </a:rPr>
              <a:t> </a:t>
            </a:r>
            <a:r>
              <a:rPr sz="1100" b="0" spc="5" dirty="0">
                <a:latin typeface="Arial"/>
                <a:cs typeface="Arial"/>
              </a:rPr>
              <a:t>would</a:t>
            </a:r>
            <a:r>
              <a:rPr sz="1100" b="0" spc="95" dirty="0">
                <a:latin typeface="Arial"/>
                <a:cs typeface="Arial"/>
              </a:rPr>
              <a:t> </a:t>
            </a:r>
            <a:r>
              <a:rPr sz="1100" b="0" spc="15" dirty="0">
                <a:latin typeface="Arial"/>
                <a:cs typeface="Arial"/>
              </a:rPr>
              <a:t>provide</a:t>
            </a:r>
            <a:r>
              <a:rPr sz="1100" b="0" spc="30" dirty="0">
                <a:latin typeface="Arial"/>
                <a:cs typeface="Arial"/>
              </a:rPr>
              <a:t> </a:t>
            </a:r>
            <a:r>
              <a:rPr sz="1100" b="0" dirty="0">
                <a:latin typeface="Arial"/>
                <a:cs typeface="Arial"/>
              </a:rPr>
              <a:t>invaluable</a:t>
            </a:r>
            <a:r>
              <a:rPr sz="1100" b="0" spc="45" dirty="0">
                <a:latin typeface="Arial"/>
                <a:cs typeface="Arial"/>
              </a:rPr>
              <a:t> </a:t>
            </a:r>
            <a:r>
              <a:rPr sz="1100" b="0" spc="10" dirty="0">
                <a:latin typeface="Arial"/>
                <a:cs typeface="Arial"/>
              </a:rPr>
              <a:t>information</a:t>
            </a:r>
            <a:r>
              <a:rPr sz="1100" b="0" spc="45" dirty="0">
                <a:latin typeface="Arial"/>
                <a:cs typeface="Arial"/>
              </a:rPr>
              <a:t> </a:t>
            </a:r>
            <a:r>
              <a:rPr sz="1100" b="0" spc="-10" dirty="0">
                <a:latin typeface="Arial"/>
                <a:cs typeface="Arial"/>
              </a:rPr>
              <a:t>on</a:t>
            </a:r>
            <a:r>
              <a:rPr sz="1100" b="0" dirty="0">
                <a:latin typeface="Arial"/>
                <a:cs typeface="Arial"/>
              </a:rPr>
              <a:t> </a:t>
            </a:r>
            <a:r>
              <a:rPr sz="1100" b="0" spc="5" dirty="0">
                <a:latin typeface="Arial"/>
                <a:cs typeface="Arial"/>
              </a:rPr>
              <a:t>their</a:t>
            </a:r>
            <a:r>
              <a:rPr sz="1100" b="0" spc="85" dirty="0">
                <a:latin typeface="Arial"/>
                <a:cs typeface="Arial"/>
              </a:rPr>
              <a:t> </a:t>
            </a:r>
            <a:r>
              <a:rPr sz="1100" b="0" spc="5" dirty="0">
                <a:latin typeface="Arial"/>
                <a:cs typeface="Arial"/>
              </a:rPr>
              <a:t>spending</a:t>
            </a:r>
            <a:r>
              <a:rPr sz="1100" b="0" dirty="0">
                <a:latin typeface="Arial"/>
                <a:cs typeface="Arial"/>
              </a:rPr>
              <a:t> </a:t>
            </a:r>
            <a:r>
              <a:rPr sz="1100" b="0" spc="10" dirty="0">
                <a:latin typeface="Arial"/>
                <a:cs typeface="Arial"/>
              </a:rPr>
              <a:t>habits</a:t>
            </a:r>
            <a:r>
              <a:rPr sz="1100" b="0" spc="-35" dirty="0">
                <a:latin typeface="Arial"/>
                <a:cs typeface="Arial"/>
              </a:rPr>
              <a:t> </a:t>
            </a:r>
            <a:r>
              <a:rPr sz="1100" b="0" spc="5" dirty="0">
                <a:latin typeface="Arial"/>
                <a:cs typeface="Arial"/>
              </a:rPr>
              <a:t>,financial</a:t>
            </a:r>
            <a:r>
              <a:rPr sz="1100" b="0" dirty="0">
                <a:latin typeface="Arial"/>
                <a:cs typeface="Arial"/>
              </a:rPr>
              <a:t> </a:t>
            </a:r>
            <a:r>
              <a:rPr sz="1100" b="0" spc="5" dirty="0">
                <a:latin typeface="Arial"/>
                <a:cs typeface="Arial"/>
              </a:rPr>
              <a:t>spending</a:t>
            </a:r>
            <a:r>
              <a:rPr sz="1100" b="0" spc="50" dirty="0">
                <a:latin typeface="Arial"/>
                <a:cs typeface="Arial"/>
              </a:rPr>
              <a:t> </a:t>
            </a:r>
            <a:r>
              <a:rPr sz="1100" b="0" spc="5" dirty="0">
                <a:latin typeface="Arial"/>
                <a:cs typeface="Arial"/>
              </a:rPr>
              <a:t>and</a:t>
            </a:r>
            <a:r>
              <a:rPr sz="1100" b="0" spc="-5" dirty="0">
                <a:latin typeface="Arial"/>
                <a:cs typeface="Arial"/>
              </a:rPr>
              <a:t> </a:t>
            </a:r>
            <a:r>
              <a:rPr sz="1100" b="0" spc="10" dirty="0">
                <a:latin typeface="Arial"/>
                <a:cs typeface="Arial"/>
              </a:rPr>
              <a:t>flow</a:t>
            </a:r>
            <a:r>
              <a:rPr sz="1100" b="0" spc="60" dirty="0">
                <a:latin typeface="Arial"/>
                <a:cs typeface="Arial"/>
              </a:rPr>
              <a:t> </a:t>
            </a:r>
            <a:r>
              <a:rPr sz="1100" b="0" spc="20" dirty="0">
                <a:latin typeface="Arial"/>
                <a:cs typeface="Arial"/>
              </a:rPr>
              <a:t>of </a:t>
            </a:r>
            <a:r>
              <a:rPr sz="1100" b="0" spc="5" dirty="0">
                <a:latin typeface="Arial"/>
                <a:cs typeface="Arial"/>
              </a:rPr>
              <a:t>their</a:t>
            </a:r>
            <a:r>
              <a:rPr sz="1100" b="0" spc="85" dirty="0">
                <a:latin typeface="Arial"/>
                <a:cs typeface="Arial"/>
              </a:rPr>
              <a:t> </a:t>
            </a:r>
            <a:r>
              <a:rPr sz="1100" b="0" dirty="0">
                <a:latin typeface="Arial"/>
                <a:cs typeface="Arial"/>
              </a:rPr>
              <a:t>earnings</a:t>
            </a:r>
            <a:r>
              <a:rPr sz="1100" b="0" spc="55" dirty="0">
                <a:latin typeface="Arial"/>
                <a:cs typeface="Arial"/>
              </a:rPr>
              <a:t> </a:t>
            </a:r>
            <a:r>
              <a:rPr sz="1100" b="0" spc="25" dirty="0">
                <a:latin typeface="Arial"/>
                <a:cs typeface="Arial"/>
              </a:rPr>
              <a:t>etc.</a:t>
            </a:r>
            <a:endParaRPr sz="11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300" dirty="0">
              <a:latin typeface="Times New Roman"/>
              <a:cs typeface="Times New Roman"/>
            </a:endParaRPr>
          </a:p>
          <a:p>
            <a:pPr marL="12700">
              <a:lnSpc>
                <a:spcPts val="1345"/>
              </a:lnSpc>
            </a:pPr>
            <a:r>
              <a:rPr dirty="0"/>
              <a:t>The</a:t>
            </a:r>
            <a:r>
              <a:rPr spc="45" dirty="0"/>
              <a:t> </a:t>
            </a:r>
            <a:r>
              <a:rPr sz="750" spc="15" baseline="83333" dirty="0"/>
              <a:t>1</a:t>
            </a:r>
            <a:r>
              <a:rPr sz="750" baseline="83333" dirty="0"/>
              <a:t>1</a:t>
            </a:r>
            <a:r>
              <a:rPr sz="1550" spc="20" dirty="0"/>
              <a:t>Wh</a:t>
            </a:r>
            <a:r>
              <a:rPr sz="1550" spc="145" dirty="0"/>
              <a:t>y</a:t>
            </a:r>
            <a:r>
              <a:rPr sz="750" spc="15" baseline="83333" dirty="0"/>
              <a:t>11</a:t>
            </a:r>
            <a:r>
              <a:rPr sz="750" baseline="83333" dirty="0"/>
              <a:t>     </a:t>
            </a:r>
            <a:r>
              <a:rPr sz="750" spc="-7" baseline="83333" dirty="0"/>
              <a:t> </a:t>
            </a:r>
            <a:r>
              <a:rPr sz="1550" dirty="0"/>
              <a:t>The</a:t>
            </a:r>
            <a:r>
              <a:rPr sz="1550" spc="90" dirty="0"/>
              <a:t> </a:t>
            </a:r>
            <a:r>
              <a:rPr sz="1550" spc="-30" dirty="0"/>
              <a:t>Fa</a:t>
            </a:r>
            <a:r>
              <a:rPr sz="1550" spc="-50" dirty="0"/>
              <a:t>i</a:t>
            </a:r>
            <a:r>
              <a:rPr sz="1550" spc="20" dirty="0"/>
              <a:t>lure</a:t>
            </a:r>
            <a:r>
              <a:rPr sz="1550" spc="-85" dirty="0"/>
              <a:t> </a:t>
            </a:r>
            <a:r>
              <a:rPr sz="1550" spc="20" dirty="0"/>
              <a:t>of</a:t>
            </a:r>
            <a:r>
              <a:rPr sz="1550" spc="114" dirty="0"/>
              <a:t> </a:t>
            </a:r>
            <a:r>
              <a:rPr sz="1550" spc="5" dirty="0"/>
              <a:t>Manual</a:t>
            </a:r>
            <a:r>
              <a:rPr sz="1550" spc="50" dirty="0"/>
              <a:t> </a:t>
            </a:r>
            <a:r>
              <a:rPr sz="1550" spc="35" dirty="0"/>
              <a:t>Methods</a:t>
            </a:r>
            <a:endParaRPr sz="1550" dirty="0"/>
          </a:p>
          <a:p>
            <a:pPr marL="1024890">
              <a:lnSpc>
                <a:spcPts val="305"/>
              </a:lnSpc>
            </a:pPr>
            <a:r>
              <a:rPr sz="500" spc="525" dirty="0"/>
              <a:t>:</a:t>
            </a:r>
            <a:endParaRPr sz="500" dirty="0"/>
          </a:p>
          <a:p>
            <a:pPr>
              <a:lnSpc>
                <a:spcPct val="100000"/>
              </a:lnSpc>
            </a:pPr>
            <a:endParaRPr sz="5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5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"/>
              </a:spcBef>
            </a:pPr>
            <a:endParaRPr sz="5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100" b="0" spc="-100" dirty="0">
                <a:latin typeface="Arial"/>
                <a:cs typeface="Arial"/>
              </a:rPr>
              <a:t>A</a:t>
            </a:r>
            <a:r>
              <a:rPr sz="1100" b="0" spc="60" dirty="0">
                <a:latin typeface="Arial"/>
                <a:cs typeface="Arial"/>
              </a:rPr>
              <a:t> </a:t>
            </a:r>
            <a:r>
              <a:rPr sz="1100" b="0" spc="5" dirty="0">
                <a:latin typeface="Arial"/>
                <a:cs typeface="Arial"/>
              </a:rPr>
              <a:t>significant</a:t>
            </a:r>
            <a:r>
              <a:rPr sz="1100" b="0" spc="114" dirty="0">
                <a:latin typeface="Arial"/>
                <a:cs typeface="Arial"/>
              </a:rPr>
              <a:t> </a:t>
            </a:r>
            <a:r>
              <a:rPr sz="1100" b="0" spc="10" dirty="0">
                <a:latin typeface="Arial"/>
                <a:cs typeface="Arial"/>
              </a:rPr>
              <a:t>gap</a:t>
            </a:r>
            <a:r>
              <a:rPr sz="1100" b="0" dirty="0">
                <a:latin typeface="Arial"/>
                <a:cs typeface="Arial"/>
              </a:rPr>
              <a:t> exists</a:t>
            </a:r>
            <a:r>
              <a:rPr sz="1100" b="0" spc="25" dirty="0">
                <a:latin typeface="Arial"/>
                <a:cs typeface="Arial"/>
              </a:rPr>
              <a:t> </a:t>
            </a:r>
            <a:r>
              <a:rPr sz="1100" b="0" dirty="0">
                <a:latin typeface="Arial"/>
                <a:cs typeface="Arial"/>
              </a:rPr>
              <a:t>in</a:t>
            </a:r>
            <a:r>
              <a:rPr sz="1100" b="0" spc="-50" dirty="0">
                <a:latin typeface="Arial"/>
                <a:cs typeface="Arial"/>
              </a:rPr>
              <a:t> </a:t>
            </a:r>
            <a:r>
              <a:rPr sz="1100" b="0" spc="20" dirty="0">
                <a:latin typeface="Arial"/>
                <a:cs typeface="Arial"/>
              </a:rPr>
              <a:t>the</a:t>
            </a:r>
            <a:r>
              <a:rPr sz="1100" b="0" spc="25" dirty="0">
                <a:latin typeface="Arial"/>
                <a:cs typeface="Arial"/>
              </a:rPr>
              <a:t> </a:t>
            </a:r>
            <a:r>
              <a:rPr sz="1100" b="0" spc="10" dirty="0">
                <a:latin typeface="Arial"/>
                <a:cs typeface="Arial"/>
              </a:rPr>
              <a:t>current</a:t>
            </a:r>
            <a:r>
              <a:rPr sz="1100" b="0" spc="75" dirty="0">
                <a:latin typeface="Arial"/>
                <a:cs typeface="Arial"/>
              </a:rPr>
              <a:t> </a:t>
            </a:r>
            <a:r>
              <a:rPr sz="1100" b="0" spc="10" dirty="0">
                <a:latin typeface="Arial"/>
                <a:cs typeface="Arial"/>
              </a:rPr>
              <a:t>software</a:t>
            </a:r>
            <a:r>
              <a:rPr sz="1100" b="0" spc="100" dirty="0">
                <a:latin typeface="Arial"/>
                <a:cs typeface="Arial"/>
              </a:rPr>
              <a:t> </a:t>
            </a:r>
            <a:r>
              <a:rPr sz="1100" b="0" spc="5" dirty="0">
                <a:latin typeface="Arial"/>
                <a:cs typeface="Arial"/>
              </a:rPr>
              <a:t>market.</a:t>
            </a:r>
            <a:endParaRPr sz="11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9"/>
              </a:spcBef>
            </a:pPr>
            <a:endParaRPr sz="1000" dirty="0">
              <a:latin typeface="Times New Roman"/>
              <a:cs typeface="Times New Roman"/>
            </a:endParaRPr>
          </a:p>
          <a:p>
            <a:pPr marL="473709" marR="5080" indent="-226695">
              <a:lnSpc>
                <a:spcPct val="120100"/>
              </a:lnSpc>
              <a:tabLst>
                <a:tab pos="476250" algn="l"/>
              </a:tabLst>
            </a:pPr>
            <a:r>
              <a:rPr sz="1050" b="0" spc="-50" dirty="0">
                <a:latin typeface="Arial"/>
                <a:cs typeface="Arial"/>
              </a:rPr>
              <a:t>1.		</a:t>
            </a:r>
            <a:r>
              <a:rPr sz="1050" spc="20" dirty="0"/>
              <a:t>Commercial</a:t>
            </a:r>
            <a:r>
              <a:rPr sz="1050" spc="90" dirty="0"/>
              <a:t> </a:t>
            </a:r>
            <a:r>
              <a:rPr sz="1050" spc="35" dirty="0"/>
              <a:t>Saas</a:t>
            </a:r>
            <a:r>
              <a:rPr sz="1050" spc="80" dirty="0"/>
              <a:t> </a:t>
            </a:r>
            <a:r>
              <a:rPr sz="1050" spc="30" dirty="0"/>
              <a:t>(e.g.,</a:t>
            </a:r>
            <a:r>
              <a:rPr sz="1050" spc="-35" dirty="0"/>
              <a:t> </a:t>
            </a:r>
            <a:r>
              <a:rPr sz="1050" dirty="0"/>
              <a:t>YNAB,</a:t>
            </a:r>
            <a:r>
              <a:rPr sz="1050" spc="85" dirty="0"/>
              <a:t> </a:t>
            </a:r>
            <a:r>
              <a:rPr sz="1050" spc="25" dirty="0"/>
              <a:t>Quicken</a:t>
            </a:r>
            <a:r>
              <a:rPr sz="1050" spc="20" dirty="0"/>
              <a:t>):</a:t>
            </a:r>
            <a:r>
              <a:rPr sz="1050" spc="-5" dirty="0"/>
              <a:t> </a:t>
            </a:r>
            <a:r>
              <a:rPr sz="1100" b="0" spc="-25" dirty="0">
                <a:latin typeface="Arial"/>
                <a:cs typeface="Arial"/>
              </a:rPr>
              <a:t>These</a:t>
            </a:r>
            <a:r>
              <a:rPr sz="1100" b="0" spc="50" dirty="0">
                <a:latin typeface="Arial"/>
                <a:cs typeface="Arial"/>
              </a:rPr>
              <a:t> </a:t>
            </a:r>
            <a:r>
              <a:rPr sz="1100" b="0" spc="10" dirty="0">
                <a:latin typeface="Arial"/>
                <a:cs typeface="Arial"/>
              </a:rPr>
              <a:t>tools</a:t>
            </a:r>
            <a:r>
              <a:rPr sz="1100" b="0" spc="30" dirty="0">
                <a:latin typeface="Arial"/>
                <a:cs typeface="Arial"/>
              </a:rPr>
              <a:t> </a:t>
            </a:r>
            <a:r>
              <a:rPr sz="1100" b="0" dirty="0">
                <a:latin typeface="Arial"/>
                <a:cs typeface="Arial"/>
              </a:rPr>
              <a:t>are</a:t>
            </a:r>
            <a:r>
              <a:rPr sz="1100" b="0" spc="-5" dirty="0">
                <a:latin typeface="Arial"/>
                <a:cs typeface="Arial"/>
              </a:rPr>
              <a:t> </a:t>
            </a:r>
            <a:r>
              <a:rPr sz="1100" b="0" spc="-15" dirty="0">
                <a:latin typeface="Arial"/>
                <a:cs typeface="Arial"/>
              </a:rPr>
              <a:t>easy</a:t>
            </a:r>
            <a:r>
              <a:rPr sz="1100" b="0" spc="-10" dirty="0">
                <a:latin typeface="Arial"/>
                <a:cs typeface="Arial"/>
              </a:rPr>
              <a:t> </a:t>
            </a:r>
            <a:r>
              <a:rPr sz="1100" b="0" spc="45" dirty="0">
                <a:latin typeface="Arial"/>
                <a:cs typeface="Arial"/>
              </a:rPr>
              <a:t>to</a:t>
            </a:r>
            <a:r>
              <a:rPr sz="1100" b="0" spc="40" dirty="0">
                <a:latin typeface="Arial"/>
                <a:cs typeface="Arial"/>
              </a:rPr>
              <a:t> </a:t>
            </a:r>
            <a:r>
              <a:rPr sz="1100" b="0" spc="-10" dirty="0">
                <a:latin typeface="Arial"/>
                <a:cs typeface="Arial"/>
              </a:rPr>
              <a:t>use</a:t>
            </a:r>
            <a:r>
              <a:rPr sz="1100" b="0" spc="-15" dirty="0">
                <a:latin typeface="Arial"/>
                <a:cs typeface="Arial"/>
              </a:rPr>
              <a:t> </a:t>
            </a:r>
            <a:r>
              <a:rPr sz="1100" b="0" spc="25" dirty="0">
                <a:latin typeface="Arial"/>
                <a:cs typeface="Arial"/>
              </a:rPr>
              <a:t>but</a:t>
            </a:r>
            <a:r>
              <a:rPr sz="1100" b="0" spc="30" dirty="0">
                <a:latin typeface="Arial"/>
                <a:cs typeface="Arial"/>
              </a:rPr>
              <a:t> </a:t>
            </a:r>
            <a:r>
              <a:rPr sz="1100" b="0" spc="10" dirty="0">
                <a:latin typeface="Arial"/>
                <a:cs typeface="Arial"/>
              </a:rPr>
              <a:t>require</a:t>
            </a:r>
            <a:r>
              <a:rPr sz="1100" b="0" spc="5" dirty="0">
                <a:latin typeface="Arial"/>
                <a:cs typeface="Arial"/>
              </a:rPr>
              <a:t> </a:t>
            </a:r>
            <a:r>
              <a:rPr sz="1100" b="0" spc="15" dirty="0">
                <a:latin typeface="Arial"/>
                <a:cs typeface="Arial"/>
              </a:rPr>
              <a:t>recurring</a:t>
            </a:r>
            <a:r>
              <a:rPr sz="1100" b="0" dirty="0">
                <a:latin typeface="Arial"/>
                <a:cs typeface="Arial"/>
              </a:rPr>
              <a:t> </a:t>
            </a:r>
            <a:r>
              <a:rPr sz="1100" b="0" spc="5" dirty="0">
                <a:latin typeface="Arial"/>
                <a:cs typeface="Arial"/>
              </a:rPr>
              <a:t>subscription</a:t>
            </a:r>
            <a:r>
              <a:rPr sz="1100" b="0" spc="80" dirty="0">
                <a:latin typeface="Arial"/>
                <a:cs typeface="Arial"/>
              </a:rPr>
              <a:t> </a:t>
            </a:r>
            <a:r>
              <a:rPr sz="1100" b="0" spc="5" dirty="0">
                <a:latin typeface="Arial"/>
                <a:cs typeface="Arial"/>
              </a:rPr>
              <a:t>fees</a:t>
            </a:r>
            <a:r>
              <a:rPr sz="1100" b="0" spc="40" dirty="0">
                <a:latin typeface="Arial"/>
                <a:cs typeface="Arial"/>
              </a:rPr>
              <a:t> </a:t>
            </a:r>
            <a:r>
              <a:rPr sz="1100" b="0" spc="5" dirty="0">
                <a:latin typeface="Arial"/>
                <a:cs typeface="Arial"/>
              </a:rPr>
              <a:t>and</a:t>
            </a:r>
            <a:r>
              <a:rPr sz="1100" b="0" spc="-5" dirty="0">
                <a:latin typeface="Arial"/>
                <a:cs typeface="Arial"/>
              </a:rPr>
              <a:t> </a:t>
            </a:r>
            <a:r>
              <a:rPr sz="1100" b="0" spc="5" dirty="0">
                <a:latin typeface="Arial"/>
                <a:cs typeface="Arial"/>
              </a:rPr>
              <a:t>significant</a:t>
            </a:r>
            <a:r>
              <a:rPr sz="1100" b="0" spc="95" dirty="0">
                <a:latin typeface="Arial"/>
                <a:cs typeface="Arial"/>
              </a:rPr>
              <a:t> </a:t>
            </a:r>
            <a:r>
              <a:rPr sz="1100" b="0" spc="10" dirty="0">
                <a:latin typeface="Arial"/>
                <a:cs typeface="Arial"/>
              </a:rPr>
              <a:t>data</a:t>
            </a:r>
            <a:r>
              <a:rPr sz="1100" b="0" spc="40" dirty="0">
                <a:latin typeface="Arial"/>
                <a:cs typeface="Arial"/>
              </a:rPr>
              <a:t> </a:t>
            </a:r>
            <a:r>
              <a:rPr sz="1100" b="0" spc="10" dirty="0">
                <a:latin typeface="Arial"/>
                <a:cs typeface="Arial"/>
              </a:rPr>
              <a:t>privacy</a:t>
            </a:r>
            <a:r>
              <a:rPr sz="1100" b="0" spc="15" dirty="0">
                <a:latin typeface="Arial"/>
                <a:cs typeface="Arial"/>
              </a:rPr>
              <a:t> </a:t>
            </a:r>
            <a:r>
              <a:rPr sz="1100" b="0" spc="5" dirty="0">
                <a:latin typeface="Arial"/>
                <a:cs typeface="Arial"/>
              </a:rPr>
              <a:t>compromises</a:t>
            </a:r>
            <a:r>
              <a:rPr sz="1100" b="0" spc="135" dirty="0">
                <a:latin typeface="Arial"/>
                <a:cs typeface="Arial"/>
              </a:rPr>
              <a:t> </a:t>
            </a:r>
            <a:r>
              <a:rPr sz="1100" b="0" dirty="0">
                <a:latin typeface="Arial"/>
                <a:cs typeface="Arial"/>
              </a:rPr>
              <a:t>(linking</a:t>
            </a:r>
            <a:r>
              <a:rPr sz="1100" b="0" spc="40" dirty="0">
                <a:latin typeface="Arial"/>
                <a:cs typeface="Arial"/>
              </a:rPr>
              <a:t> </a:t>
            </a:r>
            <a:r>
              <a:rPr sz="1100" b="0" spc="-5" dirty="0">
                <a:latin typeface="Arial"/>
                <a:cs typeface="Arial"/>
              </a:rPr>
              <a:t>live </a:t>
            </a:r>
            <a:r>
              <a:rPr sz="1100" b="0" dirty="0">
                <a:latin typeface="Arial"/>
                <a:cs typeface="Arial"/>
              </a:rPr>
              <a:t>bank </a:t>
            </a:r>
            <a:r>
              <a:rPr sz="1100" b="0" spc="10" dirty="0">
                <a:latin typeface="Arial"/>
                <a:cs typeface="Arial"/>
              </a:rPr>
              <a:t>accounts</a:t>
            </a:r>
            <a:r>
              <a:rPr sz="1100" b="0" spc="25" dirty="0">
                <a:latin typeface="Arial"/>
                <a:cs typeface="Arial"/>
              </a:rPr>
              <a:t> </a:t>
            </a:r>
            <a:r>
              <a:rPr sz="1100" b="0" spc="45" dirty="0">
                <a:latin typeface="Arial"/>
                <a:cs typeface="Arial"/>
              </a:rPr>
              <a:t>to</a:t>
            </a:r>
            <a:r>
              <a:rPr sz="1100" b="0" spc="-5" dirty="0">
                <a:latin typeface="Arial"/>
                <a:cs typeface="Arial"/>
              </a:rPr>
              <a:t> </a:t>
            </a:r>
            <a:r>
              <a:rPr sz="1100" b="0" spc="20" dirty="0">
                <a:latin typeface="Arial"/>
                <a:cs typeface="Arial"/>
              </a:rPr>
              <a:t>the</a:t>
            </a:r>
            <a:r>
              <a:rPr sz="1100" b="0" spc="25" dirty="0">
                <a:latin typeface="Arial"/>
                <a:cs typeface="Arial"/>
              </a:rPr>
              <a:t> </a:t>
            </a:r>
            <a:r>
              <a:rPr sz="1100" b="0" spc="15" dirty="0">
                <a:latin typeface="Arial"/>
                <a:cs typeface="Arial"/>
              </a:rPr>
              <a:t>cloud)</a:t>
            </a:r>
            <a:r>
              <a:rPr sz="1100" b="0" spc="5" dirty="0">
                <a:latin typeface="Arial"/>
                <a:cs typeface="Arial"/>
              </a:rPr>
              <a:t>.</a:t>
            </a:r>
            <a:endParaRPr sz="1100" dirty="0">
              <a:latin typeface="Arial"/>
              <a:cs typeface="Arial"/>
            </a:endParaRPr>
          </a:p>
          <a:p>
            <a:pPr marL="471170" marR="118110" indent="-226695">
              <a:lnSpc>
                <a:spcPct val="119300"/>
              </a:lnSpc>
              <a:spcBef>
                <a:spcPts val="10"/>
              </a:spcBef>
            </a:pPr>
            <a:r>
              <a:rPr sz="1100" b="0" spc="-30" dirty="0">
                <a:latin typeface="Arial"/>
                <a:cs typeface="Arial"/>
              </a:rPr>
              <a:t>2.  </a:t>
            </a:r>
            <a:r>
              <a:rPr sz="1100" b="0" spc="35" dirty="0">
                <a:latin typeface="Arial"/>
                <a:cs typeface="Arial"/>
              </a:rPr>
              <a:t> </a:t>
            </a:r>
            <a:r>
              <a:rPr sz="1050" spc="35" dirty="0"/>
              <a:t>Open-Source</a:t>
            </a:r>
            <a:r>
              <a:rPr sz="1050" dirty="0"/>
              <a:t> </a:t>
            </a:r>
            <a:r>
              <a:rPr sz="1050" spc="-125" dirty="0"/>
              <a:t> </a:t>
            </a:r>
            <a:r>
              <a:rPr sz="1050" spc="30" dirty="0"/>
              <a:t>(e.g.,</a:t>
            </a:r>
            <a:r>
              <a:rPr sz="1050" spc="35" dirty="0"/>
              <a:t> </a:t>
            </a:r>
            <a:r>
              <a:rPr sz="1050" spc="20" dirty="0"/>
              <a:t>Firefly</a:t>
            </a:r>
            <a:r>
              <a:rPr sz="1050" spc="70" dirty="0"/>
              <a:t> </a:t>
            </a:r>
            <a:r>
              <a:rPr sz="1100" b="0" spc="60" dirty="0">
                <a:latin typeface="Arial"/>
                <a:cs typeface="Arial"/>
              </a:rPr>
              <a:t>Ill</a:t>
            </a:r>
            <a:r>
              <a:rPr sz="1100" b="0" spc="90" dirty="0">
                <a:latin typeface="Arial"/>
                <a:cs typeface="Arial"/>
              </a:rPr>
              <a:t>)</a:t>
            </a:r>
            <a:r>
              <a:rPr sz="1100" b="0" spc="70" dirty="0">
                <a:latin typeface="Arial"/>
                <a:cs typeface="Arial"/>
              </a:rPr>
              <a:t>:</a:t>
            </a:r>
            <a:r>
              <a:rPr sz="1100" b="0" spc="-155" dirty="0">
                <a:latin typeface="Arial"/>
                <a:cs typeface="Arial"/>
              </a:rPr>
              <a:t> </a:t>
            </a:r>
            <a:r>
              <a:rPr sz="1100" b="0" spc="-35" dirty="0">
                <a:latin typeface="Arial"/>
                <a:cs typeface="Arial"/>
              </a:rPr>
              <a:t>These</a:t>
            </a:r>
            <a:r>
              <a:rPr sz="1100" b="0" spc="60" dirty="0">
                <a:latin typeface="Arial"/>
                <a:cs typeface="Arial"/>
              </a:rPr>
              <a:t> </a:t>
            </a:r>
            <a:r>
              <a:rPr sz="1100" b="0" dirty="0">
                <a:latin typeface="Arial"/>
                <a:cs typeface="Arial"/>
              </a:rPr>
              <a:t>solutions</a:t>
            </a:r>
            <a:r>
              <a:rPr sz="1100" b="0" spc="45" dirty="0">
                <a:latin typeface="Arial"/>
                <a:cs typeface="Arial"/>
              </a:rPr>
              <a:t> </a:t>
            </a:r>
            <a:r>
              <a:rPr sz="1100" b="0" dirty="0">
                <a:latin typeface="Arial"/>
                <a:cs typeface="Arial"/>
              </a:rPr>
              <a:t>are</a:t>
            </a:r>
            <a:r>
              <a:rPr sz="1100" b="0" spc="-5" dirty="0">
                <a:latin typeface="Arial"/>
                <a:cs typeface="Arial"/>
              </a:rPr>
              <a:t> </a:t>
            </a:r>
            <a:r>
              <a:rPr sz="1100" b="0" spc="15" dirty="0">
                <a:latin typeface="Arial"/>
                <a:cs typeface="Arial"/>
              </a:rPr>
              <a:t>free</a:t>
            </a:r>
            <a:r>
              <a:rPr sz="1100" b="0" spc="35" dirty="0">
                <a:latin typeface="Arial"/>
                <a:cs typeface="Arial"/>
              </a:rPr>
              <a:t> </a:t>
            </a:r>
            <a:r>
              <a:rPr sz="1100" b="0" spc="5" dirty="0">
                <a:latin typeface="Arial"/>
                <a:cs typeface="Arial"/>
              </a:rPr>
              <a:t>and</a:t>
            </a:r>
            <a:r>
              <a:rPr sz="1100" b="0" spc="20" dirty="0">
                <a:latin typeface="Arial"/>
                <a:cs typeface="Arial"/>
              </a:rPr>
              <a:t> </a:t>
            </a:r>
            <a:r>
              <a:rPr sz="1100" b="0" spc="5" dirty="0">
                <a:latin typeface="Arial"/>
                <a:cs typeface="Arial"/>
              </a:rPr>
              <a:t>private</a:t>
            </a:r>
            <a:r>
              <a:rPr sz="1100" b="0" spc="35" dirty="0">
                <a:latin typeface="Arial"/>
                <a:cs typeface="Arial"/>
              </a:rPr>
              <a:t> </a:t>
            </a:r>
            <a:r>
              <a:rPr sz="1100" b="0" spc="25" dirty="0">
                <a:latin typeface="Arial"/>
                <a:cs typeface="Arial"/>
              </a:rPr>
              <a:t>but</a:t>
            </a:r>
            <a:r>
              <a:rPr sz="1100" b="0" spc="10" dirty="0">
                <a:latin typeface="Arial"/>
                <a:cs typeface="Arial"/>
              </a:rPr>
              <a:t> </a:t>
            </a:r>
            <a:r>
              <a:rPr sz="1100" b="0" spc="-10" dirty="0">
                <a:latin typeface="Arial"/>
                <a:cs typeface="Arial"/>
              </a:rPr>
              <a:t>are</a:t>
            </a:r>
            <a:r>
              <a:rPr sz="1100" b="0" spc="55" dirty="0">
                <a:latin typeface="Arial"/>
                <a:cs typeface="Arial"/>
              </a:rPr>
              <a:t> </a:t>
            </a:r>
            <a:r>
              <a:rPr sz="1100" b="0" spc="10" dirty="0">
                <a:latin typeface="Arial"/>
                <a:cs typeface="Arial"/>
              </a:rPr>
              <a:t>built</a:t>
            </a:r>
            <a:r>
              <a:rPr sz="1100" b="0" spc="-5" dirty="0">
                <a:latin typeface="Arial"/>
                <a:cs typeface="Arial"/>
              </a:rPr>
              <a:t> </a:t>
            </a:r>
            <a:r>
              <a:rPr sz="1100" b="0" spc="20" dirty="0">
                <a:latin typeface="Arial"/>
                <a:cs typeface="Arial"/>
              </a:rPr>
              <a:t>for</a:t>
            </a:r>
            <a:r>
              <a:rPr sz="1100" b="0" spc="15" dirty="0">
                <a:latin typeface="Arial"/>
                <a:cs typeface="Arial"/>
              </a:rPr>
              <a:t> </a:t>
            </a:r>
            <a:r>
              <a:rPr sz="1100" b="0" spc="5" dirty="0">
                <a:latin typeface="Arial"/>
                <a:cs typeface="Arial"/>
              </a:rPr>
              <a:t>technical</a:t>
            </a:r>
            <a:r>
              <a:rPr sz="1100" b="0" spc="110" dirty="0">
                <a:latin typeface="Arial"/>
                <a:cs typeface="Arial"/>
              </a:rPr>
              <a:t> </a:t>
            </a:r>
            <a:r>
              <a:rPr sz="1100" b="0" spc="-15" dirty="0">
                <a:latin typeface="Arial"/>
                <a:cs typeface="Arial"/>
              </a:rPr>
              <a:t>users,</a:t>
            </a:r>
            <a:r>
              <a:rPr sz="1100" b="0" spc="15" dirty="0">
                <a:latin typeface="Arial"/>
                <a:cs typeface="Arial"/>
              </a:rPr>
              <a:t> </a:t>
            </a:r>
            <a:r>
              <a:rPr sz="1100" b="0" spc="10" dirty="0">
                <a:latin typeface="Arial"/>
                <a:cs typeface="Arial"/>
              </a:rPr>
              <a:t>requiring</a:t>
            </a:r>
            <a:r>
              <a:rPr sz="1100" b="0" spc="40" dirty="0">
                <a:latin typeface="Arial"/>
                <a:cs typeface="Arial"/>
              </a:rPr>
              <a:t> </a:t>
            </a:r>
            <a:r>
              <a:rPr sz="1100" b="0" spc="-20" dirty="0">
                <a:latin typeface="Arial"/>
                <a:cs typeface="Arial"/>
              </a:rPr>
              <a:t>skills</a:t>
            </a:r>
            <a:r>
              <a:rPr sz="1100" b="0" spc="70" dirty="0">
                <a:latin typeface="Arial"/>
                <a:cs typeface="Arial"/>
              </a:rPr>
              <a:t> </a:t>
            </a:r>
            <a:r>
              <a:rPr sz="1100" b="0" dirty="0">
                <a:latin typeface="Arial"/>
                <a:cs typeface="Arial"/>
              </a:rPr>
              <a:t>in</a:t>
            </a:r>
            <a:r>
              <a:rPr sz="1100" b="0" spc="-50" dirty="0">
                <a:latin typeface="Arial"/>
                <a:cs typeface="Arial"/>
              </a:rPr>
              <a:t> </a:t>
            </a:r>
            <a:r>
              <a:rPr sz="1100" b="0" spc="-15" dirty="0">
                <a:latin typeface="Arial"/>
                <a:cs typeface="Arial"/>
              </a:rPr>
              <a:t>server</a:t>
            </a:r>
            <a:r>
              <a:rPr sz="1100" b="0" spc="90" dirty="0">
                <a:latin typeface="Arial"/>
                <a:cs typeface="Arial"/>
              </a:rPr>
              <a:t> </a:t>
            </a:r>
            <a:r>
              <a:rPr sz="1100" b="0" spc="15" dirty="0">
                <a:latin typeface="Arial"/>
                <a:cs typeface="Arial"/>
              </a:rPr>
              <a:t>self-hosting,</a:t>
            </a:r>
            <a:r>
              <a:rPr sz="1100" b="0" spc="75" dirty="0">
                <a:latin typeface="Arial"/>
                <a:cs typeface="Arial"/>
              </a:rPr>
              <a:t> </a:t>
            </a:r>
            <a:r>
              <a:rPr sz="1100" b="0" dirty="0">
                <a:latin typeface="Arial"/>
                <a:cs typeface="Arial"/>
              </a:rPr>
              <a:t>database</a:t>
            </a:r>
            <a:r>
              <a:rPr sz="1100" b="0" spc="120" dirty="0">
                <a:latin typeface="Arial"/>
                <a:cs typeface="Arial"/>
              </a:rPr>
              <a:t> </a:t>
            </a:r>
            <a:r>
              <a:rPr sz="1100" b="0" spc="-10" dirty="0">
                <a:latin typeface="Arial"/>
                <a:cs typeface="Arial"/>
              </a:rPr>
              <a:t>management,</a:t>
            </a:r>
            <a:r>
              <a:rPr sz="1100" b="0" spc="60" dirty="0">
                <a:latin typeface="Arial"/>
                <a:cs typeface="Arial"/>
              </a:rPr>
              <a:t> </a:t>
            </a:r>
            <a:r>
              <a:rPr sz="1100" b="0" spc="10" dirty="0">
                <a:latin typeface="Arial"/>
                <a:cs typeface="Arial"/>
              </a:rPr>
              <a:t>and</a:t>
            </a:r>
            <a:r>
              <a:rPr sz="1100" b="0" spc="5" dirty="0">
                <a:latin typeface="Arial"/>
                <a:cs typeface="Arial"/>
              </a:rPr>
              <a:t> </a:t>
            </a:r>
            <a:r>
              <a:rPr sz="1100" b="0" spc="10" dirty="0">
                <a:latin typeface="Arial"/>
                <a:cs typeface="Arial"/>
              </a:rPr>
              <a:t>scripting.</a:t>
            </a:r>
            <a:endParaRPr sz="11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3"/>
              </a:spcBef>
            </a:pPr>
            <a:endParaRPr sz="1250" dirty="0">
              <a:latin typeface="Times New Roman"/>
              <a:cs typeface="Times New Roman"/>
            </a:endParaRPr>
          </a:p>
          <a:p>
            <a:pPr marL="12700">
              <a:lnSpc>
                <a:spcPts val="1170"/>
              </a:lnSpc>
            </a:pPr>
            <a:r>
              <a:rPr sz="1350" spc="5" dirty="0"/>
              <a:t>The</a:t>
            </a:r>
            <a:r>
              <a:rPr sz="1350" spc="15" dirty="0"/>
              <a:t> </a:t>
            </a:r>
            <a:r>
              <a:rPr sz="675" spc="15" baseline="86419" dirty="0">
                <a:latin typeface="Times New Roman"/>
                <a:cs typeface="Times New Roman"/>
              </a:rPr>
              <a:t>11</a:t>
            </a:r>
            <a:r>
              <a:rPr sz="675" spc="7" baseline="86419" dirty="0">
                <a:latin typeface="Times New Roman"/>
                <a:cs typeface="Times New Roman"/>
              </a:rPr>
              <a:t> </a:t>
            </a:r>
            <a:r>
              <a:rPr sz="1350" spc="35" dirty="0"/>
              <a:t>Ho</a:t>
            </a:r>
            <a:r>
              <a:rPr sz="1350" spc="65" dirty="0"/>
              <a:t>w</a:t>
            </a:r>
            <a:r>
              <a:rPr sz="675" spc="15" baseline="86419" dirty="0">
                <a:latin typeface="Times New Roman"/>
                <a:cs typeface="Times New Roman"/>
              </a:rPr>
              <a:t>11</a:t>
            </a:r>
            <a:r>
              <a:rPr sz="675" baseline="86419" dirty="0">
                <a:latin typeface="Times New Roman"/>
                <a:cs typeface="Times New Roman"/>
              </a:rPr>
              <a:t>       </a:t>
            </a:r>
            <a:r>
              <a:rPr sz="675" spc="-89" baseline="86419" dirty="0">
                <a:latin typeface="Times New Roman"/>
                <a:cs typeface="Times New Roman"/>
              </a:rPr>
              <a:t> </a:t>
            </a:r>
            <a:r>
              <a:rPr sz="1350" spc="35" dirty="0"/>
              <a:t>Fragmentat</a:t>
            </a:r>
            <a:r>
              <a:rPr sz="1350" spc="20" dirty="0"/>
              <a:t>i</a:t>
            </a:r>
            <a:r>
              <a:rPr sz="1350" spc="5" dirty="0"/>
              <a:t>on</a:t>
            </a:r>
            <a:r>
              <a:rPr sz="1350" spc="-30" dirty="0"/>
              <a:t> </a:t>
            </a:r>
            <a:r>
              <a:rPr sz="1350" spc="40" dirty="0"/>
              <a:t>of</a:t>
            </a:r>
            <a:r>
              <a:rPr sz="1350" spc="-35" dirty="0"/>
              <a:t> </a:t>
            </a:r>
            <a:r>
              <a:rPr sz="1350" spc="60" dirty="0"/>
              <a:t>the</a:t>
            </a:r>
            <a:r>
              <a:rPr sz="1350" spc="40" dirty="0"/>
              <a:t> Modern</a:t>
            </a:r>
            <a:r>
              <a:rPr sz="1350" spc="50" dirty="0"/>
              <a:t> </a:t>
            </a:r>
            <a:r>
              <a:rPr sz="1350" spc="-30" dirty="0"/>
              <a:t>PFM</a:t>
            </a:r>
            <a:r>
              <a:rPr sz="1350" spc="45" dirty="0"/>
              <a:t> </a:t>
            </a:r>
            <a:r>
              <a:rPr sz="1350" spc="55" dirty="0"/>
              <a:t>Market</a:t>
            </a:r>
            <a:endParaRPr sz="1350" dirty="0">
              <a:latin typeface="Times New Roman"/>
              <a:cs typeface="Times New Roman"/>
            </a:endParaRPr>
          </a:p>
          <a:p>
            <a:pPr marL="901700">
              <a:lnSpc>
                <a:spcPts val="270"/>
              </a:lnSpc>
            </a:pPr>
            <a:r>
              <a:rPr sz="450" spc="385" dirty="0">
                <a:latin typeface="Times New Roman"/>
                <a:cs typeface="Times New Roman"/>
              </a:rPr>
              <a:t>:</a:t>
            </a:r>
            <a:endParaRPr sz="45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3"/>
              </a:spcBef>
            </a:pPr>
            <a:endParaRPr sz="450" dirty="0">
              <a:latin typeface="Times New Roman"/>
              <a:cs typeface="Times New Roman"/>
            </a:endParaRPr>
          </a:p>
          <a:p>
            <a:pPr marL="12700" marR="153670" algn="just">
              <a:lnSpc>
                <a:spcPct val="119500"/>
              </a:lnSpc>
            </a:pPr>
            <a:r>
              <a:rPr sz="1100" b="0" spc="-40" dirty="0">
                <a:latin typeface="Arial"/>
                <a:cs typeface="Arial"/>
              </a:rPr>
              <a:t>The</a:t>
            </a:r>
            <a:r>
              <a:rPr sz="1100" b="0" spc="30" dirty="0">
                <a:latin typeface="Arial"/>
                <a:cs typeface="Arial"/>
              </a:rPr>
              <a:t> </a:t>
            </a:r>
            <a:r>
              <a:rPr sz="1100" b="0" spc="20" dirty="0">
                <a:latin typeface="Arial"/>
                <a:cs typeface="Arial"/>
              </a:rPr>
              <a:t>proposed</a:t>
            </a:r>
            <a:r>
              <a:rPr sz="1100" b="0" spc="-55" dirty="0">
                <a:latin typeface="Arial"/>
                <a:cs typeface="Arial"/>
              </a:rPr>
              <a:t> </a:t>
            </a:r>
            <a:r>
              <a:rPr sz="1100" b="0" dirty="0">
                <a:latin typeface="Arial"/>
                <a:cs typeface="Arial"/>
              </a:rPr>
              <a:t>solution</a:t>
            </a:r>
            <a:r>
              <a:rPr sz="1100" b="0" spc="30" dirty="0">
                <a:latin typeface="Arial"/>
                <a:cs typeface="Arial"/>
              </a:rPr>
              <a:t> </a:t>
            </a:r>
            <a:r>
              <a:rPr sz="1100" b="0" spc="-20" dirty="0">
                <a:latin typeface="Arial"/>
                <a:cs typeface="Arial"/>
              </a:rPr>
              <a:t>is</a:t>
            </a:r>
            <a:r>
              <a:rPr sz="1100" b="0" spc="-114" dirty="0">
                <a:latin typeface="Arial"/>
                <a:cs typeface="Arial"/>
              </a:rPr>
              <a:t> </a:t>
            </a:r>
            <a:r>
              <a:rPr sz="1100" b="0" spc="25" dirty="0">
                <a:latin typeface="Arial"/>
                <a:cs typeface="Arial"/>
              </a:rPr>
              <a:t>the</a:t>
            </a:r>
            <a:r>
              <a:rPr sz="1100" b="0" spc="55" dirty="0">
                <a:latin typeface="Arial"/>
                <a:cs typeface="Arial"/>
              </a:rPr>
              <a:t> </a:t>
            </a:r>
            <a:r>
              <a:rPr sz="1050" spc="-15" dirty="0"/>
              <a:t>F</a:t>
            </a:r>
            <a:r>
              <a:rPr sz="1050" spc="-55" dirty="0"/>
              <a:t>i</a:t>
            </a:r>
            <a:r>
              <a:rPr sz="1050" spc="15" dirty="0"/>
              <a:t>nance</a:t>
            </a:r>
            <a:r>
              <a:rPr sz="1050" spc="-15" dirty="0"/>
              <a:t> </a:t>
            </a:r>
            <a:r>
              <a:rPr sz="1050" spc="15" dirty="0"/>
              <a:t>Tracker,</a:t>
            </a:r>
            <a:r>
              <a:rPr sz="1050" spc="40" dirty="0"/>
              <a:t> </a:t>
            </a:r>
            <a:r>
              <a:rPr sz="1050" spc="-40" dirty="0"/>
              <a:t>an</a:t>
            </a:r>
            <a:r>
              <a:rPr sz="1050" spc="-50" dirty="0"/>
              <a:t> </a:t>
            </a:r>
            <a:r>
              <a:rPr sz="1050" spc="15" dirty="0"/>
              <a:t>Application</a:t>
            </a:r>
            <a:r>
              <a:rPr sz="1050" spc="130" dirty="0"/>
              <a:t> </a:t>
            </a:r>
            <a:r>
              <a:rPr sz="1050" spc="15" dirty="0"/>
              <a:t>based</a:t>
            </a:r>
            <a:r>
              <a:rPr sz="1050" spc="-35" dirty="0"/>
              <a:t> </a:t>
            </a:r>
            <a:r>
              <a:rPr sz="1100" b="0" spc="20" dirty="0">
                <a:latin typeface="Arial"/>
                <a:cs typeface="Arial"/>
              </a:rPr>
              <a:t>tool.</a:t>
            </a:r>
            <a:r>
              <a:rPr sz="1100" b="0" dirty="0">
                <a:latin typeface="Arial"/>
                <a:cs typeface="Arial"/>
              </a:rPr>
              <a:t> </a:t>
            </a:r>
            <a:r>
              <a:rPr sz="1100" b="0" spc="5" dirty="0">
                <a:latin typeface="Arial"/>
                <a:cs typeface="Arial"/>
              </a:rPr>
              <a:t>It</a:t>
            </a:r>
            <a:r>
              <a:rPr sz="1100" b="0" spc="-60" dirty="0">
                <a:latin typeface="Arial"/>
                <a:cs typeface="Arial"/>
              </a:rPr>
              <a:t> </a:t>
            </a:r>
            <a:r>
              <a:rPr sz="1100" b="0" spc="-10" dirty="0">
                <a:latin typeface="Arial"/>
                <a:cs typeface="Arial"/>
              </a:rPr>
              <a:t>is</a:t>
            </a:r>
            <a:r>
              <a:rPr sz="1100" b="0" spc="-95" dirty="0">
                <a:latin typeface="Arial"/>
                <a:cs typeface="Arial"/>
              </a:rPr>
              <a:t> </a:t>
            </a:r>
            <a:r>
              <a:rPr sz="1100" b="0" spc="-65" dirty="0">
                <a:latin typeface="Arial"/>
                <a:cs typeface="Arial"/>
              </a:rPr>
              <a:t>a</a:t>
            </a:r>
            <a:r>
              <a:rPr sz="1100" b="0" spc="20" dirty="0">
                <a:latin typeface="Arial"/>
                <a:cs typeface="Arial"/>
              </a:rPr>
              <a:t> </a:t>
            </a:r>
            <a:r>
              <a:rPr sz="1100" b="0" spc="10" dirty="0">
                <a:latin typeface="Arial"/>
                <a:cs typeface="Arial"/>
              </a:rPr>
              <a:t>lightweight,</a:t>
            </a:r>
            <a:r>
              <a:rPr sz="1100" b="0" spc="5" dirty="0">
                <a:latin typeface="Arial"/>
                <a:cs typeface="Arial"/>
              </a:rPr>
              <a:t> </a:t>
            </a:r>
            <a:r>
              <a:rPr sz="1100" b="0" spc="15" dirty="0">
                <a:latin typeface="Arial"/>
                <a:cs typeface="Arial"/>
              </a:rPr>
              <a:t>offline</a:t>
            </a:r>
            <a:r>
              <a:rPr sz="1100" b="0" spc="45" dirty="0">
                <a:latin typeface="Arial"/>
                <a:cs typeface="Arial"/>
              </a:rPr>
              <a:t> </a:t>
            </a:r>
            <a:r>
              <a:rPr sz="1100" b="0" dirty="0">
                <a:latin typeface="Arial"/>
                <a:cs typeface="Arial"/>
              </a:rPr>
              <a:t>Python</a:t>
            </a:r>
            <a:r>
              <a:rPr sz="1100" b="0" spc="-65" dirty="0">
                <a:latin typeface="Arial"/>
                <a:cs typeface="Arial"/>
              </a:rPr>
              <a:t> </a:t>
            </a:r>
            <a:r>
              <a:rPr sz="1100" b="0" dirty="0">
                <a:latin typeface="Arial"/>
                <a:cs typeface="Arial"/>
              </a:rPr>
              <a:t>application</a:t>
            </a:r>
            <a:r>
              <a:rPr sz="1100" b="0" spc="-10" dirty="0">
                <a:latin typeface="Arial"/>
                <a:cs typeface="Arial"/>
              </a:rPr>
              <a:t> </a:t>
            </a:r>
            <a:r>
              <a:rPr sz="1100" b="0" spc="15" dirty="0">
                <a:latin typeface="Arial"/>
                <a:cs typeface="Arial"/>
              </a:rPr>
              <a:t>that</a:t>
            </a:r>
            <a:r>
              <a:rPr sz="1100" b="0" spc="55" dirty="0">
                <a:latin typeface="Arial"/>
                <a:cs typeface="Arial"/>
              </a:rPr>
              <a:t> </a:t>
            </a:r>
            <a:r>
              <a:rPr sz="1100" b="0" spc="5" dirty="0">
                <a:latin typeface="Arial"/>
                <a:cs typeface="Arial"/>
              </a:rPr>
              <a:t>operates</a:t>
            </a:r>
            <a:r>
              <a:rPr sz="1100" b="0" spc="40" dirty="0">
                <a:latin typeface="Arial"/>
                <a:cs typeface="Arial"/>
              </a:rPr>
              <a:t> </a:t>
            </a:r>
            <a:r>
              <a:rPr sz="1050" b="0" i="1" spc="20" dirty="0">
                <a:latin typeface="Arial"/>
                <a:cs typeface="Arial"/>
              </a:rPr>
              <a:t>only </a:t>
            </a:r>
            <a:r>
              <a:rPr sz="1100" b="0" spc="15" dirty="0">
                <a:latin typeface="Arial"/>
                <a:cs typeface="Arial"/>
              </a:rPr>
              <a:t>on</a:t>
            </a:r>
            <a:r>
              <a:rPr sz="1100" b="0" spc="-50" dirty="0">
                <a:latin typeface="Arial"/>
                <a:cs typeface="Arial"/>
              </a:rPr>
              <a:t> </a:t>
            </a:r>
            <a:r>
              <a:rPr sz="1100" b="0" spc="-65" dirty="0">
                <a:latin typeface="Arial"/>
                <a:cs typeface="Arial"/>
              </a:rPr>
              <a:t>a</a:t>
            </a:r>
            <a:r>
              <a:rPr sz="1100" b="0" spc="-20" dirty="0">
                <a:latin typeface="Arial"/>
                <a:cs typeface="Arial"/>
              </a:rPr>
              <a:t> </a:t>
            </a:r>
            <a:r>
              <a:rPr sz="1100" b="0" spc="-5" dirty="0">
                <a:latin typeface="Arial"/>
                <a:cs typeface="Arial"/>
              </a:rPr>
              <a:t>local,</a:t>
            </a:r>
            <a:r>
              <a:rPr sz="1100" b="0" spc="-55" dirty="0">
                <a:latin typeface="Arial"/>
                <a:cs typeface="Arial"/>
              </a:rPr>
              <a:t> </a:t>
            </a:r>
            <a:r>
              <a:rPr sz="1100" b="0" spc="20" dirty="0">
                <a:latin typeface="Arial"/>
                <a:cs typeface="Arial"/>
              </a:rPr>
              <a:t>user-provided</a:t>
            </a:r>
            <a:r>
              <a:rPr sz="1100" b="0" spc="30" dirty="0">
                <a:latin typeface="Arial"/>
                <a:cs typeface="Arial"/>
              </a:rPr>
              <a:t> </a:t>
            </a:r>
            <a:r>
              <a:rPr sz="1100" b="0" spc="-80" dirty="0">
                <a:latin typeface="Arial"/>
                <a:cs typeface="Arial"/>
              </a:rPr>
              <a:t>CSV</a:t>
            </a:r>
            <a:r>
              <a:rPr sz="1100" b="0" spc="-30" dirty="0">
                <a:latin typeface="Arial"/>
                <a:cs typeface="Arial"/>
              </a:rPr>
              <a:t> </a:t>
            </a:r>
            <a:r>
              <a:rPr sz="1100" b="0" dirty="0">
                <a:latin typeface="Arial"/>
                <a:cs typeface="Arial"/>
              </a:rPr>
              <a:t>file.</a:t>
            </a:r>
            <a:r>
              <a:rPr sz="1100" b="0" spc="15" dirty="0">
                <a:latin typeface="Arial"/>
                <a:cs typeface="Arial"/>
              </a:rPr>
              <a:t> </a:t>
            </a:r>
            <a:r>
              <a:rPr sz="1100" b="0" spc="5" dirty="0">
                <a:latin typeface="Arial"/>
                <a:cs typeface="Arial"/>
              </a:rPr>
              <a:t>It</a:t>
            </a:r>
            <a:r>
              <a:rPr sz="1100" b="0" spc="-60" dirty="0">
                <a:latin typeface="Arial"/>
                <a:cs typeface="Arial"/>
              </a:rPr>
              <a:t> </a:t>
            </a:r>
            <a:r>
              <a:rPr sz="1100" b="0" spc="5" dirty="0">
                <a:latin typeface="Arial"/>
                <a:cs typeface="Arial"/>
              </a:rPr>
              <a:t>automates</a:t>
            </a:r>
            <a:r>
              <a:rPr sz="1100" b="0" dirty="0">
                <a:latin typeface="Arial"/>
                <a:cs typeface="Arial"/>
              </a:rPr>
              <a:t> </a:t>
            </a:r>
            <a:r>
              <a:rPr sz="1100" b="0" spc="20" dirty="0">
                <a:latin typeface="Arial"/>
                <a:cs typeface="Arial"/>
              </a:rPr>
              <a:t>the</a:t>
            </a:r>
            <a:r>
              <a:rPr sz="1100" b="0" spc="25" dirty="0">
                <a:latin typeface="Arial"/>
                <a:cs typeface="Arial"/>
              </a:rPr>
              <a:t> </a:t>
            </a:r>
            <a:r>
              <a:rPr sz="1100" b="0" spc="10" dirty="0">
                <a:latin typeface="Arial"/>
                <a:cs typeface="Arial"/>
              </a:rPr>
              <a:t>most</a:t>
            </a:r>
            <a:r>
              <a:rPr sz="1100" b="0" spc="35" dirty="0">
                <a:latin typeface="Arial"/>
                <a:cs typeface="Arial"/>
              </a:rPr>
              <a:t> </a:t>
            </a:r>
            <a:r>
              <a:rPr sz="1100" b="0" dirty="0">
                <a:latin typeface="Arial"/>
                <a:cs typeface="Arial"/>
              </a:rPr>
              <a:t>laborious</a:t>
            </a:r>
            <a:r>
              <a:rPr sz="1100" b="0" spc="-15" dirty="0">
                <a:latin typeface="Arial"/>
                <a:cs typeface="Arial"/>
              </a:rPr>
              <a:t> </a:t>
            </a:r>
            <a:r>
              <a:rPr sz="1100" b="0" spc="-20" dirty="0">
                <a:latin typeface="Arial"/>
                <a:cs typeface="Arial"/>
              </a:rPr>
              <a:t>tasks</a:t>
            </a:r>
            <a:r>
              <a:rPr sz="1100" b="0" spc="40" dirty="0">
                <a:latin typeface="Arial"/>
                <a:cs typeface="Arial"/>
              </a:rPr>
              <a:t> </a:t>
            </a:r>
            <a:r>
              <a:rPr sz="1100" b="0" dirty="0">
                <a:latin typeface="Arial"/>
                <a:cs typeface="Arial"/>
              </a:rPr>
              <a:t>(data</a:t>
            </a:r>
            <a:r>
              <a:rPr sz="1100" b="0" spc="-20" dirty="0">
                <a:latin typeface="Arial"/>
                <a:cs typeface="Arial"/>
              </a:rPr>
              <a:t> </a:t>
            </a:r>
            <a:r>
              <a:rPr sz="1100" b="0" spc="-15" dirty="0">
                <a:latin typeface="Arial"/>
                <a:cs typeface="Arial"/>
              </a:rPr>
              <a:t>cleansing,</a:t>
            </a:r>
            <a:r>
              <a:rPr sz="1100" b="0" spc="15" dirty="0">
                <a:latin typeface="Arial"/>
                <a:cs typeface="Arial"/>
              </a:rPr>
              <a:t> </a:t>
            </a:r>
            <a:r>
              <a:rPr sz="1100" b="0" dirty="0">
                <a:latin typeface="Arial"/>
                <a:cs typeface="Arial"/>
              </a:rPr>
              <a:t>categorization,</a:t>
            </a:r>
            <a:r>
              <a:rPr sz="1100" b="0" spc="60" dirty="0">
                <a:latin typeface="Arial"/>
                <a:cs typeface="Arial"/>
              </a:rPr>
              <a:t> </a:t>
            </a:r>
            <a:r>
              <a:rPr sz="1100" b="0" spc="5" dirty="0">
                <a:latin typeface="Arial"/>
                <a:cs typeface="Arial"/>
              </a:rPr>
              <a:t>and</a:t>
            </a:r>
            <a:r>
              <a:rPr sz="1100" b="0" spc="-25" dirty="0">
                <a:latin typeface="Arial"/>
                <a:cs typeface="Arial"/>
              </a:rPr>
              <a:t> </a:t>
            </a:r>
            <a:r>
              <a:rPr sz="1100" b="0" spc="25" dirty="0">
                <a:latin typeface="Arial"/>
                <a:cs typeface="Arial"/>
              </a:rPr>
              <a:t>report</a:t>
            </a:r>
            <a:r>
              <a:rPr sz="1100" b="0" spc="10" dirty="0">
                <a:latin typeface="Arial"/>
                <a:cs typeface="Arial"/>
              </a:rPr>
              <a:t> </a:t>
            </a:r>
            <a:r>
              <a:rPr sz="1100" b="0" dirty="0">
                <a:latin typeface="Arial"/>
                <a:cs typeface="Arial"/>
              </a:rPr>
              <a:t>generation)</a:t>
            </a:r>
            <a:r>
              <a:rPr sz="1100" b="0" spc="60" dirty="0">
                <a:latin typeface="Arial"/>
                <a:cs typeface="Arial"/>
              </a:rPr>
              <a:t> </a:t>
            </a:r>
            <a:r>
              <a:rPr sz="1100" b="0" spc="5" dirty="0">
                <a:latin typeface="Arial"/>
                <a:cs typeface="Arial"/>
              </a:rPr>
              <a:t>and</a:t>
            </a:r>
            <a:r>
              <a:rPr sz="1100" b="0" spc="-50" dirty="0">
                <a:latin typeface="Arial"/>
                <a:cs typeface="Arial"/>
              </a:rPr>
              <a:t> </a:t>
            </a:r>
            <a:r>
              <a:rPr sz="1100" b="0" spc="20" dirty="0">
                <a:latin typeface="Arial"/>
                <a:cs typeface="Arial"/>
              </a:rPr>
              <a:t>outputs</a:t>
            </a:r>
            <a:r>
              <a:rPr sz="1100" b="0" spc="15" dirty="0">
                <a:latin typeface="Arial"/>
                <a:cs typeface="Arial"/>
              </a:rPr>
              <a:t> the</a:t>
            </a:r>
            <a:r>
              <a:rPr sz="1100" b="0" spc="-20" dirty="0">
                <a:latin typeface="Arial"/>
                <a:cs typeface="Arial"/>
              </a:rPr>
              <a:t> </a:t>
            </a:r>
            <a:r>
              <a:rPr sz="1100" b="0" spc="-5" dirty="0">
                <a:latin typeface="Arial"/>
                <a:cs typeface="Arial"/>
              </a:rPr>
              <a:t>final</a:t>
            </a:r>
            <a:r>
              <a:rPr sz="1100" b="0" spc="10" dirty="0">
                <a:latin typeface="Arial"/>
                <a:cs typeface="Arial"/>
              </a:rPr>
              <a:t> </a:t>
            </a:r>
            <a:r>
              <a:rPr sz="1100" b="0" spc="-25" dirty="0">
                <a:latin typeface="Arial"/>
                <a:cs typeface="Arial"/>
              </a:rPr>
              <a:t>analysis</a:t>
            </a:r>
            <a:r>
              <a:rPr sz="1100" b="0" spc="15" dirty="0">
                <a:latin typeface="Arial"/>
                <a:cs typeface="Arial"/>
              </a:rPr>
              <a:t> </a:t>
            </a:r>
            <a:r>
              <a:rPr sz="1100" b="0" spc="25" dirty="0">
                <a:latin typeface="Arial"/>
                <a:cs typeface="Arial"/>
              </a:rPr>
              <a:t>into</a:t>
            </a:r>
            <a:r>
              <a:rPr sz="1100" b="0" spc="-45" dirty="0">
                <a:latin typeface="Arial"/>
                <a:cs typeface="Arial"/>
              </a:rPr>
              <a:t> </a:t>
            </a:r>
            <a:r>
              <a:rPr sz="1100" b="0" spc="-65" dirty="0">
                <a:latin typeface="Arial"/>
                <a:cs typeface="Arial"/>
              </a:rPr>
              <a:t>a</a:t>
            </a:r>
            <a:r>
              <a:rPr sz="1100" b="0" dirty="0">
                <a:latin typeface="Arial"/>
                <a:cs typeface="Arial"/>
              </a:rPr>
              <a:t> </a:t>
            </a:r>
            <a:r>
              <a:rPr sz="1100" b="0" spc="-15" dirty="0">
                <a:latin typeface="Arial"/>
                <a:cs typeface="Arial"/>
              </a:rPr>
              <a:t>universally</a:t>
            </a:r>
            <a:r>
              <a:rPr sz="1100" b="0" spc="25" dirty="0">
                <a:latin typeface="Arial"/>
                <a:cs typeface="Arial"/>
              </a:rPr>
              <a:t> </a:t>
            </a:r>
            <a:r>
              <a:rPr sz="1100" b="0" spc="-10" dirty="0">
                <a:latin typeface="Arial"/>
                <a:cs typeface="Arial"/>
              </a:rPr>
              <a:t>familiar</a:t>
            </a:r>
            <a:r>
              <a:rPr sz="1100" b="0" spc="125" dirty="0">
                <a:latin typeface="Arial"/>
                <a:cs typeface="Arial"/>
              </a:rPr>
              <a:t> </a:t>
            </a:r>
            <a:r>
              <a:rPr sz="1100" b="0" spc="15" dirty="0">
                <a:latin typeface="Arial"/>
                <a:cs typeface="Arial"/>
              </a:rPr>
              <a:t>Microsoft</a:t>
            </a:r>
            <a:r>
              <a:rPr sz="1100" b="0" spc="75" dirty="0">
                <a:latin typeface="Arial"/>
                <a:cs typeface="Arial"/>
              </a:rPr>
              <a:t> </a:t>
            </a:r>
            <a:r>
              <a:rPr sz="1100" b="0" spc="-50" dirty="0">
                <a:latin typeface="Arial"/>
                <a:cs typeface="Arial"/>
              </a:rPr>
              <a:t>Excel </a:t>
            </a:r>
            <a:r>
              <a:rPr sz="1100" b="0" dirty="0">
                <a:latin typeface="Arial"/>
                <a:cs typeface="Arial"/>
              </a:rPr>
              <a:t>file.</a:t>
            </a:r>
            <a:endParaRPr sz="11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55612" y="304800"/>
            <a:ext cx="4925695" cy="7537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ct val="100000"/>
              </a:lnSpc>
            </a:pPr>
            <a:r>
              <a:rPr sz="2600" b="1" spc="55" dirty="0">
                <a:solidFill>
                  <a:srgbClr val="1C1A1C"/>
                </a:solidFill>
                <a:latin typeface="Arial"/>
                <a:cs typeface="Arial"/>
              </a:rPr>
              <a:t>II.</a:t>
            </a:r>
            <a:r>
              <a:rPr sz="2600" b="1" spc="-6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2600" b="1" spc="-130" dirty="0">
                <a:solidFill>
                  <a:srgbClr val="1C1A1C"/>
                </a:solidFill>
                <a:latin typeface="Arial"/>
                <a:cs typeface="Arial"/>
              </a:rPr>
              <a:t>L</a:t>
            </a:r>
            <a:r>
              <a:rPr sz="2600" b="1" spc="-204" dirty="0">
                <a:solidFill>
                  <a:srgbClr val="1C1A1C"/>
                </a:solidFill>
                <a:latin typeface="Arial"/>
                <a:cs typeface="Arial"/>
              </a:rPr>
              <a:t>i</a:t>
            </a:r>
            <a:r>
              <a:rPr sz="2600" b="1" spc="95" dirty="0">
                <a:solidFill>
                  <a:srgbClr val="1C1A1C"/>
                </a:solidFill>
                <a:latin typeface="Arial"/>
                <a:cs typeface="Arial"/>
              </a:rPr>
              <a:t>terature</a:t>
            </a:r>
            <a:r>
              <a:rPr sz="2600" b="1" spc="17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2600" b="1" spc="10" dirty="0">
                <a:solidFill>
                  <a:srgbClr val="1C1A1C"/>
                </a:solidFill>
                <a:latin typeface="Arial"/>
                <a:cs typeface="Arial"/>
              </a:rPr>
              <a:t>Survey</a:t>
            </a:r>
            <a:endParaRPr sz="26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915"/>
              </a:spcBef>
            </a:pPr>
            <a:r>
              <a:rPr sz="1000" spc="-95" dirty="0">
                <a:solidFill>
                  <a:srgbClr val="1C1A1C"/>
                </a:solidFill>
                <a:latin typeface="Arial"/>
                <a:cs typeface="Arial"/>
              </a:rPr>
              <a:t>A</a:t>
            </a:r>
            <a:r>
              <a:rPr sz="1000" spc="6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1C1A1C"/>
                </a:solidFill>
                <a:latin typeface="Arial"/>
                <a:cs typeface="Arial"/>
              </a:rPr>
              <a:t>survey</a:t>
            </a:r>
            <a:r>
              <a:rPr sz="1000" spc="5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000" spc="20" dirty="0">
                <a:solidFill>
                  <a:srgbClr val="1C1A1C"/>
                </a:solidFill>
                <a:latin typeface="Arial"/>
                <a:cs typeface="Arial"/>
              </a:rPr>
              <a:t>of</a:t>
            </a:r>
            <a:r>
              <a:rPr sz="1000" spc="5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000" spc="10" dirty="0">
                <a:solidFill>
                  <a:srgbClr val="1C1A1C"/>
                </a:solidFill>
                <a:latin typeface="Arial"/>
                <a:cs typeface="Arial"/>
              </a:rPr>
              <a:t>10</a:t>
            </a:r>
            <a:r>
              <a:rPr sz="1000" spc="-9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1C1A1C"/>
                </a:solidFill>
                <a:latin typeface="Arial"/>
                <a:cs typeface="Arial"/>
              </a:rPr>
              <a:t>existing</a:t>
            </a:r>
            <a:r>
              <a:rPr sz="1000" spc="6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1C1A1C"/>
                </a:solidFill>
                <a:latin typeface="Arial"/>
                <a:cs typeface="Arial"/>
              </a:rPr>
              <a:t>solutions</a:t>
            </a:r>
            <a:r>
              <a:rPr sz="1000" spc="5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1C1A1C"/>
                </a:solidFill>
                <a:latin typeface="Arial"/>
                <a:cs typeface="Arial"/>
              </a:rPr>
              <a:t>reveals</a:t>
            </a:r>
            <a:r>
              <a:rPr sz="1000" spc="-4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000" spc="20" dirty="0">
                <a:solidFill>
                  <a:srgbClr val="1C1A1C"/>
                </a:solidFill>
                <a:latin typeface="Arial"/>
                <a:cs typeface="Arial"/>
              </a:rPr>
              <a:t>the</a:t>
            </a:r>
            <a:r>
              <a:rPr sz="1000" spc="3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000" spc="5" dirty="0">
                <a:solidFill>
                  <a:srgbClr val="1C1A1C"/>
                </a:solidFill>
                <a:latin typeface="Arial"/>
                <a:cs typeface="Arial"/>
              </a:rPr>
              <a:t>specific</a:t>
            </a:r>
            <a:r>
              <a:rPr sz="1000" spc="5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000" spc="35" dirty="0">
                <a:solidFill>
                  <a:srgbClr val="1C1A1C"/>
                </a:solidFill>
                <a:latin typeface="Arial"/>
                <a:cs typeface="Arial"/>
              </a:rPr>
              <a:t>trade-offs</a:t>
            </a:r>
            <a:r>
              <a:rPr sz="1000" spc="5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000" spc="30" dirty="0">
                <a:solidFill>
                  <a:srgbClr val="1C1A1C"/>
                </a:solidFill>
                <a:latin typeface="Arial"/>
                <a:cs typeface="Arial"/>
              </a:rPr>
              <a:t>in</a:t>
            </a:r>
            <a:r>
              <a:rPr sz="1000" spc="-8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000" spc="20" dirty="0">
                <a:solidFill>
                  <a:srgbClr val="1C1A1C"/>
                </a:solidFill>
                <a:latin typeface="Arial"/>
                <a:cs typeface="Arial"/>
              </a:rPr>
              <a:t>the</a:t>
            </a:r>
            <a:r>
              <a:rPr sz="1000" spc="10" dirty="0">
                <a:solidFill>
                  <a:srgbClr val="1C1A1C"/>
                </a:solidFill>
                <a:latin typeface="Arial"/>
                <a:cs typeface="Arial"/>
              </a:rPr>
              <a:t> current</a:t>
            </a:r>
            <a:r>
              <a:rPr sz="1000" spc="9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1C1A1C"/>
                </a:solidFill>
                <a:latin typeface="Arial"/>
                <a:cs typeface="Arial"/>
              </a:rPr>
              <a:t>market.</a:t>
            </a:r>
            <a:endParaRPr sz="10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5612" y="1371600"/>
            <a:ext cx="5596255" cy="33855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50" b="1" spc="10" dirty="0">
                <a:solidFill>
                  <a:srgbClr val="1C1A1C"/>
                </a:solidFill>
                <a:latin typeface="Arial"/>
                <a:cs typeface="Arial"/>
              </a:rPr>
              <a:t>A.</a:t>
            </a:r>
            <a:r>
              <a:rPr sz="1150" b="1" spc="-1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b="1" spc="15" dirty="0">
                <a:solidFill>
                  <a:srgbClr val="1C1A1C"/>
                </a:solidFill>
                <a:latin typeface="Arial"/>
                <a:cs typeface="Arial"/>
              </a:rPr>
              <a:t>Cloud-Based</a:t>
            </a:r>
            <a:r>
              <a:rPr sz="1100" b="1" spc="6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1C1A1C"/>
                </a:solidFill>
                <a:latin typeface="Arial"/>
                <a:cs typeface="Arial"/>
              </a:rPr>
              <a:t>Subscr</a:t>
            </a:r>
            <a:r>
              <a:rPr sz="1100" b="1" spc="75" dirty="0">
                <a:solidFill>
                  <a:srgbClr val="1C1A1C"/>
                </a:solidFill>
                <a:latin typeface="Arial"/>
                <a:cs typeface="Arial"/>
              </a:rPr>
              <a:t>i</a:t>
            </a:r>
            <a:r>
              <a:rPr sz="1100" b="1" spc="30" dirty="0">
                <a:solidFill>
                  <a:srgbClr val="1C1A1C"/>
                </a:solidFill>
                <a:latin typeface="Arial"/>
                <a:cs typeface="Arial"/>
              </a:rPr>
              <a:t>ption</a:t>
            </a:r>
            <a:r>
              <a:rPr sz="1100" b="1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b="1" spc="15" dirty="0">
                <a:solidFill>
                  <a:srgbClr val="1C1A1C"/>
                </a:solidFill>
                <a:latin typeface="Arial"/>
                <a:cs typeface="Arial"/>
              </a:rPr>
              <a:t>Platforms</a:t>
            </a:r>
            <a:endParaRPr sz="1100" dirty="0">
              <a:latin typeface="Arial"/>
              <a:cs typeface="Arial"/>
            </a:endParaRPr>
          </a:p>
          <a:p>
            <a:pPr marL="244475">
              <a:lnSpc>
                <a:spcPct val="100000"/>
              </a:lnSpc>
              <a:spcBef>
                <a:spcPts val="530"/>
              </a:spcBef>
            </a:pPr>
            <a:r>
              <a:rPr sz="1100" b="1" spc="90" dirty="0">
                <a:solidFill>
                  <a:srgbClr val="1C1A1C"/>
                </a:solidFill>
                <a:latin typeface="Arial"/>
                <a:cs typeface="Arial"/>
              </a:rPr>
              <a:t>e  </a:t>
            </a:r>
            <a:r>
              <a:rPr sz="1100" b="1" spc="-18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1C1A1C"/>
                </a:solidFill>
                <a:latin typeface="Arial"/>
                <a:cs typeface="Arial"/>
              </a:rPr>
              <a:t>YNAB</a:t>
            </a:r>
            <a:r>
              <a:rPr sz="1100" b="1" spc="8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b="1" spc="-15" dirty="0">
                <a:solidFill>
                  <a:srgbClr val="1C1A1C"/>
                </a:solidFill>
                <a:latin typeface="Arial"/>
                <a:cs typeface="Arial"/>
              </a:rPr>
              <a:t>{You</a:t>
            </a:r>
            <a:r>
              <a:rPr sz="1100" b="1" spc="10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b="1" spc="30" dirty="0">
                <a:solidFill>
                  <a:srgbClr val="1C1A1C"/>
                </a:solidFill>
                <a:latin typeface="Arial"/>
                <a:cs typeface="Arial"/>
              </a:rPr>
              <a:t>Need</a:t>
            </a:r>
            <a:r>
              <a:rPr sz="1100" b="1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b="1" spc="-35" dirty="0">
                <a:solidFill>
                  <a:srgbClr val="1C1A1C"/>
                </a:solidFill>
                <a:latin typeface="Arial"/>
                <a:cs typeface="Arial"/>
              </a:rPr>
              <a:t>A</a:t>
            </a:r>
            <a:r>
              <a:rPr sz="1100" b="1" spc="114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b="1" spc="25" dirty="0">
                <a:solidFill>
                  <a:srgbClr val="1C1A1C"/>
                </a:solidFill>
                <a:latin typeface="Arial"/>
                <a:cs typeface="Arial"/>
              </a:rPr>
              <a:t>Budget</a:t>
            </a:r>
            <a:r>
              <a:rPr sz="1100" b="1" spc="15" dirty="0">
                <a:solidFill>
                  <a:srgbClr val="1C1A1C"/>
                </a:solidFill>
                <a:latin typeface="Arial"/>
                <a:cs typeface="Arial"/>
              </a:rPr>
              <a:t>)</a:t>
            </a:r>
            <a:endParaRPr sz="1100" dirty="0">
              <a:latin typeface="Arial"/>
              <a:cs typeface="Arial"/>
            </a:endParaRPr>
          </a:p>
          <a:p>
            <a:pPr marL="700405">
              <a:lnSpc>
                <a:spcPct val="100000"/>
              </a:lnSpc>
              <a:spcBef>
                <a:spcPts val="180"/>
              </a:spcBef>
            </a:pPr>
            <a:r>
              <a:rPr sz="1100" spc="325" dirty="0">
                <a:solidFill>
                  <a:srgbClr val="1C1A1C"/>
                </a:solidFill>
                <a:latin typeface="Arial"/>
                <a:cs typeface="Arial"/>
              </a:rPr>
              <a:t>0  </a:t>
            </a:r>
            <a:r>
              <a:rPr sz="1100" spc="13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1C1A1C"/>
                </a:solidFill>
                <a:latin typeface="Arial"/>
                <a:cs typeface="Arial"/>
              </a:rPr>
              <a:t>Pros:</a:t>
            </a:r>
            <a:r>
              <a:rPr sz="1100" b="1" spc="-1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-5" dirty="0">
                <a:solidFill>
                  <a:srgbClr val="1C1A1C"/>
                </a:solidFill>
                <a:latin typeface="Arial"/>
                <a:cs typeface="Arial"/>
              </a:rPr>
              <a:t>Excellent</a:t>
            </a:r>
            <a:r>
              <a:rPr sz="110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15" dirty="0">
                <a:solidFill>
                  <a:srgbClr val="1C1A1C"/>
                </a:solidFill>
                <a:latin typeface="Arial"/>
                <a:cs typeface="Arial"/>
              </a:rPr>
              <a:t>zero-based</a:t>
            </a:r>
            <a:r>
              <a:rPr sz="1100" spc="9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15" dirty="0">
                <a:solidFill>
                  <a:srgbClr val="1C1A1C"/>
                </a:solidFill>
                <a:latin typeface="Arial"/>
                <a:cs typeface="Arial"/>
              </a:rPr>
              <a:t>budgeting</a:t>
            </a:r>
            <a:r>
              <a:rPr sz="1100" spc="-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1C1A1C"/>
                </a:solidFill>
                <a:latin typeface="Arial"/>
                <a:cs typeface="Arial"/>
              </a:rPr>
              <a:t>system.</a:t>
            </a:r>
            <a:endParaRPr sz="1100" dirty="0">
              <a:latin typeface="Arial"/>
              <a:cs typeface="Arial"/>
            </a:endParaRPr>
          </a:p>
          <a:p>
            <a:pPr marL="700405">
              <a:lnSpc>
                <a:spcPct val="100000"/>
              </a:lnSpc>
              <a:spcBef>
                <a:spcPts val="229"/>
              </a:spcBef>
            </a:pPr>
            <a:r>
              <a:rPr sz="1100" spc="325" dirty="0">
                <a:solidFill>
                  <a:srgbClr val="1C1A1C"/>
                </a:solidFill>
                <a:latin typeface="Arial"/>
                <a:cs typeface="Arial"/>
              </a:rPr>
              <a:t>0  </a:t>
            </a:r>
            <a:r>
              <a:rPr sz="1100" spc="8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b="1" spc="10" dirty="0">
                <a:solidFill>
                  <a:srgbClr val="1C1A1C"/>
                </a:solidFill>
                <a:latin typeface="Arial"/>
                <a:cs typeface="Arial"/>
              </a:rPr>
              <a:t>Cons:</a:t>
            </a:r>
            <a:r>
              <a:rPr sz="1100" b="1" spc="4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1C1A1C"/>
                </a:solidFill>
                <a:latin typeface="Arial"/>
                <a:cs typeface="Arial"/>
              </a:rPr>
              <a:t>High</a:t>
            </a:r>
            <a:r>
              <a:rPr sz="1100" spc="-2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5" dirty="0">
                <a:solidFill>
                  <a:srgbClr val="1C1A1C"/>
                </a:solidFill>
                <a:latin typeface="Arial"/>
                <a:cs typeface="Arial"/>
              </a:rPr>
              <a:t>subscription</a:t>
            </a:r>
            <a:r>
              <a:rPr sz="1100" spc="8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10" dirty="0">
                <a:solidFill>
                  <a:srgbClr val="1C1A1C"/>
                </a:solidFill>
                <a:latin typeface="Arial"/>
                <a:cs typeface="Arial"/>
              </a:rPr>
              <a:t>cost</a:t>
            </a:r>
            <a:r>
              <a:rPr sz="1100" spc="6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C1A1C"/>
                </a:solidFill>
                <a:latin typeface="Arial"/>
                <a:cs typeface="Arial"/>
              </a:rPr>
              <a:t>($109/yr)</a:t>
            </a:r>
            <a:r>
              <a:rPr sz="1100" spc="6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C1A1C"/>
                </a:solidFill>
                <a:latin typeface="Arial"/>
                <a:cs typeface="Arial"/>
              </a:rPr>
              <a:t>and</a:t>
            </a:r>
            <a:r>
              <a:rPr sz="1100" spc="3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C1A1C"/>
                </a:solidFill>
                <a:latin typeface="Arial"/>
                <a:cs typeface="Arial"/>
              </a:rPr>
              <a:t>steep</a:t>
            </a:r>
            <a:r>
              <a:rPr sz="1100" spc="6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C1A1C"/>
                </a:solidFill>
                <a:latin typeface="Arial"/>
                <a:cs typeface="Arial"/>
              </a:rPr>
              <a:t>learning curve.</a:t>
            </a:r>
            <a:endParaRPr sz="1100" dirty="0">
              <a:latin typeface="Arial"/>
              <a:cs typeface="Arial"/>
            </a:endParaRPr>
          </a:p>
          <a:p>
            <a:pPr marL="479425" indent="-234950">
              <a:lnSpc>
                <a:spcPct val="100000"/>
              </a:lnSpc>
              <a:spcBef>
                <a:spcPts val="345"/>
              </a:spcBef>
              <a:buClr>
                <a:srgbClr val="1C1A1C"/>
              </a:buClr>
              <a:buFont typeface="Arial"/>
              <a:buChar char="•"/>
              <a:tabLst>
                <a:tab pos="480059" algn="l"/>
              </a:tabLst>
            </a:pPr>
            <a:r>
              <a:rPr sz="1100" b="1" spc="25" dirty="0">
                <a:solidFill>
                  <a:srgbClr val="1C1A1C"/>
                </a:solidFill>
                <a:latin typeface="Arial"/>
                <a:cs typeface="Arial"/>
              </a:rPr>
              <a:t>Monarch</a:t>
            </a:r>
            <a:r>
              <a:rPr sz="1100" b="1" spc="10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b="1" spc="30" dirty="0">
                <a:solidFill>
                  <a:srgbClr val="1C1A1C"/>
                </a:solidFill>
                <a:latin typeface="Arial"/>
                <a:cs typeface="Arial"/>
              </a:rPr>
              <a:t>Money</a:t>
            </a:r>
            <a:endParaRPr sz="1100" dirty="0">
              <a:latin typeface="Arial"/>
              <a:cs typeface="Arial"/>
            </a:endParaRPr>
          </a:p>
          <a:p>
            <a:pPr marL="700405">
              <a:lnSpc>
                <a:spcPct val="100000"/>
              </a:lnSpc>
              <a:spcBef>
                <a:spcPts val="195"/>
              </a:spcBef>
            </a:pPr>
            <a:r>
              <a:rPr sz="1100" spc="325" dirty="0">
                <a:solidFill>
                  <a:srgbClr val="1C1A1C"/>
                </a:solidFill>
                <a:latin typeface="Arial"/>
                <a:cs typeface="Arial"/>
              </a:rPr>
              <a:t>0  </a:t>
            </a:r>
            <a:r>
              <a:rPr sz="1100" spc="13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1C1A1C"/>
                </a:solidFill>
                <a:latin typeface="Arial"/>
                <a:cs typeface="Arial"/>
              </a:rPr>
              <a:t>Pros:</a:t>
            </a:r>
            <a:r>
              <a:rPr sz="1100" b="1" spc="-3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C1A1C"/>
                </a:solidFill>
                <a:latin typeface="Arial"/>
                <a:cs typeface="Arial"/>
              </a:rPr>
              <a:t>Comprehensive</a:t>
            </a:r>
            <a:r>
              <a:rPr sz="1100" spc="9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10" dirty="0">
                <a:solidFill>
                  <a:srgbClr val="1C1A1C"/>
                </a:solidFill>
                <a:latin typeface="Arial"/>
                <a:cs typeface="Arial"/>
              </a:rPr>
              <a:t>dashboard</a:t>
            </a:r>
            <a:r>
              <a:rPr sz="1100" spc="5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20" dirty="0">
                <a:solidFill>
                  <a:srgbClr val="1C1A1C"/>
                </a:solidFill>
                <a:latin typeface="Arial"/>
                <a:cs typeface="Arial"/>
              </a:rPr>
              <a:t>for</a:t>
            </a:r>
            <a:r>
              <a:rPr sz="1100" spc="8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5" dirty="0">
                <a:solidFill>
                  <a:srgbClr val="1C1A1C"/>
                </a:solidFill>
                <a:latin typeface="Arial"/>
                <a:cs typeface="Arial"/>
              </a:rPr>
              <a:t>net</a:t>
            </a:r>
            <a:r>
              <a:rPr sz="1100" spc="-1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15" dirty="0">
                <a:solidFill>
                  <a:srgbClr val="1C1A1C"/>
                </a:solidFill>
                <a:latin typeface="Arial"/>
                <a:cs typeface="Arial"/>
              </a:rPr>
              <a:t>worth</a:t>
            </a:r>
            <a:r>
              <a:rPr sz="1100" spc="4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5" dirty="0">
                <a:solidFill>
                  <a:srgbClr val="1C1A1C"/>
                </a:solidFill>
                <a:latin typeface="Arial"/>
                <a:cs typeface="Arial"/>
              </a:rPr>
              <a:t>and</a:t>
            </a:r>
            <a:r>
              <a:rPr sz="1100" spc="1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C1A1C"/>
                </a:solidFill>
                <a:latin typeface="Arial"/>
                <a:cs typeface="Arial"/>
              </a:rPr>
              <a:t>investments.</a:t>
            </a:r>
            <a:endParaRPr sz="1100" dirty="0">
              <a:latin typeface="Arial"/>
              <a:cs typeface="Arial"/>
            </a:endParaRPr>
          </a:p>
          <a:p>
            <a:pPr marL="700405">
              <a:lnSpc>
                <a:spcPct val="100000"/>
              </a:lnSpc>
              <a:spcBef>
                <a:spcPts val="250"/>
              </a:spcBef>
            </a:pPr>
            <a:r>
              <a:rPr sz="1100" spc="325" dirty="0">
                <a:solidFill>
                  <a:srgbClr val="1C1A1C"/>
                </a:solidFill>
                <a:latin typeface="Arial"/>
                <a:cs typeface="Arial"/>
              </a:rPr>
              <a:t>0  </a:t>
            </a:r>
            <a:r>
              <a:rPr sz="1100" spc="8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b="1" spc="10" dirty="0">
                <a:solidFill>
                  <a:srgbClr val="1C1A1C"/>
                </a:solidFill>
                <a:latin typeface="Arial"/>
                <a:cs typeface="Arial"/>
              </a:rPr>
              <a:t>Cons:</a:t>
            </a:r>
            <a:r>
              <a:rPr sz="1100" b="1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-20" dirty="0">
                <a:solidFill>
                  <a:srgbClr val="1C1A1C"/>
                </a:solidFill>
                <a:latin typeface="Arial"/>
                <a:cs typeface="Arial"/>
              </a:rPr>
              <a:t>Expensive</a:t>
            </a:r>
            <a:r>
              <a:rPr sz="1100" spc="2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5" dirty="0">
                <a:solidFill>
                  <a:srgbClr val="1C1A1C"/>
                </a:solidFill>
                <a:latin typeface="Arial"/>
                <a:cs typeface="Arial"/>
              </a:rPr>
              <a:t>(</a:t>
            </a:r>
            <a:r>
              <a:rPr sz="1100" dirty="0">
                <a:solidFill>
                  <a:srgbClr val="1C1A1C"/>
                </a:solidFill>
                <a:latin typeface="Arial"/>
                <a:cs typeface="Arial"/>
              </a:rPr>
              <a:t>$99/yr</a:t>
            </a:r>
            <a:r>
              <a:rPr sz="1100" spc="5" dirty="0">
                <a:solidFill>
                  <a:srgbClr val="1C1A1C"/>
                </a:solidFill>
                <a:latin typeface="Arial"/>
                <a:cs typeface="Arial"/>
              </a:rPr>
              <a:t>)</a:t>
            </a:r>
            <a:r>
              <a:rPr sz="1100" spc="8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C1A1C"/>
                </a:solidFill>
                <a:latin typeface="Arial"/>
                <a:cs typeface="Arial"/>
              </a:rPr>
              <a:t>and</a:t>
            </a:r>
            <a:r>
              <a:rPr sz="1100" spc="-1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C1A1C"/>
                </a:solidFill>
                <a:latin typeface="Arial"/>
                <a:cs typeface="Arial"/>
              </a:rPr>
              <a:t>fully</a:t>
            </a:r>
            <a:r>
              <a:rPr sz="1100" spc="6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15" dirty="0">
                <a:solidFill>
                  <a:srgbClr val="1C1A1C"/>
                </a:solidFill>
                <a:latin typeface="Arial"/>
                <a:cs typeface="Arial"/>
              </a:rPr>
              <a:t>cloud-dependent.</a:t>
            </a:r>
            <a:endParaRPr sz="1100" dirty="0">
              <a:latin typeface="Arial"/>
              <a:cs typeface="Arial"/>
            </a:endParaRPr>
          </a:p>
          <a:p>
            <a:pPr marL="473709" indent="-229235">
              <a:lnSpc>
                <a:spcPct val="100000"/>
              </a:lnSpc>
              <a:spcBef>
                <a:spcPts val="325"/>
              </a:spcBef>
              <a:buClr>
                <a:srgbClr val="1C1A1C"/>
              </a:buClr>
              <a:buFont typeface="Arial"/>
              <a:buChar char="•"/>
              <a:tabLst>
                <a:tab pos="474345" algn="l"/>
              </a:tabLst>
            </a:pPr>
            <a:r>
              <a:rPr sz="1100" b="1" spc="25" dirty="0">
                <a:solidFill>
                  <a:srgbClr val="1C1A1C"/>
                </a:solidFill>
                <a:latin typeface="Arial"/>
                <a:cs typeface="Arial"/>
              </a:rPr>
              <a:t>Quicken</a:t>
            </a:r>
            <a:r>
              <a:rPr sz="1100" b="1" spc="3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b="1" spc="10" dirty="0">
                <a:solidFill>
                  <a:srgbClr val="1C1A1C"/>
                </a:solidFill>
                <a:latin typeface="Arial"/>
                <a:cs typeface="Arial"/>
              </a:rPr>
              <a:t>Simplifi</a:t>
            </a:r>
            <a:endParaRPr sz="1100" dirty="0">
              <a:latin typeface="Arial"/>
              <a:cs typeface="Arial"/>
            </a:endParaRPr>
          </a:p>
          <a:p>
            <a:pPr marL="700405">
              <a:lnSpc>
                <a:spcPct val="100000"/>
              </a:lnSpc>
              <a:spcBef>
                <a:spcPts val="195"/>
              </a:spcBef>
            </a:pPr>
            <a:r>
              <a:rPr sz="1100" spc="325" dirty="0">
                <a:solidFill>
                  <a:srgbClr val="1C1A1C"/>
                </a:solidFill>
                <a:latin typeface="Arial"/>
                <a:cs typeface="Arial"/>
              </a:rPr>
              <a:t>0  </a:t>
            </a:r>
            <a:r>
              <a:rPr sz="1100" spc="13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1C1A1C"/>
                </a:solidFill>
                <a:latin typeface="Arial"/>
                <a:cs typeface="Arial"/>
              </a:rPr>
              <a:t>Pros:</a:t>
            </a:r>
            <a:r>
              <a:rPr sz="1100" b="1" spc="-1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10" dirty="0">
                <a:solidFill>
                  <a:srgbClr val="1C1A1C"/>
                </a:solidFill>
                <a:latin typeface="Arial"/>
                <a:cs typeface="Arial"/>
              </a:rPr>
              <a:t>User-friendly</a:t>
            </a:r>
            <a:r>
              <a:rPr sz="1100" spc="3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20" dirty="0">
                <a:solidFill>
                  <a:srgbClr val="1C1A1C"/>
                </a:solidFill>
                <a:latin typeface="Arial"/>
                <a:cs typeface="Arial"/>
              </a:rPr>
              <a:t>interface</a:t>
            </a:r>
            <a:r>
              <a:rPr sz="1100" spc="-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5" dirty="0">
                <a:solidFill>
                  <a:srgbClr val="1C1A1C"/>
                </a:solidFill>
                <a:latin typeface="Arial"/>
                <a:cs typeface="Arial"/>
              </a:rPr>
              <a:t>and</a:t>
            </a:r>
            <a:r>
              <a:rPr sz="1100" spc="-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20" dirty="0">
                <a:solidFill>
                  <a:srgbClr val="1C1A1C"/>
                </a:solidFill>
                <a:latin typeface="Arial"/>
                <a:cs typeface="Arial"/>
              </a:rPr>
              <a:t>good</a:t>
            </a:r>
            <a:r>
              <a:rPr sz="1100" spc="5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15" dirty="0">
                <a:solidFill>
                  <a:srgbClr val="1C1A1C"/>
                </a:solidFill>
                <a:latin typeface="Arial"/>
                <a:cs typeface="Arial"/>
              </a:rPr>
              <a:t>reporting.</a:t>
            </a:r>
            <a:endParaRPr sz="1100" dirty="0">
              <a:latin typeface="Arial"/>
              <a:cs typeface="Arial"/>
            </a:endParaRPr>
          </a:p>
          <a:p>
            <a:pPr marL="700405">
              <a:lnSpc>
                <a:spcPct val="100000"/>
              </a:lnSpc>
              <a:spcBef>
                <a:spcPts val="250"/>
              </a:spcBef>
            </a:pPr>
            <a:r>
              <a:rPr sz="1100" spc="325" dirty="0">
                <a:solidFill>
                  <a:srgbClr val="1C1A1C"/>
                </a:solidFill>
                <a:latin typeface="Arial"/>
                <a:cs typeface="Arial"/>
              </a:rPr>
              <a:t>0  </a:t>
            </a:r>
            <a:r>
              <a:rPr sz="1100" spc="8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b="1" spc="10" dirty="0">
                <a:solidFill>
                  <a:srgbClr val="1C1A1C"/>
                </a:solidFill>
                <a:latin typeface="Arial"/>
                <a:cs typeface="Arial"/>
              </a:rPr>
              <a:t>Cons:</a:t>
            </a:r>
            <a:r>
              <a:rPr sz="1100" b="1" spc="4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-15" dirty="0">
                <a:solidFill>
                  <a:srgbClr val="1C1A1C"/>
                </a:solidFill>
                <a:latin typeface="Arial"/>
                <a:cs typeface="Arial"/>
              </a:rPr>
              <a:t>Requires</a:t>
            </a:r>
            <a:r>
              <a:rPr sz="1100" spc="4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15" dirty="0">
                <a:solidFill>
                  <a:srgbClr val="1C1A1C"/>
                </a:solidFill>
                <a:latin typeface="Arial"/>
                <a:cs typeface="Arial"/>
              </a:rPr>
              <a:t>recurring</a:t>
            </a:r>
            <a:r>
              <a:rPr sz="110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5" dirty="0">
                <a:solidFill>
                  <a:srgbClr val="1C1A1C"/>
                </a:solidFill>
                <a:latin typeface="Arial"/>
                <a:cs typeface="Arial"/>
              </a:rPr>
              <a:t>subscription;</a:t>
            </a:r>
            <a:r>
              <a:rPr sz="1100" spc="6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1C1A1C"/>
                </a:solidFill>
                <a:latin typeface="Arial"/>
                <a:cs typeface="Arial"/>
              </a:rPr>
              <a:t>less</a:t>
            </a:r>
            <a:r>
              <a:rPr sz="1100" spc="-2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10" dirty="0">
                <a:solidFill>
                  <a:srgbClr val="1C1A1C"/>
                </a:solidFill>
                <a:latin typeface="Arial"/>
                <a:cs typeface="Arial"/>
              </a:rPr>
              <a:t>powerful</a:t>
            </a:r>
            <a:r>
              <a:rPr sz="1100" spc="2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15" dirty="0">
                <a:solidFill>
                  <a:srgbClr val="1C1A1C"/>
                </a:solidFill>
                <a:latin typeface="Arial"/>
                <a:cs typeface="Arial"/>
              </a:rPr>
              <a:t>than</a:t>
            </a:r>
            <a:r>
              <a:rPr sz="1100" spc="1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5" dirty="0">
                <a:solidFill>
                  <a:srgbClr val="1C1A1C"/>
                </a:solidFill>
                <a:latin typeface="Arial"/>
                <a:cs typeface="Arial"/>
              </a:rPr>
              <a:t>desktop</a:t>
            </a:r>
            <a:r>
              <a:rPr sz="1100" spc="9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C1A1C"/>
                </a:solidFill>
                <a:latin typeface="Arial"/>
                <a:cs typeface="Arial"/>
              </a:rPr>
              <a:t>predecessors.</a:t>
            </a:r>
            <a:endParaRPr sz="1100" dirty="0">
              <a:latin typeface="Arial"/>
              <a:cs typeface="Arial"/>
            </a:endParaRPr>
          </a:p>
          <a:p>
            <a:pPr marL="473709" indent="-229235">
              <a:lnSpc>
                <a:spcPct val="100000"/>
              </a:lnSpc>
              <a:spcBef>
                <a:spcPts val="345"/>
              </a:spcBef>
              <a:buClr>
                <a:srgbClr val="1C1A1C"/>
              </a:buClr>
              <a:buFont typeface="Arial"/>
              <a:buChar char="•"/>
              <a:tabLst>
                <a:tab pos="474345" algn="l"/>
              </a:tabLst>
            </a:pPr>
            <a:r>
              <a:rPr sz="1100" b="1" spc="20" dirty="0">
                <a:solidFill>
                  <a:srgbClr val="1C1A1C"/>
                </a:solidFill>
                <a:latin typeface="Arial"/>
                <a:cs typeface="Arial"/>
              </a:rPr>
              <a:t>Copilot</a:t>
            </a:r>
            <a:r>
              <a:rPr sz="1100" b="1" spc="12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b="1" spc="30" dirty="0">
                <a:solidFill>
                  <a:srgbClr val="1C1A1C"/>
                </a:solidFill>
                <a:latin typeface="Arial"/>
                <a:cs typeface="Arial"/>
              </a:rPr>
              <a:t>Money</a:t>
            </a:r>
            <a:endParaRPr sz="1100" dirty="0">
              <a:latin typeface="Arial"/>
              <a:cs typeface="Arial"/>
            </a:endParaRPr>
          </a:p>
          <a:p>
            <a:pPr marL="700405">
              <a:lnSpc>
                <a:spcPct val="100000"/>
              </a:lnSpc>
              <a:spcBef>
                <a:spcPts val="195"/>
              </a:spcBef>
            </a:pPr>
            <a:r>
              <a:rPr sz="1100" spc="325" dirty="0">
                <a:solidFill>
                  <a:srgbClr val="1C1A1C"/>
                </a:solidFill>
                <a:latin typeface="Arial"/>
                <a:cs typeface="Arial"/>
              </a:rPr>
              <a:t>0  </a:t>
            </a:r>
            <a:r>
              <a:rPr sz="1100" spc="13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1C1A1C"/>
                </a:solidFill>
                <a:latin typeface="Arial"/>
                <a:cs typeface="Arial"/>
              </a:rPr>
              <a:t>Pros:</a:t>
            </a:r>
            <a:r>
              <a:rPr sz="1100" b="1" spc="-1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-20" dirty="0">
                <a:solidFill>
                  <a:srgbClr val="1C1A1C"/>
                </a:solidFill>
                <a:latin typeface="Arial"/>
                <a:cs typeface="Arial"/>
              </a:rPr>
              <a:t>Uses</a:t>
            </a:r>
            <a:r>
              <a:rPr sz="1100" spc="-2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5" dirty="0">
                <a:solidFill>
                  <a:srgbClr val="1C1A1C"/>
                </a:solidFill>
                <a:latin typeface="Arial"/>
                <a:cs typeface="Arial"/>
              </a:rPr>
              <a:t>Machine</a:t>
            </a:r>
            <a:r>
              <a:rPr sz="1100" spc="2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C1A1C"/>
                </a:solidFill>
                <a:latin typeface="Arial"/>
                <a:cs typeface="Arial"/>
              </a:rPr>
              <a:t>Learning</a:t>
            </a:r>
            <a:r>
              <a:rPr sz="1100" spc="-2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20" dirty="0">
                <a:solidFill>
                  <a:srgbClr val="1C1A1C"/>
                </a:solidFill>
                <a:latin typeface="Arial"/>
                <a:cs typeface="Arial"/>
              </a:rPr>
              <a:t>for</a:t>
            </a:r>
            <a:r>
              <a:rPr sz="1100" spc="5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15" dirty="0">
                <a:solidFill>
                  <a:srgbClr val="1C1A1C"/>
                </a:solidFill>
                <a:latin typeface="Arial"/>
                <a:cs typeface="Arial"/>
              </a:rPr>
              <a:t>auto-categorization;</a:t>
            </a:r>
            <a:r>
              <a:rPr sz="1100" spc="8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C1A1C"/>
                </a:solidFill>
                <a:latin typeface="Arial"/>
                <a:cs typeface="Arial"/>
              </a:rPr>
              <a:t>excellent</a:t>
            </a:r>
            <a:r>
              <a:rPr sz="1100" spc="9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-35" dirty="0">
                <a:solidFill>
                  <a:srgbClr val="1C1A1C"/>
                </a:solidFill>
                <a:latin typeface="Arial"/>
                <a:cs typeface="Arial"/>
              </a:rPr>
              <a:t>UI.</a:t>
            </a:r>
            <a:endParaRPr sz="1100" dirty="0">
              <a:latin typeface="Arial"/>
              <a:cs typeface="Arial"/>
            </a:endParaRPr>
          </a:p>
          <a:p>
            <a:pPr marL="700405">
              <a:lnSpc>
                <a:spcPct val="100000"/>
              </a:lnSpc>
              <a:spcBef>
                <a:spcPts val="229"/>
              </a:spcBef>
            </a:pPr>
            <a:r>
              <a:rPr sz="1100" spc="325" dirty="0">
                <a:solidFill>
                  <a:srgbClr val="1C1A1C"/>
                </a:solidFill>
                <a:latin typeface="Arial"/>
                <a:cs typeface="Arial"/>
              </a:rPr>
              <a:t>0  </a:t>
            </a:r>
            <a:r>
              <a:rPr sz="1100" spc="8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b="1" spc="10" dirty="0">
                <a:solidFill>
                  <a:srgbClr val="1C1A1C"/>
                </a:solidFill>
                <a:latin typeface="Arial"/>
                <a:cs typeface="Arial"/>
              </a:rPr>
              <a:t>Cons:</a:t>
            </a:r>
            <a:r>
              <a:rPr sz="1100" b="1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-20" dirty="0">
                <a:solidFill>
                  <a:srgbClr val="1C1A1C"/>
                </a:solidFill>
                <a:latin typeface="Arial"/>
                <a:cs typeface="Arial"/>
              </a:rPr>
              <a:t>Exclusive</a:t>
            </a:r>
            <a:r>
              <a:rPr sz="1100" spc="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40" dirty="0">
                <a:solidFill>
                  <a:srgbClr val="1C1A1C"/>
                </a:solidFill>
                <a:latin typeface="Arial"/>
                <a:cs typeface="Arial"/>
              </a:rPr>
              <a:t>to</a:t>
            </a:r>
            <a:r>
              <a:rPr sz="1100" spc="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1C1A1C"/>
                </a:solidFill>
                <a:latin typeface="Arial"/>
                <a:cs typeface="Arial"/>
              </a:rPr>
              <a:t>Apple</a:t>
            </a:r>
            <a:r>
              <a:rPr sz="1100" spc="7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1C1A1C"/>
                </a:solidFill>
                <a:latin typeface="Arial"/>
                <a:cs typeface="Arial"/>
              </a:rPr>
              <a:t>(</a:t>
            </a:r>
            <a:r>
              <a:rPr sz="1100" spc="-20" dirty="0">
                <a:solidFill>
                  <a:srgbClr val="1C1A1C"/>
                </a:solidFill>
                <a:latin typeface="Arial"/>
                <a:cs typeface="Arial"/>
              </a:rPr>
              <a:t>iOS/Mac</a:t>
            </a:r>
            <a:r>
              <a:rPr sz="1100" spc="-10" dirty="0">
                <a:solidFill>
                  <a:srgbClr val="1C1A1C"/>
                </a:solidFill>
                <a:latin typeface="Arial"/>
                <a:cs typeface="Arial"/>
              </a:rPr>
              <a:t>)</a:t>
            </a:r>
            <a:r>
              <a:rPr sz="1100" spc="9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C1A1C"/>
                </a:solidFill>
                <a:latin typeface="Arial"/>
                <a:cs typeface="Arial"/>
              </a:rPr>
              <a:t>ecosystem</a:t>
            </a:r>
            <a:r>
              <a:rPr sz="1100" spc="7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C1A1C"/>
                </a:solidFill>
                <a:latin typeface="Arial"/>
                <a:cs typeface="Arial"/>
              </a:rPr>
              <a:t>and</a:t>
            </a:r>
            <a:r>
              <a:rPr sz="1100" spc="5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-70" dirty="0">
                <a:solidFill>
                  <a:srgbClr val="1C1A1C"/>
                </a:solidFill>
                <a:latin typeface="Arial"/>
                <a:cs typeface="Arial"/>
              </a:rPr>
              <a:t>US</a:t>
            </a:r>
            <a:r>
              <a:rPr sz="1100" spc="-2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1C1A1C"/>
                </a:solidFill>
                <a:latin typeface="Arial"/>
                <a:cs typeface="Arial"/>
              </a:rPr>
              <a:t>banks.</a:t>
            </a:r>
            <a:endParaRPr sz="1100" dirty="0">
              <a:latin typeface="Arial"/>
              <a:cs typeface="Arial"/>
            </a:endParaRPr>
          </a:p>
          <a:p>
            <a:pPr marL="479425" indent="-234950">
              <a:lnSpc>
                <a:spcPct val="100000"/>
              </a:lnSpc>
              <a:spcBef>
                <a:spcPts val="345"/>
              </a:spcBef>
              <a:buClr>
                <a:srgbClr val="1C1A1C"/>
              </a:buClr>
              <a:buFont typeface="Arial"/>
              <a:buChar char="•"/>
              <a:tabLst>
                <a:tab pos="480059" algn="l"/>
              </a:tabLst>
            </a:pPr>
            <a:r>
              <a:rPr sz="1100" b="1" spc="15" dirty="0">
                <a:solidFill>
                  <a:srgbClr val="1C1A1C"/>
                </a:solidFill>
                <a:latin typeface="Arial"/>
                <a:cs typeface="Arial"/>
              </a:rPr>
              <a:t>Rocket</a:t>
            </a:r>
            <a:r>
              <a:rPr sz="1100" b="1" spc="9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b="1" spc="30" dirty="0">
                <a:solidFill>
                  <a:srgbClr val="1C1A1C"/>
                </a:solidFill>
                <a:latin typeface="Arial"/>
                <a:cs typeface="Arial"/>
              </a:rPr>
              <a:t>Money</a:t>
            </a:r>
            <a:endParaRPr sz="1100" dirty="0">
              <a:latin typeface="Arial"/>
              <a:cs typeface="Arial"/>
            </a:endParaRPr>
          </a:p>
          <a:p>
            <a:pPr marL="700405">
              <a:lnSpc>
                <a:spcPct val="100000"/>
              </a:lnSpc>
              <a:spcBef>
                <a:spcPts val="195"/>
              </a:spcBef>
            </a:pPr>
            <a:r>
              <a:rPr sz="1100" spc="325" dirty="0">
                <a:solidFill>
                  <a:srgbClr val="1C1A1C"/>
                </a:solidFill>
                <a:latin typeface="Arial"/>
                <a:cs typeface="Arial"/>
              </a:rPr>
              <a:t>0  </a:t>
            </a:r>
            <a:r>
              <a:rPr sz="1100" spc="13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1C1A1C"/>
                </a:solidFill>
                <a:latin typeface="Arial"/>
                <a:cs typeface="Arial"/>
              </a:rPr>
              <a:t>Pros:</a:t>
            </a:r>
            <a:r>
              <a:rPr sz="1100" b="1" spc="-3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1C1A1C"/>
                </a:solidFill>
                <a:latin typeface="Arial"/>
                <a:cs typeface="Arial"/>
              </a:rPr>
              <a:t>Specializes</a:t>
            </a:r>
            <a:r>
              <a:rPr sz="1100" spc="2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15" dirty="0">
                <a:solidFill>
                  <a:srgbClr val="1C1A1C"/>
                </a:solidFill>
                <a:latin typeface="Arial"/>
                <a:cs typeface="Arial"/>
              </a:rPr>
              <a:t>in</a:t>
            </a:r>
            <a:r>
              <a:rPr sz="1100" spc="-5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15" dirty="0">
                <a:solidFill>
                  <a:srgbClr val="1C1A1C"/>
                </a:solidFill>
                <a:latin typeface="Arial"/>
                <a:cs typeface="Arial"/>
              </a:rPr>
              <a:t>identifying</a:t>
            </a:r>
            <a:r>
              <a:rPr sz="1100" spc="6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C1A1C"/>
                </a:solidFill>
                <a:latin typeface="Arial"/>
                <a:cs typeface="Arial"/>
              </a:rPr>
              <a:t>and</a:t>
            </a:r>
            <a:r>
              <a:rPr sz="1100" spc="1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5" dirty="0">
                <a:solidFill>
                  <a:srgbClr val="1C1A1C"/>
                </a:solidFill>
                <a:latin typeface="Arial"/>
                <a:cs typeface="Arial"/>
              </a:rPr>
              <a:t>cancelling</a:t>
            </a:r>
            <a:r>
              <a:rPr sz="1100" spc="3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C1A1C"/>
                </a:solidFill>
                <a:latin typeface="Arial"/>
                <a:cs typeface="Arial"/>
              </a:rPr>
              <a:t>subscriptions.</a:t>
            </a:r>
            <a:endParaRPr sz="1100" dirty="0">
              <a:latin typeface="Arial"/>
              <a:cs typeface="Arial"/>
            </a:endParaRPr>
          </a:p>
          <a:p>
            <a:pPr marL="700405">
              <a:lnSpc>
                <a:spcPct val="100000"/>
              </a:lnSpc>
              <a:spcBef>
                <a:spcPts val="229"/>
              </a:spcBef>
            </a:pPr>
            <a:r>
              <a:rPr sz="1100" spc="325" dirty="0">
                <a:solidFill>
                  <a:srgbClr val="1C1A1C"/>
                </a:solidFill>
                <a:latin typeface="Arial"/>
                <a:cs typeface="Arial"/>
              </a:rPr>
              <a:t>0  </a:t>
            </a:r>
            <a:r>
              <a:rPr sz="1100" spc="8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b="1" spc="10" dirty="0">
                <a:solidFill>
                  <a:srgbClr val="1C1A1C"/>
                </a:solidFill>
                <a:latin typeface="Arial"/>
                <a:cs typeface="Arial"/>
              </a:rPr>
              <a:t>Cons:</a:t>
            </a:r>
            <a:r>
              <a:rPr sz="1100" b="1" spc="4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-20" dirty="0">
                <a:solidFill>
                  <a:srgbClr val="1C1A1C"/>
                </a:solidFill>
                <a:latin typeface="Arial"/>
                <a:cs typeface="Arial"/>
              </a:rPr>
              <a:t>Privacy</a:t>
            </a:r>
            <a:r>
              <a:rPr sz="1100" spc="4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10" dirty="0">
                <a:solidFill>
                  <a:srgbClr val="1C1A1C"/>
                </a:solidFill>
                <a:latin typeface="Arial"/>
                <a:cs typeface="Arial"/>
              </a:rPr>
              <a:t>concerns</a:t>
            </a:r>
            <a:r>
              <a:rPr sz="1100" spc="5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10" dirty="0">
                <a:solidFill>
                  <a:srgbClr val="1C1A1C"/>
                </a:solidFill>
                <a:latin typeface="Arial"/>
                <a:cs typeface="Arial"/>
              </a:rPr>
              <a:t>regarding</a:t>
            </a:r>
            <a:r>
              <a:rPr sz="1100" spc="1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5" dirty="0">
                <a:solidFill>
                  <a:srgbClr val="1C1A1C"/>
                </a:solidFill>
                <a:latin typeface="Arial"/>
                <a:cs typeface="Arial"/>
              </a:rPr>
              <a:t>data</a:t>
            </a:r>
            <a:r>
              <a:rPr sz="1100" spc="3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C1A1C"/>
                </a:solidFill>
                <a:latin typeface="Arial"/>
                <a:cs typeface="Arial"/>
              </a:rPr>
              <a:t>access</a:t>
            </a:r>
            <a:r>
              <a:rPr sz="1100" spc="4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-5" dirty="0">
                <a:solidFill>
                  <a:srgbClr val="1C1A1C"/>
                </a:solidFill>
                <a:latin typeface="Arial"/>
                <a:cs typeface="Arial"/>
              </a:rPr>
              <a:t>permissions.</a:t>
            </a:r>
            <a:endParaRPr sz="11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268403" y="838200"/>
            <a:ext cx="5464810" cy="18056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8595" indent="-175895">
              <a:lnSpc>
                <a:spcPct val="100000"/>
              </a:lnSpc>
              <a:buClr>
                <a:srgbClr val="1C1A1C"/>
              </a:buClr>
              <a:buFont typeface="Arial"/>
              <a:buAutoNum type="alphaUcPeriod" startAt="2"/>
              <a:tabLst>
                <a:tab pos="189230" algn="l"/>
              </a:tabLst>
            </a:pPr>
            <a:r>
              <a:rPr sz="1100" b="1" spc="25" dirty="0">
                <a:solidFill>
                  <a:srgbClr val="1C1A1C"/>
                </a:solidFill>
                <a:latin typeface="Arial"/>
                <a:cs typeface="Arial"/>
              </a:rPr>
              <a:t>Freem</a:t>
            </a:r>
            <a:r>
              <a:rPr sz="1100" b="1" spc="15" dirty="0">
                <a:solidFill>
                  <a:srgbClr val="1C1A1C"/>
                </a:solidFill>
                <a:latin typeface="Arial"/>
                <a:cs typeface="Arial"/>
              </a:rPr>
              <a:t>i</a:t>
            </a:r>
            <a:r>
              <a:rPr sz="1100" b="1" spc="30" dirty="0">
                <a:solidFill>
                  <a:srgbClr val="1C1A1C"/>
                </a:solidFill>
                <a:latin typeface="Arial"/>
                <a:cs typeface="Arial"/>
              </a:rPr>
              <a:t>um</a:t>
            </a:r>
            <a:r>
              <a:rPr sz="1100" b="1" spc="-6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b="1" spc="15" dirty="0">
                <a:solidFill>
                  <a:srgbClr val="1C1A1C"/>
                </a:solidFill>
                <a:latin typeface="Arial"/>
                <a:cs typeface="Arial"/>
              </a:rPr>
              <a:t>Cloud</a:t>
            </a:r>
            <a:r>
              <a:rPr sz="1100" b="1" spc="-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b="1" spc="5" dirty="0">
                <a:solidFill>
                  <a:srgbClr val="1C1A1C"/>
                </a:solidFill>
                <a:latin typeface="Arial"/>
                <a:cs typeface="Arial"/>
              </a:rPr>
              <a:t>Services</a:t>
            </a:r>
            <a:endParaRPr sz="1100" dirty="0">
              <a:latin typeface="Arial"/>
              <a:cs typeface="Arial"/>
            </a:endParaRPr>
          </a:p>
          <a:p>
            <a:pPr marL="471170" lvl="1" indent="-234950">
              <a:lnSpc>
                <a:spcPct val="100000"/>
              </a:lnSpc>
              <a:spcBef>
                <a:spcPts val="975"/>
              </a:spcBef>
              <a:buClr>
                <a:srgbClr val="1C1A1C"/>
              </a:buClr>
              <a:buFont typeface="Arial"/>
              <a:buChar char="•"/>
              <a:tabLst>
                <a:tab pos="471805" algn="l"/>
              </a:tabLst>
            </a:pPr>
            <a:r>
              <a:rPr sz="1100" b="1" spc="10" dirty="0">
                <a:solidFill>
                  <a:srgbClr val="1C1A1C"/>
                </a:solidFill>
                <a:latin typeface="Arial"/>
                <a:cs typeface="Arial"/>
              </a:rPr>
              <a:t>Empower</a:t>
            </a:r>
            <a:r>
              <a:rPr sz="1100" b="1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b="1" spc="-13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b="1" spc="10" dirty="0">
                <a:solidFill>
                  <a:srgbClr val="1C1A1C"/>
                </a:solidFill>
                <a:latin typeface="Arial"/>
                <a:cs typeface="Arial"/>
              </a:rPr>
              <a:t>Personal</a:t>
            </a:r>
            <a:r>
              <a:rPr sz="1100" b="1" spc="12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b="1" spc="25" dirty="0">
                <a:solidFill>
                  <a:srgbClr val="1C1A1C"/>
                </a:solidFill>
                <a:latin typeface="Arial"/>
                <a:cs typeface="Arial"/>
              </a:rPr>
              <a:t>Dashboard</a:t>
            </a:r>
            <a:endParaRPr sz="1100" dirty="0">
              <a:latin typeface="Arial"/>
              <a:cs typeface="Arial"/>
            </a:endParaRPr>
          </a:p>
          <a:p>
            <a:pPr marL="692150">
              <a:lnSpc>
                <a:spcPct val="100000"/>
              </a:lnSpc>
              <a:spcBef>
                <a:spcPts val="219"/>
              </a:spcBef>
            </a:pPr>
            <a:r>
              <a:rPr sz="1100" spc="325" dirty="0">
                <a:solidFill>
                  <a:srgbClr val="1C1A1C"/>
                </a:solidFill>
                <a:latin typeface="Arial"/>
                <a:cs typeface="Arial"/>
              </a:rPr>
              <a:t>0  </a:t>
            </a:r>
            <a:r>
              <a:rPr sz="1100" spc="13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1C1A1C"/>
                </a:solidFill>
                <a:latin typeface="Arial"/>
                <a:cs typeface="Arial"/>
              </a:rPr>
              <a:t>Pros:</a:t>
            </a:r>
            <a:r>
              <a:rPr sz="1100" b="1" spc="-1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10" dirty="0">
                <a:solidFill>
                  <a:srgbClr val="1C1A1C"/>
                </a:solidFill>
                <a:latin typeface="Arial"/>
                <a:cs typeface="Arial"/>
              </a:rPr>
              <a:t>Best-in-class</a:t>
            </a:r>
            <a:r>
              <a:rPr sz="1100" spc="2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20" dirty="0">
                <a:solidFill>
                  <a:srgbClr val="1C1A1C"/>
                </a:solidFill>
                <a:latin typeface="Arial"/>
                <a:cs typeface="Arial"/>
              </a:rPr>
              <a:t>for</a:t>
            </a:r>
            <a:r>
              <a:rPr sz="1100" spc="5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C1A1C"/>
                </a:solidFill>
                <a:latin typeface="Arial"/>
                <a:cs typeface="Arial"/>
              </a:rPr>
              <a:t>investment</a:t>
            </a:r>
            <a:r>
              <a:rPr sz="1100" spc="5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5" dirty="0">
                <a:solidFill>
                  <a:srgbClr val="1C1A1C"/>
                </a:solidFill>
                <a:latin typeface="Arial"/>
                <a:cs typeface="Arial"/>
              </a:rPr>
              <a:t>and</a:t>
            </a:r>
            <a:r>
              <a:rPr sz="1100" spc="4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5" dirty="0">
                <a:solidFill>
                  <a:srgbClr val="1C1A1C"/>
                </a:solidFill>
                <a:latin typeface="Arial"/>
                <a:cs typeface="Arial"/>
              </a:rPr>
              <a:t>net</a:t>
            </a:r>
            <a:r>
              <a:rPr sz="1100" spc="-4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15" dirty="0">
                <a:solidFill>
                  <a:srgbClr val="1C1A1C"/>
                </a:solidFill>
                <a:latin typeface="Arial"/>
                <a:cs typeface="Arial"/>
              </a:rPr>
              <a:t>worth</a:t>
            </a:r>
            <a:r>
              <a:rPr sz="1100" spc="4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5" dirty="0">
                <a:solidFill>
                  <a:srgbClr val="1C1A1C"/>
                </a:solidFill>
                <a:latin typeface="Arial"/>
                <a:cs typeface="Arial"/>
              </a:rPr>
              <a:t>tracking</a:t>
            </a:r>
            <a:r>
              <a:rPr sz="1100" spc="10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10" dirty="0">
                <a:solidFill>
                  <a:srgbClr val="1C1A1C"/>
                </a:solidFill>
                <a:latin typeface="Arial"/>
                <a:cs typeface="Arial"/>
              </a:rPr>
              <a:t>(free)</a:t>
            </a:r>
            <a:r>
              <a:rPr sz="1100" spc="5" dirty="0">
                <a:solidFill>
                  <a:srgbClr val="1C1A1C"/>
                </a:solidFill>
                <a:latin typeface="Arial"/>
                <a:cs typeface="Arial"/>
              </a:rPr>
              <a:t>.</a:t>
            </a:r>
            <a:endParaRPr sz="1100" dirty="0">
              <a:latin typeface="Arial"/>
              <a:cs typeface="Arial"/>
            </a:endParaRPr>
          </a:p>
          <a:p>
            <a:pPr marL="692150">
              <a:lnSpc>
                <a:spcPct val="100000"/>
              </a:lnSpc>
              <a:spcBef>
                <a:spcPts val="229"/>
              </a:spcBef>
            </a:pPr>
            <a:r>
              <a:rPr sz="1100" spc="325" dirty="0">
                <a:solidFill>
                  <a:srgbClr val="1C1A1C"/>
                </a:solidFill>
                <a:latin typeface="Arial"/>
                <a:cs typeface="Arial"/>
              </a:rPr>
              <a:t>0  </a:t>
            </a:r>
            <a:r>
              <a:rPr sz="1100" spc="8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b="1" spc="10" dirty="0">
                <a:solidFill>
                  <a:srgbClr val="1C1A1C"/>
                </a:solidFill>
                <a:latin typeface="Arial"/>
                <a:cs typeface="Arial"/>
              </a:rPr>
              <a:t>Cons:</a:t>
            </a:r>
            <a:r>
              <a:rPr sz="1100" b="1" spc="4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5" dirty="0">
                <a:solidFill>
                  <a:srgbClr val="1C1A1C"/>
                </a:solidFill>
                <a:latin typeface="Arial"/>
                <a:cs typeface="Arial"/>
              </a:rPr>
              <a:t>Budgeting</a:t>
            </a:r>
            <a:r>
              <a:rPr sz="1100" spc="-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15" dirty="0">
                <a:solidFill>
                  <a:srgbClr val="1C1A1C"/>
                </a:solidFill>
                <a:latin typeface="Arial"/>
                <a:cs typeface="Arial"/>
              </a:rPr>
              <a:t>tools </a:t>
            </a:r>
            <a:r>
              <a:rPr sz="1100" dirty="0">
                <a:solidFill>
                  <a:srgbClr val="1C1A1C"/>
                </a:solidFill>
                <a:latin typeface="Arial"/>
                <a:cs typeface="Arial"/>
              </a:rPr>
              <a:t>are</a:t>
            </a:r>
            <a:r>
              <a:rPr sz="1100" spc="2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C1A1C"/>
                </a:solidFill>
                <a:latin typeface="Arial"/>
                <a:cs typeface="Arial"/>
              </a:rPr>
              <a:t>rudimentary;</a:t>
            </a:r>
            <a:r>
              <a:rPr sz="1100" spc="6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C1A1C"/>
                </a:solidFill>
                <a:latin typeface="Arial"/>
                <a:cs typeface="Arial"/>
              </a:rPr>
              <a:t>primarily</a:t>
            </a:r>
            <a:r>
              <a:rPr sz="1100" spc="6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-60" dirty="0">
                <a:solidFill>
                  <a:srgbClr val="1C1A1C"/>
                </a:solidFill>
                <a:latin typeface="Arial"/>
                <a:cs typeface="Arial"/>
              </a:rPr>
              <a:t>a</a:t>
            </a:r>
            <a:r>
              <a:rPr sz="1100" spc="3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20" dirty="0">
                <a:solidFill>
                  <a:srgbClr val="1C1A1C"/>
                </a:solidFill>
                <a:latin typeface="Arial"/>
                <a:cs typeface="Arial"/>
              </a:rPr>
              <a:t>lead-gen</a:t>
            </a:r>
            <a:r>
              <a:rPr sz="1100" spc="-3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25" dirty="0">
                <a:solidFill>
                  <a:srgbClr val="1C1A1C"/>
                </a:solidFill>
                <a:latin typeface="Arial"/>
                <a:cs typeface="Arial"/>
              </a:rPr>
              <a:t>tool</a:t>
            </a:r>
            <a:r>
              <a:rPr sz="1100" spc="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15" dirty="0">
                <a:solidFill>
                  <a:srgbClr val="1C1A1C"/>
                </a:solidFill>
                <a:latin typeface="Arial"/>
                <a:cs typeface="Arial"/>
              </a:rPr>
              <a:t>for</a:t>
            </a:r>
            <a:r>
              <a:rPr sz="1100" spc="8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-5" dirty="0">
                <a:solidFill>
                  <a:srgbClr val="1C1A1C"/>
                </a:solidFill>
                <a:latin typeface="Arial"/>
                <a:cs typeface="Arial"/>
              </a:rPr>
              <a:t>advisors.</a:t>
            </a:r>
            <a:endParaRPr sz="1100" dirty="0">
              <a:latin typeface="Arial"/>
              <a:cs typeface="Arial"/>
            </a:endParaRPr>
          </a:p>
          <a:p>
            <a:pPr marL="462915" indent="-226695">
              <a:lnSpc>
                <a:spcPct val="100000"/>
              </a:lnSpc>
              <a:spcBef>
                <a:spcPts val="345"/>
              </a:spcBef>
              <a:buClr>
                <a:srgbClr val="1C1A1C"/>
              </a:buClr>
              <a:buFont typeface="Arial"/>
              <a:buChar char="•"/>
              <a:tabLst>
                <a:tab pos="462915" algn="l"/>
              </a:tabLst>
            </a:pPr>
            <a:r>
              <a:rPr sz="1100" b="1" spc="25" dirty="0">
                <a:solidFill>
                  <a:srgbClr val="1C1A1C"/>
                </a:solidFill>
                <a:latin typeface="Arial"/>
                <a:cs typeface="Arial"/>
              </a:rPr>
              <a:t>Wallet</a:t>
            </a:r>
            <a:r>
              <a:rPr sz="1100" b="1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b="1" spc="-13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b="1" spc="30" dirty="0">
                <a:solidFill>
                  <a:srgbClr val="1C1A1C"/>
                </a:solidFill>
                <a:latin typeface="Arial"/>
                <a:cs typeface="Arial"/>
              </a:rPr>
              <a:t>by</a:t>
            </a:r>
            <a:r>
              <a:rPr sz="1100" b="1" spc="4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b="1" spc="20" dirty="0">
                <a:solidFill>
                  <a:srgbClr val="1C1A1C"/>
                </a:solidFill>
                <a:latin typeface="Arial"/>
                <a:cs typeface="Arial"/>
              </a:rPr>
              <a:t>BudgetBakers</a:t>
            </a:r>
            <a:endParaRPr sz="1100" dirty="0">
              <a:latin typeface="Arial"/>
              <a:cs typeface="Arial"/>
            </a:endParaRPr>
          </a:p>
          <a:p>
            <a:pPr marL="692150">
              <a:lnSpc>
                <a:spcPct val="100000"/>
              </a:lnSpc>
              <a:spcBef>
                <a:spcPts val="195"/>
              </a:spcBef>
            </a:pPr>
            <a:r>
              <a:rPr sz="1100" spc="325" dirty="0">
                <a:solidFill>
                  <a:srgbClr val="1C1A1C"/>
                </a:solidFill>
                <a:latin typeface="Arial"/>
                <a:cs typeface="Arial"/>
              </a:rPr>
              <a:t>0  </a:t>
            </a:r>
            <a:r>
              <a:rPr sz="1100" spc="13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1C1A1C"/>
                </a:solidFill>
                <a:latin typeface="Arial"/>
                <a:cs typeface="Arial"/>
              </a:rPr>
              <a:t>Pros:</a:t>
            </a:r>
            <a:r>
              <a:rPr sz="1100" b="1" spc="-1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-15" dirty="0">
                <a:solidFill>
                  <a:srgbClr val="1C1A1C"/>
                </a:solidFill>
                <a:latin typeface="Arial"/>
                <a:cs typeface="Arial"/>
              </a:rPr>
              <a:t>Extensive</a:t>
            </a:r>
            <a:r>
              <a:rPr sz="1100" spc="3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5" dirty="0">
                <a:solidFill>
                  <a:srgbClr val="1C1A1C"/>
                </a:solidFill>
                <a:latin typeface="Arial"/>
                <a:cs typeface="Arial"/>
              </a:rPr>
              <a:t>international</a:t>
            </a:r>
            <a:r>
              <a:rPr sz="1100" spc="8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C1A1C"/>
                </a:solidFill>
                <a:latin typeface="Arial"/>
                <a:cs typeface="Arial"/>
              </a:rPr>
              <a:t>bank</a:t>
            </a:r>
            <a:r>
              <a:rPr sz="1100" spc="-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10" dirty="0">
                <a:solidFill>
                  <a:srgbClr val="1C1A1C"/>
                </a:solidFill>
                <a:latin typeface="Arial"/>
                <a:cs typeface="Arial"/>
              </a:rPr>
              <a:t>support.</a:t>
            </a:r>
            <a:endParaRPr sz="1100" dirty="0">
              <a:latin typeface="Arial"/>
              <a:cs typeface="Arial"/>
            </a:endParaRPr>
          </a:p>
          <a:p>
            <a:pPr marL="692150">
              <a:lnSpc>
                <a:spcPct val="100000"/>
              </a:lnSpc>
              <a:spcBef>
                <a:spcPts val="250"/>
              </a:spcBef>
            </a:pPr>
            <a:r>
              <a:rPr sz="1100" spc="325" dirty="0">
                <a:solidFill>
                  <a:srgbClr val="1C1A1C"/>
                </a:solidFill>
                <a:latin typeface="Arial"/>
                <a:cs typeface="Arial"/>
              </a:rPr>
              <a:t>0  </a:t>
            </a:r>
            <a:r>
              <a:rPr sz="1100" spc="8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b="1" spc="10" dirty="0">
                <a:solidFill>
                  <a:srgbClr val="1C1A1C"/>
                </a:solidFill>
                <a:latin typeface="Arial"/>
                <a:cs typeface="Arial"/>
              </a:rPr>
              <a:t>Cons:</a:t>
            </a:r>
            <a:r>
              <a:rPr sz="1100" b="1" spc="4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-35" dirty="0">
                <a:solidFill>
                  <a:srgbClr val="1C1A1C"/>
                </a:solidFill>
                <a:latin typeface="Arial"/>
                <a:cs typeface="Arial"/>
              </a:rPr>
              <a:t>Bank</a:t>
            </a:r>
            <a:r>
              <a:rPr sz="1100" dirty="0">
                <a:solidFill>
                  <a:srgbClr val="1C1A1C"/>
                </a:solidFill>
                <a:latin typeface="Arial"/>
                <a:cs typeface="Arial"/>
              </a:rPr>
              <a:t> synchronization</a:t>
            </a:r>
            <a:r>
              <a:rPr sz="1100" spc="12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15" dirty="0">
                <a:solidFill>
                  <a:srgbClr val="1C1A1C"/>
                </a:solidFill>
                <a:latin typeface="Arial"/>
                <a:cs typeface="Arial"/>
              </a:rPr>
              <a:t>is</a:t>
            </a:r>
            <a:r>
              <a:rPr sz="1100" spc="-7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30" dirty="0">
                <a:solidFill>
                  <a:srgbClr val="1C1A1C"/>
                </a:solidFill>
                <a:latin typeface="Arial"/>
                <a:cs typeface="Arial"/>
              </a:rPr>
              <a:t>often </a:t>
            </a:r>
            <a:r>
              <a:rPr sz="1100" dirty="0">
                <a:solidFill>
                  <a:srgbClr val="1C1A1C"/>
                </a:solidFill>
                <a:latin typeface="Arial"/>
                <a:cs typeface="Arial"/>
              </a:rPr>
              <a:t>unstable;</a:t>
            </a:r>
            <a:r>
              <a:rPr sz="1100" spc="-1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20" dirty="0">
                <a:solidFill>
                  <a:srgbClr val="1C1A1C"/>
                </a:solidFill>
                <a:latin typeface="Arial"/>
                <a:cs typeface="Arial"/>
              </a:rPr>
              <a:t>free</a:t>
            </a:r>
            <a:r>
              <a:rPr sz="1100" spc="1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C1A1C"/>
                </a:solidFill>
                <a:latin typeface="Arial"/>
                <a:cs typeface="Arial"/>
              </a:rPr>
              <a:t>version</a:t>
            </a:r>
            <a:r>
              <a:rPr sz="1100" spc="4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C1A1C"/>
                </a:solidFill>
                <a:latin typeface="Arial"/>
                <a:cs typeface="Arial"/>
              </a:rPr>
              <a:t>is</a:t>
            </a:r>
            <a:r>
              <a:rPr sz="1100" spc="-2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1C1A1C"/>
                </a:solidFill>
                <a:latin typeface="Arial"/>
                <a:cs typeface="Arial"/>
              </a:rPr>
              <a:t>heavily</a:t>
            </a:r>
            <a:r>
              <a:rPr sz="1100" spc="6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20" dirty="0">
                <a:solidFill>
                  <a:srgbClr val="1C1A1C"/>
                </a:solidFill>
                <a:latin typeface="Arial"/>
                <a:cs typeface="Arial"/>
              </a:rPr>
              <a:t>restricted.</a:t>
            </a:r>
            <a:endParaRPr sz="110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789612" y="4191000"/>
            <a:ext cx="5697220" cy="23006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05104" indent="-192405">
              <a:lnSpc>
                <a:spcPct val="100000"/>
              </a:lnSpc>
              <a:buClr>
                <a:srgbClr val="1C1A1C"/>
              </a:buClr>
              <a:buFont typeface="Arial"/>
              <a:buAutoNum type="alphaUcPeriod" startAt="3"/>
              <a:tabLst>
                <a:tab pos="205740" algn="l"/>
              </a:tabLst>
            </a:pPr>
            <a:r>
              <a:rPr sz="1100" b="1" spc="10" dirty="0">
                <a:solidFill>
                  <a:srgbClr val="1C1A1C"/>
                </a:solidFill>
                <a:latin typeface="Arial"/>
                <a:cs typeface="Arial"/>
              </a:rPr>
              <a:t>Spreadsheet</a:t>
            </a:r>
            <a:r>
              <a:rPr sz="1100" b="1" spc="15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b="1" spc="-75" dirty="0">
                <a:solidFill>
                  <a:srgbClr val="1C1A1C"/>
                </a:solidFill>
                <a:latin typeface="Arial"/>
                <a:cs typeface="Arial"/>
              </a:rPr>
              <a:t>&amp;</a:t>
            </a:r>
            <a:r>
              <a:rPr sz="1100" b="1" spc="4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1C1A1C"/>
                </a:solidFill>
                <a:latin typeface="Arial"/>
                <a:cs typeface="Arial"/>
              </a:rPr>
              <a:t>Local</a:t>
            </a:r>
            <a:r>
              <a:rPr sz="1100" b="1" spc="-7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b="1" spc="20" dirty="0">
                <a:solidFill>
                  <a:srgbClr val="1C1A1C"/>
                </a:solidFill>
                <a:latin typeface="Arial"/>
                <a:cs typeface="Arial"/>
              </a:rPr>
              <a:t>Alternatives</a:t>
            </a:r>
            <a:endParaRPr sz="11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2"/>
              </a:spcBef>
              <a:buClr>
                <a:srgbClr val="1C1A1C"/>
              </a:buClr>
              <a:buFont typeface="Arial"/>
              <a:buAutoNum type="alphaUcPeriod" startAt="3"/>
            </a:pPr>
            <a:endParaRPr sz="1100" dirty="0">
              <a:latin typeface="Times New Roman"/>
              <a:cs typeface="Times New Roman"/>
            </a:endParaRPr>
          </a:p>
          <a:p>
            <a:pPr marL="467995" lvl="1" indent="-226060">
              <a:lnSpc>
                <a:spcPct val="100000"/>
              </a:lnSpc>
              <a:buClr>
                <a:srgbClr val="1C1A1C"/>
              </a:buClr>
              <a:buFont typeface="Arial"/>
              <a:buChar char="•"/>
              <a:tabLst>
                <a:tab pos="468630" algn="l"/>
              </a:tabLst>
            </a:pPr>
            <a:r>
              <a:rPr sz="1100" b="1" spc="10" dirty="0">
                <a:solidFill>
                  <a:srgbClr val="1C1A1C"/>
                </a:solidFill>
                <a:latin typeface="Arial"/>
                <a:cs typeface="Arial"/>
              </a:rPr>
              <a:t>Tiller</a:t>
            </a:r>
            <a:r>
              <a:rPr sz="1100" b="1" spc="13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b="1" spc="35" dirty="0">
                <a:solidFill>
                  <a:srgbClr val="1C1A1C"/>
                </a:solidFill>
                <a:latin typeface="Arial"/>
                <a:cs typeface="Arial"/>
              </a:rPr>
              <a:t>Money</a:t>
            </a:r>
            <a:endParaRPr sz="1100" dirty="0">
              <a:latin typeface="Arial"/>
              <a:cs typeface="Arial"/>
            </a:endParaRPr>
          </a:p>
          <a:p>
            <a:pPr marL="697230">
              <a:lnSpc>
                <a:spcPct val="100000"/>
              </a:lnSpc>
              <a:spcBef>
                <a:spcPts val="195"/>
              </a:spcBef>
            </a:pPr>
            <a:r>
              <a:rPr sz="1100" spc="325" dirty="0">
                <a:solidFill>
                  <a:srgbClr val="1C1A1C"/>
                </a:solidFill>
                <a:latin typeface="Arial"/>
                <a:cs typeface="Arial"/>
              </a:rPr>
              <a:t>0  </a:t>
            </a:r>
            <a:r>
              <a:rPr sz="1100" spc="13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1C1A1C"/>
                </a:solidFill>
                <a:latin typeface="Arial"/>
                <a:cs typeface="Arial"/>
              </a:rPr>
              <a:t>Pros:</a:t>
            </a:r>
            <a:r>
              <a:rPr sz="1100" b="1" spc="-1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1C1A1C"/>
                </a:solidFill>
                <a:latin typeface="Arial"/>
                <a:cs typeface="Arial"/>
              </a:rPr>
              <a:t>Pipes</a:t>
            </a:r>
            <a:r>
              <a:rPr sz="1100" spc="-2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C1A1C"/>
                </a:solidFill>
                <a:latin typeface="Arial"/>
                <a:cs typeface="Arial"/>
              </a:rPr>
              <a:t>data</a:t>
            </a:r>
            <a:r>
              <a:rPr sz="1100" spc="5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10" dirty="0">
                <a:solidFill>
                  <a:srgbClr val="1C1A1C"/>
                </a:solidFill>
                <a:latin typeface="Arial"/>
                <a:cs typeface="Arial"/>
              </a:rPr>
              <a:t>directly</a:t>
            </a:r>
            <a:r>
              <a:rPr sz="1100" spc="6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25" dirty="0">
                <a:solidFill>
                  <a:srgbClr val="1C1A1C"/>
                </a:solidFill>
                <a:latin typeface="Arial"/>
                <a:cs typeface="Arial"/>
              </a:rPr>
              <a:t>into</a:t>
            </a:r>
            <a:r>
              <a:rPr sz="1100" spc="-4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C1A1C"/>
                </a:solidFill>
                <a:latin typeface="Arial"/>
                <a:cs typeface="Arial"/>
              </a:rPr>
              <a:t>Google</a:t>
            </a:r>
            <a:r>
              <a:rPr sz="1100" spc="1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-15" dirty="0">
                <a:solidFill>
                  <a:srgbClr val="1C1A1C"/>
                </a:solidFill>
                <a:latin typeface="Arial"/>
                <a:cs typeface="Arial"/>
              </a:rPr>
              <a:t>Sheets</a:t>
            </a:r>
            <a:r>
              <a:rPr sz="1100" spc="1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15" dirty="0">
                <a:solidFill>
                  <a:srgbClr val="1C1A1C"/>
                </a:solidFill>
                <a:latin typeface="Arial"/>
                <a:cs typeface="Arial"/>
              </a:rPr>
              <a:t>for</a:t>
            </a:r>
            <a:r>
              <a:rPr sz="1100" spc="10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-15" dirty="0">
                <a:solidFill>
                  <a:srgbClr val="1C1A1C"/>
                </a:solidFill>
                <a:latin typeface="Arial"/>
                <a:cs typeface="Arial"/>
              </a:rPr>
              <a:t>maximum</a:t>
            </a:r>
            <a:r>
              <a:rPr sz="1100" spc="3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C1A1C"/>
                </a:solidFill>
                <a:latin typeface="Arial"/>
                <a:cs typeface="Arial"/>
              </a:rPr>
              <a:t>customization.</a:t>
            </a:r>
            <a:endParaRPr sz="1100" dirty="0">
              <a:latin typeface="Arial"/>
              <a:cs typeface="Arial"/>
            </a:endParaRPr>
          </a:p>
          <a:p>
            <a:pPr marL="697230">
              <a:lnSpc>
                <a:spcPct val="100000"/>
              </a:lnSpc>
              <a:spcBef>
                <a:spcPts val="209"/>
              </a:spcBef>
            </a:pPr>
            <a:r>
              <a:rPr sz="1100" spc="325" dirty="0">
                <a:solidFill>
                  <a:srgbClr val="1C1A1C"/>
                </a:solidFill>
                <a:latin typeface="Arial"/>
                <a:cs typeface="Arial"/>
              </a:rPr>
              <a:t>0  </a:t>
            </a:r>
            <a:r>
              <a:rPr sz="1100" spc="8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b="1" spc="10" dirty="0">
                <a:solidFill>
                  <a:srgbClr val="1C1A1C"/>
                </a:solidFill>
                <a:latin typeface="Arial"/>
                <a:cs typeface="Arial"/>
              </a:rPr>
              <a:t>Cons:</a:t>
            </a:r>
            <a:r>
              <a:rPr sz="1100" b="1" spc="4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-15" dirty="0">
                <a:solidFill>
                  <a:srgbClr val="1C1A1C"/>
                </a:solidFill>
                <a:latin typeface="Arial"/>
                <a:cs typeface="Arial"/>
              </a:rPr>
              <a:t>Requires</a:t>
            </a:r>
            <a:r>
              <a:rPr sz="1100" spc="4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5" dirty="0">
                <a:solidFill>
                  <a:srgbClr val="1C1A1C"/>
                </a:solidFill>
                <a:latin typeface="Arial"/>
                <a:cs typeface="Arial"/>
              </a:rPr>
              <a:t>high</a:t>
            </a:r>
            <a:r>
              <a:rPr sz="1100" spc="-3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5" dirty="0">
                <a:solidFill>
                  <a:srgbClr val="1C1A1C"/>
                </a:solidFill>
                <a:latin typeface="Arial"/>
                <a:cs typeface="Arial"/>
              </a:rPr>
              <a:t>spreadsheet</a:t>
            </a:r>
            <a:r>
              <a:rPr sz="1100" spc="9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10" dirty="0">
                <a:solidFill>
                  <a:srgbClr val="1C1A1C"/>
                </a:solidFill>
                <a:latin typeface="Arial"/>
                <a:cs typeface="Arial"/>
              </a:rPr>
              <a:t>proficiency;</a:t>
            </a:r>
            <a:r>
              <a:rPr sz="1100" spc="5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5" dirty="0">
                <a:solidFill>
                  <a:srgbClr val="1C1A1C"/>
                </a:solidFill>
                <a:latin typeface="Arial"/>
                <a:cs typeface="Arial"/>
              </a:rPr>
              <a:t>paid</a:t>
            </a:r>
            <a:r>
              <a:rPr sz="1100" spc="-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5" dirty="0">
                <a:solidFill>
                  <a:srgbClr val="1C1A1C"/>
                </a:solidFill>
                <a:latin typeface="Arial"/>
                <a:cs typeface="Arial"/>
              </a:rPr>
              <a:t>subscription.</a:t>
            </a:r>
            <a:endParaRPr sz="1100" dirty="0">
              <a:latin typeface="Arial"/>
              <a:cs typeface="Arial"/>
            </a:endParaRPr>
          </a:p>
          <a:p>
            <a:pPr marL="471170" indent="-229235">
              <a:lnSpc>
                <a:spcPct val="100000"/>
              </a:lnSpc>
              <a:spcBef>
                <a:spcPts val="390"/>
              </a:spcBef>
              <a:buClr>
                <a:srgbClr val="1C1A1C"/>
              </a:buClr>
              <a:buFont typeface="Arial"/>
              <a:buChar char="•"/>
              <a:tabLst>
                <a:tab pos="471805" algn="l"/>
              </a:tabLst>
            </a:pPr>
            <a:r>
              <a:rPr sz="1100" b="1" spc="15" dirty="0">
                <a:solidFill>
                  <a:srgbClr val="1C1A1C"/>
                </a:solidFill>
                <a:latin typeface="Arial"/>
                <a:cs typeface="Arial"/>
              </a:rPr>
              <a:t>GnuCash</a:t>
            </a:r>
            <a:endParaRPr sz="1100" dirty="0">
              <a:latin typeface="Arial"/>
              <a:cs typeface="Arial"/>
            </a:endParaRPr>
          </a:p>
          <a:p>
            <a:pPr marL="697230">
              <a:lnSpc>
                <a:spcPct val="100000"/>
              </a:lnSpc>
              <a:spcBef>
                <a:spcPts val="150"/>
              </a:spcBef>
            </a:pPr>
            <a:r>
              <a:rPr sz="1100" spc="325" dirty="0">
                <a:solidFill>
                  <a:srgbClr val="1C1A1C"/>
                </a:solidFill>
                <a:latin typeface="Arial"/>
                <a:cs typeface="Arial"/>
              </a:rPr>
              <a:t>0  </a:t>
            </a:r>
            <a:r>
              <a:rPr sz="1100" spc="13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1C1A1C"/>
                </a:solidFill>
                <a:latin typeface="Arial"/>
                <a:cs typeface="Arial"/>
              </a:rPr>
              <a:t>Pros:</a:t>
            </a:r>
            <a:r>
              <a:rPr sz="1100" b="1" spc="-1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-15" dirty="0">
                <a:solidFill>
                  <a:srgbClr val="1C1A1C"/>
                </a:solidFill>
                <a:latin typeface="Arial"/>
                <a:cs typeface="Arial"/>
              </a:rPr>
              <a:t>Free,</a:t>
            </a:r>
            <a:r>
              <a:rPr sz="1100" spc="-3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5" dirty="0">
                <a:solidFill>
                  <a:srgbClr val="1C1A1C"/>
                </a:solidFill>
                <a:latin typeface="Arial"/>
                <a:cs typeface="Arial"/>
              </a:rPr>
              <a:t>open-source,</a:t>
            </a:r>
            <a:r>
              <a:rPr sz="1100" spc="114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20" dirty="0">
                <a:solidFill>
                  <a:srgbClr val="1C1A1C"/>
                </a:solidFill>
                <a:latin typeface="Arial"/>
                <a:cs typeface="Arial"/>
              </a:rPr>
              <a:t>local-first</a:t>
            </a:r>
            <a:r>
              <a:rPr sz="1100" spc="9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C1A1C"/>
                </a:solidFill>
                <a:latin typeface="Arial"/>
                <a:cs typeface="Arial"/>
              </a:rPr>
              <a:t>privacy,</a:t>
            </a:r>
            <a:r>
              <a:rPr sz="1100" spc="3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C1A1C"/>
                </a:solidFill>
                <a:latin typeface="Arial"/>
                <a:cs typeface="Arial"/>
              </a:rPr>
              <a:t>professional</a:t>
            </a:r>
            <a:r>
              <a:rPr sz="1100" spc="5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15" dirty="0">
                <a:solidFill>
                  <a:srgbClr val="1C1A1C"/>
                </a:solidFill>
                <a:latin typeface="Arial"/>
                <a:cs typeface="Arial"/>
              </a:rPr>
              <a:t>double-entry</a:t>
            </a:r>
            <a:r>
              <a:rPr sz="1100" spc="114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5" dirty="0">
                <a:solidFill>
                  <a:srgbClr val="1C1A1C"/>
                </a:solidFill>
                <a:latin typeface="Arial"/>
                <a:cs typeface="Arial"/>
              </a:rPr>
              <a:t>accounting.</a:t>
            </a:r>
            <a:endParaRPr sz="1100" dirty="0">
              <a:latin typeface="Arial"/>
              <a:cs typeface="Arial"/>
            </a:endParaRPr>
          </a:p>
          <a:p>
            <a:pPr marL="697230">
              <a:lnSpc>
                <a:spcPct val="100000"/>
              </a:lnSpc>
              <a:spcBef>
                <a:spcPts val="250"/>
              </a:spcBef>
            </a:pPr>
            <a:r>
              <a:rPr sz="1100" spc="325" dirty="0">
                <a:solidFill>
                  <a:srgbClr val="1C1A1C"/>
                </a:solidFill>
                <a:latin typeface="Arial"/>
                <a:cs typeface="Arial"/>
              </a:rPr>
              <a:t>0  </a:t>
            </a:r>
            <a:r>
              <a:rPr sz="1100" spc="8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b="1" spc="10" dirty="0">
                <a:solidFill>
                  <a:srgbClr val="1C1A1C"/>
                </a:solidFill>
                <a:latin typeface="Arial"/>
                <a:cs typeface="Arial"/>
              </a:rPr>
              <a:t>Cons:</a:t>
            </a:r>
            <a:r>
              <a:rPr sz="1100" b="1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1C1A1C"/>
                </a:solidFill>
                <a:latin typeface="Arial"/>
                <a:cs typeface="Arial"/>
              </a:rPr>
              <a:t>Extremely</a:t>
            </a:r>
            <a:r>
              <a:rPr sz="1100" spc="5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C1A1C"/>
                </a:solidFill>
                <a:latin typeface="Arial"/>
                <a:cs typeface="Arial"/>
              </a:rPr>
              <a:t>complex</a:t>
            </a:r>
            <a:r>
              <a:rPr sz="1100" spc="9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-60" dirty="0">
                <a:solidFill>
                  <a:srgbClr val="1C1A1C"/>
                </a:solidFill>
                <a:latin typeface="Arial"/>
                <a:cs typeface="Arial"/>
              </a:rPr>
              <a:t>U</a:t>
            </a:r>
            <a:r>
              <a:rPr sz="1100" spc="-75" dirty="0">
                <a:solidFill>
                  <a:srgbClr val="1C1A1C"/>
                </a:solidFill>
                <a:latin typeface="Arial"/>
                <a:cs typeface="Arial"/>
              </a:rPr>
              <a:t>I</a:t>
            </a:r>
            <a:r>
              <a:rPr sz="1100" spc="175" dirty="0">
                <a:solidFill>
                  <a:srgbClr val="1C1A1C"/>
                </a:solidFill>
                <a:latin typeface="Arial"/>
                <a:cs typeface="Arial"/>
              </a:rPr>
              <a:t>;</a:t>
            </a:r>
            <a:r>
              <a:rPr sz="1100" spc="-18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10" dirty="0">
                <a:solidFill>
                  <a:srgbClr val="1C1A1C"/>
                </a:solidFill>
                <a:latin typeface="Arial"/>
                <a:cs typeface="Arial"/>
              </a:rPr>
              <a:t>strictly</a:t>
            </a:r>
            <a:r>
              <a:rPr sz="1100" spc="9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-15" dirty="0">
                <a:solidFill>
                  <a:srgbClr val="1C1A1C"/>
                </a:solidFill>
                <a:latin typeface="Arial"/>
                <a:cs typeface="Arial"/>
              </a:rPr>
              <a:t>manual</a:t>
            </a:r>
            <a:r>
              <a:rPr sz="1100" spc="3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C1A1C"/>
                </a:solidFill>
                <a:latin typeface="Arial"/>
                <a:cs typeface="Arial"/>
              </a:rPr>
              <a:t>data</a:t>
            </a:r>
            <a:r>
              <a:rPr sz="1100" spc="5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10" dirty="0">
                <a:solidFill>
                  <a:srgbClr val="1C1A1C"/>
                </a:solidFill>
                <a:latin typeface="Arial"/>
                <a:cs typeface="Arial"/>
              </a:rPr>
              <a:t>entry.</a:t>
            </a:r>
            <a:endParaRPr sz="1100" dirty="0">
              <a:latin typeface="Arial"/>
              <a:cs typeface="Arial"/>
            </a:endParaRPr>
          </a:p>
          <a:p>
            <a:pPr marL="476884" indent="-234950">
              <a:lnSpc>
                <a:spcPct val="100000"/>
              </a:lnSpc>
              <a:spcBef>
                <a:spcPts val="345"/>
              </a:spcBef>
              <a:buClr>
                <a:srgbClr val="1C1A1C"/>
              </a:buClr>
              <a:buFont typeface="Arial"/>
              <a:buChar char="•"/>
              <a:tabLst>
                <a:tab pos="476884" algn="l"/>
              </a:tabLst>
            </a:pPr>
            <a:r>
              <a:rPr sz="1100" b="1" spc="15" dirty="0">
                <a:solidFill>
                  <a:srgbClr val="1C1A1C"/>
                </a:solidFill>
                <a:latin typeface="Arial"/>
                <a:cs typeface="Arial"/>
              </a:rPr>
              <a:t>HomeBank</a:t>
            </a:r>
            <a:endParaRPr sz="1100" dirty="0">
              <a:latin typeface="Arial"/>
              <a:cs typeface="Arial"/>
            </a:endParaRPr>
          </a:p>
          <a:p>
            <a:pPr marL="697230">
              <a:lnSpc>
                <a:spcPct val="100000"/>
              </a:lnSpc>
              <a:spcBef>
                <a:spcPts val="175"/>
              </a:spcBef>
            </a:pPr>
            <a:r>
              <a:rPr sz="1100" spc="325" dirty="0">
                <a:solidFill>
                  <a:srgbClr val="1C1A1C"/>
                </a:solidFill>
                <a:latin typeface="Arial"/>
                <a:cs typeface="Arial"/>
              </a:rPr>
              <a:t>0  </a:t>
            </a:r>
            <a:r>
              <a:rPr sz="1100" spc="13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1C1A1C"/>
                </a:solidFill>
                <a:latin typeface="Arial"/>
                <a:cs typeface="Arial"/>
              </a:rPr>
              <a:t>Pros:</a:t>
            </a:r>
            <a:r>
              <a:rPr sz="1100" b="1" spc="-1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-15" dirty="0">
                <a:solidFill>
                  <a:srgbClr val="1C1A1C"/>
                </a:solidFill>
                <a:latin typeface="Arial"/>
                <a:cs typeface="Arial"/>
              </a:rPr>
              <a:t>Free,</a:t>
            </a:r>
            <a:r>
              <a:rPr sz="1100" spc="-1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10" dirty="0">
                <a:solidFill>
                  <a:srgbClr val="1C1A1C"/>
                </a:solidFill>
                <a:latin typeface="Arial"/>
                <a:cs typeface="Arial"/>
              </a:rPr>
              <a:t>lightweight,</a:t>
            </a:r>
            <a:r>
              <a:rPr sz="1100" spc="2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5" dirty="0">
                <a:solidFill>
                  <a:srgbClr val="1C1A1C"/>
                </a:solidFill>
                <a:latin typeface="Arial"/>
                <a:cs typeface="Arial"/>
              </a:rPr>
              <a:t>and</a:t>
            </a:r>
            <a:r>
              <a:rPr sz="1100" spc="1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-5" dirty="0">
                <a:solidFill>
                  <a:srgbClr val="1C1A1C"/>
                </a:solidFill>
                <a:latin typeface="Arial"/>
                <a:cs typeface="Arial"/>
              </a:rPr>
              <a:t>simpler</a:t>
            </a:r>
            <a:r>
              <a:rPr sz="1100" spc="7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5" dirty="0">
                <a:solidFill>
                  <a:srgbClr val="1C1A1C"/>
                </a:solidFill>
                <a:latin typeface="Arial"/>
                <a:cs typeface="Arial"/>
              </a:rPr>
              <a:t>than</a:t>
            </a:r>
            <a:r>
              <a:rPr sz="1100" spc="3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1C1A1C"/>
                </a:solidFill>
                <a:latin typeface="Arial"/>
                <a:cs typeface="Arial"/>
              </a:rPr>
              <a:t>GnuCash.</a:t>
            </a:r>
            <a:endParaRPr sz="1100" dirty="0">
              <a:latin typeface="Arial"/>
              <a:cs typeface="Arial"/>
            </a:endParaRPr>
          </a:p>
          <a:p>
            <a:pPr marL="697230">
              <a:lnSpc>
                <a:spcPct val="100000"/>
              </a:lnSpc>
              <a:spcBef>
                <a:spcPts val="250"/>
              </a:spcBef>
            </a:pPr>
            <a:r>
              <a:rPr sz="1100" spc="325" dirty="0">
                <a:solidFill>
                  <a:srgbClr val="1C1A1C"/>
                </a:solidFill>
                <a:latin typeface="Arial"/>
                <a:cs typeface="Arial"/>
              </a:rPr>
              <a:t>0  </a:t>
            </a:r>
            <a:r>
              <a:rPr sz="1100" spc="8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b="1" spc="10" dirty="0">
                <a:solidFill>
                  <a:srgbClr val="1C1A1C"/>
                </a:solidFill>
                <a:latin typeface="Arial"/>
                <a:cs typeface="Arial"/>
              </a:rPr>
              <a:t>Cons:</a:t>
            </a:r>
            <a:r>
              <a:rPr sz="1100" b="1" spc="4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-20" dirty="0">
                <a:solidFill>
                  <a:srgbClr val="1C1A1C"/>
                </a:solidFill>
                <a:latin typeface="Arial"/>
                <a:cs typeface="Arial"/>
              </a:rPr>
              <a:t>Lacks</a:t>
            </a:r>
            <a:r>
              <a:rPr sz="1100" spc="5" dirty="0">
                <a:solidFill>
                  <a:srgbClr val="1C1A1C"/>
                </a:solidFill>
                <a:latin typeface="Arial"/>
                <a:cs typeface="Arial"/>
              </a:rPr>
              <a:t> automation;</a:t>
            </a:r>
            <a:r>
              <a:rPr sz="1100" spc="4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C1A1C"/>
                </a:solidFill>
                <a:latin typeface="Arial"/>
                <a:cs typeface="Arial"/>
              </a:rPr>
              <a:t>relies</a:t>
            </a:r>
            <a:r>
              <a:rPr sz="1100" spc="-3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C1A1C"/>
                </a:solidFill>
                <a:latin typeface="Arial"/>
                <a:cs typeface="Arial"/>
              </a:rPr>
              <a:t>entirely</a:t>
            </a:r>
            <a:r>
              <a:rPr sz="1100" spc="6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C1A1C"/>
                </a:solidFill>
                <a:latin typeface="Arial"/>
                <a:cs typeface="Arial"/>
              </a:rPr>
              <a:t>on</a:t>
            </a:r>
            <a:r>
              <a:rPr sz="1100" spc="4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-15" dirty="0">
                <a:solidFill>
                  <a:srgbClr val="1C1A1C"/>
                </a:solidFill>
                <a:latin typeface="Arial"/>
                <a:cs typeface="Arial"/>
              </a:rPr>
              <a:t>manual</a:t>
            </a:r>
            <a:r>
              <a:rPr sz="1100" spc="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15" dirty="0">
                <a:solidFill>
                  <a:srgbClr val="1C1A1C"/>
                </a:solidFill>
                <a:latin typeface="Arial"/>
                <a:cs typeface="Arial"/>
              </a:rPr>
              <a:t>file</a:t>
            </a:r>
            <a:r>
              <a:rPr sz="1100" spc="-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10" dirty="0">
                <a:solidFill>
                  <a:srgbClr val="1C1A1C"/>
                </a:solidFill>
                <a:latin typeface="Arial"/>
                <a:cs typeface="Arial"/>
              </a:rPr>
              <a:t>imports.</a:t>
            </a:r>
            <a:endParaRPr sz="11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227012" y="152400"/>
            <a:ext cx="2453005" cy="2476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50" b="1" spc="35" dirty="0">
                <a:solidFill>
                  <a:srgbClr val="1D1C1C"/>
                </a:solidFill>
                <a:latin typeface="Arial"/>
                <a:cs typeface="Arial"/>
              </a:rPr>
              <a:t>Ill.</a:t>
            </a:r>
            <a:r>
              <a:rPr sz="1750" b="1" spc="-114" dirty="0">
                <a:solidFill>
                  <a:srgbClr val="1D1C1C"/>
                </a:solidFill>
                <a:latin typeface="Arial"/>
                <a:cs typeface="Arial"/>
              </a:rPr>
              <a:t> </a:t>
            </a:r>
            <a:r>
              <a:rPr sz="1750" b="1" spc="40" dirty="0">
                <a:solidFill>
                  <a:srgbClr val="1D1C1C"/>
                </a:solidFill>
                <a:latin typeface="Arial"/>
                <a:cs typeface="Arial"/>
              </a:rPr>
              <a:t>Comparat</a:t>
            </a:r>
            <a:r>
              <a:rPr sz="1750" b="1" spc="45" dirty="0">
                <a:solidFill>
                  <a:srgbClr val="1D1C1C"/>
                </a:solidFill>
                <a:latin typeface="Arial"/>
                <a:cs typeface="Arial"/>
              </a:rPr>
              <a:t>ive</a:t>
            </a:r>
            <a:r>
              <a:rPr sz="1750" b="1" spc="20" dirty="0">
                <a:solidFill>
                  <a:srgbClr val="1D1C1C"/>
                </a:solidFill>
                <a:latin typeface="Arial"/>
                <a:cs typeface="Arial"/>
              </a:rPr>
              <a:t> </a:t>
            </a:r>
            <a:r>
              <a:rPr sz="1750" b="1" spc="5" dirty="0">
                <a:solidFill>
                  <a:srgbClr val="1D1C1C"/>
                </a:solidFill>
                <a:latin typeface="Arial"/>
                <a:cs typeface="Arial"/>
              </a:rPr>
              <a:t>Study</a:t>
            </a:r>
            <a:endParaRPr sz="1750" dirty="0">
              <a:latin typeface="Arial"/>
              <a:cs typeface="Arial"/>
            </a:endParaRPr>
          </a:p>
        </p:txBody>
      </p:sp>
      <p:graphicFrame>
        <p:nvGraphicFramePr>
          <p:cNvPr id="2" name="object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3474529"/>
              </p:ext>
            </p:extLst>
          </p:nvPr>
        </p:nvGraphicFramePr>
        <p:xfrm>
          <a:off x="227012" y="609601"/>
          <a:ext cx="11658600" cy="6172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739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4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76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76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2497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7935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36223">
                <a:tc>
                  <a:txBody>
                    <a:bodyPr/>
                    <a:lstStyle/>
                    <a:p>
                      <a:pPr marL="143510">
                        <a:lnSpc>
                          <a:spcPct val="100000"/>
                        </a:lnSpc>
                      </a:pPr>
                      <a:r>
                        <a:rPr sz="1100" b="1" dirty="0">
                          <a:solidFill>
                            <a:srgbClr val="1D1C1C"/>
                          </a:solidFill>
                          <a:latin typeface="Arial"/>
                          <a:cs typeface="Arial"/>
                        </a:rPr>
                        <a:t>Software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796">
                      <a:solidFill>
                        <a:srgbClr val="000000"/>
                      </a:solidFill>
                      <a:prstDash val="solid"/>
                    </a:lnL>
                    <a:lnR w="11185">
                      <a:solidFill>
                        <a:srgbClr val="1F1C1F"/>
                      </a:solidFill>
                      <a:prstDash val="solid"/>
                    </a:lnR>
                    <a:lnT w="2796">
                      <a:solidFill>
                        <a:srgbClr val="000000"/>
                      </a:solidFill>
                      <a:prstDash val="solid"/>
                    </a:lnT>
                    <a:lnB w="8388">
                      <a:solidFill>
                        <a:srgbClr val="1F1C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014">
                        <a:lnSpc>
                          <a:spcPct val="100000"/>
                        </a:lnSpc>
                      </a:pPr>
                      <a:r>
                        <a:rPr sz="1100" b="1" dirty="0">
                          <a:solidFill>
                            <a:srgbClr val="1D1C1C"/>
                          </a:solidFill>
                          <a:latin typeface="Arial"/>
                          <a:cs typeface="Arial"/>
                        </a:rPr>
                        <a:t>Hosting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1185">
                      <a:solidFill>
                        <a:srgbClr val="1F1C1F"/>
                      </a:solidFill>
                      <a:prstDash val="solid"/>
                    </a:lnL>
                    <a:lnR w="11185">
                      <a:solidFill>
                        <a:srgbClr val="1F1C1F"/>
                      </a:solidFill>
                      <a:prstDash val="solid"/>
                    </a:lnR>
                    <a:lnT w="2796">
                      <a:solidFill>
                        <a:srgbClr val="000000"/>
                      </a:solidFill>
                      <a:prstDash val="solid"/>
                    </a:lnT>
                    <a:lnB w="8388">
                      <a:solidFill>
                        <a:srgbClr val="1F1C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6839">
                        <a:lnSpc>
                          <a:spcPct val="100000"/>
                        </a:lnSpc>
                      </a:pPr>
                      <a:r>
                        <a:rPr sz="1100" b="1" dirty="0">
                          <a:solidFill>
                            <a:srgbClr val="1D1C1C"/>
                          </a:solidFill>
                          <a:latin typeface="Arial"/>
                          <a:cs typeface="Arial"/>
                        </a:rPr>
                        <a:t>Cost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1185">
                      <a:solidFill>
                        <a:srgbClr val="1F1C1F"/>
                      </a:solidFill>
                      <a:prstDash val="solid"/>
                    </a:lnL>
                    <a:lnR w="13981">
                      <a:solidFill>
                        <a:srgbClr val="1F1C1F"/>
                      </a:solidFill>
                      <a:prstDash val="solid"/>
                    </a:lnR>
                    <a:lnT w="2796">
                      <a:solidFill>
                        <a:srgbClr val="000000"/>
                      </a:solidFill>
                      <a:prstDash val="solid"/>
                    </a:lnT>
                    <a:lnB w="8388">
                      <a:solidFill>
                        <a:srgbClr val="1F1C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6839" marR="410209">
                        <a:lnSpc>
                          <a:spcPct val="120100"/>
                        </a:lnSpc>
                      </a:pPr>
                      <a:r>
                        <a:rPr sz="1100" b="1" dirty="0">
                          <a:solidFill>
                            <a:srgbClr val="1D1C1C"/>
                          </a:solidFill>
                          <a:latin typeface="Arial"/>
                          <a:cs typeface="Arial"/>
                        </a:rPr>
                        <a:t>Data Import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3981">
                      <a:solidFill>
                        <a:srgbClr val="1F1C1F"/>
                      </a:solidFill>
                      <a:prstDash val="solid"/>
                    </a:lnL>
                    <a:lnR w="11185">
                      <a:solidFill>
                        <a:srgbClr val="1F1C1F"/>
                      </a:solidFill>
                      <a:prstDash val="solid"/>
                    </a:lnR>
                    <a:lnT w="2796">
                      <a:solidFill>
                        <a:srgbClr val="000000"/>
                      </a:solidFill>
                      <a:prstDash val="solid"/>
                    </a:lnT>
                    <a:lnB w="8388">
                      <a:solidFill>
                        <a:srgbClr val="1F1C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014" marR="330835">
                        <a:lnSpc>
                          <a:spcPct val="118400"/>
                        </a:lnSpc>
                      </a:pPr>
                      <a:r>
                        <a:rPr sz="1100" b="1" dirty="0">
                          <a:solidFill>
                            <a:srgbClr val="1D1C1C"/>
                          </a:solidFill>
                          <a:latin typeface="Arial"/>
                          <a:cs typeface="Arial"/>
                        </a:rPr>
                        <a:t>Key Feature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1185">
                      <a:solidFill>
                        <a:srgbClr val="1F1C1F"/>
                      </a:solidFill>
                      <a:prstDash val="solid"/>
                    </a:lnL>
                    <a:lnR w="11185">
                      <a:solidFill>
                        <a:srgbClr val="1F1C1F"/>
                      </a:solidFill>
                      <a:prstDash val="solid"/>
                    </a:lnR>
                    <a:lnT w="2796">
                      <a:solidFill>
                        <a:srgbClr val="000000"/>
                      </a:solidFill>
                      <a:prstDash val="solid"/>
                    </a:lnT>
                    <a:lnB w="8388">
                      <a:solidFill>
                        <a:srgbClr val="1F1C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1760" marR="214629" indent="8255">
                        <a:lnSpc>
                          <a:spcPct val="118400"/>
                        </a:lnSpc>
                      </a:pPr>
                      <a:r>
                        <a:rPr sz="1100" b="1" dirty="0">
                          <a:solidFill>
                            <a:srgbClr val="1D1C1C"/>
                          </a:solidFill>
                          <a:latin typeface="Arial"/>
                          <a:cs typeface="Arial"/>
                        </a:rPr>
                        <a:t>Key Weakness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1185">
                      <a:solidFill>
                        <a:srgbClr val="1F1C1F"/>
                      </a:solidFill>
                      <a:prstDash val="solid"/>
                    </a:lnL>
                    <a:lnR w="2796">
                      <a:solidFill>
                        <a:srgbClr val="000000"/>
                      </a:solidFill>
                      <a:prstDash val="solid"/>
                    </a:lnR>
                    <a:lnT w="2796">
                      <a:solidFill>
                        <a:srgbClr val="000000"/>
                      </a:solidFill>
                      <a:prstDash val="solid"/>
                    </a:lnT>
                    <a:lnB w="8388">
                      <a:solidFill>
                        <a:srgbClr val="1F1C1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4683">
                <a:tc>
                  <a:txBody>
                    <a:bodyPr/>
                    <a:lstStyle/>
                    <a:p>
                      <a:pPr marL="140970">
                        <a:lnSpc>
                          <a:spcPct val="100000"/>
                        </a:lnSpc>
                      </a:pPr>
                      <a:r>
                        <a:rPr sz="1100" b="1" dirty="0">
                          <a:solidFill>
                            <a:srgbClr val="1D1C1C"/>
                          </a:solidFill>
                          <a:latin typeface="Arial"/>
                          <a:cs typeface="Arial"/>
                        </a:rPr>
                        <a:t>YNAB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796">
                      <a:solidFill>
                        <a:srgbClr val="000000"/>
                      </a:solidFill>
                      <a:prstDash val="solid"/>
                    </a:lnL>
                    <a:lnR w="11185">
                      <a:solidFill>
                        <a:srgbClr val="1F1C1F"/>
                      </a:solidFill>
                      <a:prstDash val="solid"/>
                    </a:lnR>
                    <a:lnT w="8388">
                      <a:solidFill>
                        <a:srgbClr val="1F1C1F"/>
                      </a:solidFill>
                      <a:prstDash val="solid"/>
                    </a:lnT>
                    <a:lnB w="11185">
                      <a:solidFill>
                        <a:srgbClr val="1F1C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0">
                        <a:lnSpc>
                          <a:spcPct val="100000"/>
                        </a:lnSpc>
                      </a:pPr>
                      <a:r>
                        <a:rPr sz="1050" dirty="0">
                          <a:solidFill>
                            <a:srgbClr val="1D1C1C"/>
                          </a:solidFill>
                          <a:latin typeface="Arial"/>
                          <a:cs typeface="Arial"/>
                        </a:rPr>
                        <a:t>Cloud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1185">
                      <a:solidFill>
                        <a:srgbClr val="1F1C1F"/>
                      </a:solidFill>
                      <a:prstDash val="solid"/>
                    </a:lnL>
                    <a:lnR w="11185">
                      <a:solidFill>
                        <a:srgbClr val="1F1C1F"/>
                      </a:solidFill>
                      <a:prstDash val="solid"/>
                    </a:lnR>
                    <a:lnT w="8388">
                      <a:solidFill>
                        <a:srgbClr val="1F1C1F"/>
                      </a:solidFill>
                      <a:prstDash val="solid"/>
                    </a:lnT>
                    <a:lnB w="11185">
                      <a:solidFill>
                        <a:srgbClr val="1F1C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014" marR="285115">
                        <a:lnSpc>
                          <a:spcPct val="122300"/>
                        </a:lnSpc>
                      </a:pPr>
                      <a:r>
                        <a:rPr sz="1050" dirty="0">
                          <a:solidFill>
                            <a:srgbClr val="1D1C1C"/>
                          </a:solidFill>
                          <a:latin typeface="Arial"/>
                          <a:cs typeface="Arial"/>
                        </a:rPr>
                        <a:t>High ($109/yr)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1185">
                      <a:solidFill>
                        <a:srgbClr val="1F1C1F"/>
                      </a:solidFill>
                      <a:prstDash val="solid"/>
                    </a:lnL>
                    <a:lnR w="13981">
                      <a:solidFill>
                        <a:srgbClr val="1F1C1F"/>
                      </a:solidFill>
                      <a:prstDash val="solid"/>
                    </a:lnR>
                    <a:lnT w="8388">
                      <a:solidFill>
                        <a:srgbClr val="1F1C1F"/>
                      </a:solidFill>
                      <a:prstDash val="solid"/>
                    </a:lnT>
                    <a:lnB w="11185">
                      <a:solidFill>
                        <a:srgbClr val="1F1C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8585">
                        <a:lnSpc>
                          <a:spcPct val="100000"/>
                        </a:lnSpc>
                      </a:pPr>
                      <a:r>
                        <a:rPr sz="1050" dirty="0">
                          <a:solidFill>
                            <a:srgbClr val="1D1C1C"/>
                          </a:solidFill>
                          <a:latin typeface="Arial"/>
                          <a:cs typeface="Arial"/>
                        </a:rPr>
                        <a:t>API</a:t>
                      </a:r>
                      <a:r>
                        <a:rPr sz="1050" spc="45" dirty="0">
                          <a:solidFill>
                            <a:srgbClr val="1D1C1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50" dirty="0">
                          <a:solidFill>
                            <a:srgbClr val="1D1C1C"/>
                          </a:solidFill>
                          <a:latin typeface="Arial"/>
                          <a:cs typeface="Arial"/>
                        </a:rPr>
                        <a:t>Sync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3981">
                      <a:solidFill>
                        <a:srgbClr val="1F1C1F"/>
                      </a:solidFill>
                      <a:prstDash val="solid"/>
                    </a:lnL>
                    <a:lnR w="11185">
                      <a:solidFill>
                        <a:srgbClr val="1F1C1F"/>
                      </a:solidFill>
                      <a:prstDash val="solid"/>
                    </a:lnR>
                    <a:lnT w="8388">
                      <a:solidFill>
                        <a:srgbClr val="1F1C1F"/>
                      </a:solidFill>
                      <a:prstDash val="solid"/>
                    </a:lnT>
                    <a:lnB w="11185">
                      <a:solidFill>
                        <a:srgbClr val="1F1C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014" marR="125095" indent="-5715">
                        <a:lnSpc>
                          <a:spcPct val="124100"/>
                        </a:lnSpc>
                      </a:pPr>
                      <a:r>
                        <a:rPr sz="1050" dirty="0">
                          <a:solidFill>
                            <a:srgbClr val="1D1C1C"/>
                          </a:solidFill>
                          <a:latin typeface="Arial"/>
                          <a:cs typeface="Arial"/>
                        </a:rPr>
                        <a:t>Zero-Based Budgeting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1185">
                      <a:solidFill>
                        <a:srgbClr val="1F1C1F"/>
                      </a:solidFill>
                      <a:prstDash val="solid"/>
                    </a:lnL>
                    <a:lnR w="11185">
                      <a:solidFill>
                        <a:srgbClr val="1F1C1F"/>
                      </a:solidFill>
                      <a:prstDash val="solid"/>
                    </a:lnR>
                    <a:lnT w="8388">
                      <a:solidFill>
                        <a:srgbClr val="1F1C1F"/>
                      </a:solidFill>
                      <a:prstDash val="solid"/>
                    </a:lnT>
                    <a:lnB w="11185">
                      <a:solidFill>
                        <a:srgbClr val="1F1C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014">
                        <a:lnSpc>
                          <a:spcPct val="100000"/>
                        </a:lnSpc>
                      </a:pPr>
                      <a:r>
                        <a:rPr sz="1050" dirty="0">
                          <a:solidFill>
                            <a:srgbClr val="1D1C1C"/>
                          </a:solidFill>
                          <a:latin typeface="Arial"/>
                          <a:cs typeface="Arial"/>
                        </a:rPr>
                        <a:t>Expensive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1185">
                      <a:solidFill>
                        <a:srgbClr val="1F1C1F"/>
                      </a:solidFill>
                      <a:prstDash val="solid"/>
                    </a:lnL>
                    <a:lnR w="2796">
                      <a:solidFill>
                        <a:srgbClr val="000000"/>
                      </a:solidFill>
                      <a:prstDash val="solid"/>
                    </a:lnR>
                    <a:lnT w="8388">
                      <a:solidFill>
                        <a:srgbClr val="1F1C1F"/>
                      </a:solidFill>
                      <a:prstDash val="solid"/>
                    </a:lnT>
                    <a:lnB w="11185">
                      <a:solidFill>
                        <a:srgbClr val="1F1C1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4684">
                <a:tc>
                  <a:txBody>
                    <a:bodyPr/>
                    <a:lstStyle/>
                    <a:p>
                      <a:pPr marL="149225">
                        <a:lnSpc>
                          <a:spcPct val="100000"/>
                        </a:lnSpc>
                      </a:pPr>
                      <a:r>
                        <a:rPr sz="1100" b="1" dirty="0">
                          <a:solidFill>
                            <a:srgbClr val="1D1C1C"/>
                          </a:solidFill>
                          <a:latin typeface="Arial"/>
                          <a:cs typeface="Arial"/>
                        </a:rPr>
                        <a:t>Monarch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796">
                      <a:solidFill>
                        <a:srgbClr val="000000"/>
                      </a:solidFill>
                      <a:prstDash val="solid"/>
                    </a:lnL>
                    <a:lnR w="11185">
                      <a:solidFill>
                        <a:srgbClr val="1F1C1F"/>
                      </a:solidFill>
                      <a:prstDash val="solid"/>
                    </a:lnR>
                    <a:lnT w="11185">
                      <a:solidFill>
                        <a:srgbClr val="1F1C1F"/>
                      </a:solidFill>
                      <a:prstDash val="solid"/>
                    </a:lnT>
                    <a:lnB w="8388">
                      <a:solidFill>
                        <a:srgbClr val="1F1C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0">
                        <a:lnSpc>
                          <a:spcPct val="100000"/>
                        </a:lnSpc>
                      </a:pPr>
                      <a:r>
                        <a:rPr sz="1050" dirty="0">
                          <a:solidFill>
                            <a:srgbClr val="1D1C1C"/>
                          </a:solidFill>
                          <a:latin typeface="Arial"/>
                          <a:cs typeface="Arial"/>
                        </a:rPr>
                        <a:t>Cloud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1185">
                      <a:solidFill>
                        <a:srgbClr val="1F1C1F"/>
                      </a:solidFill>
                      <a:prstDash val="solid"/>
                    </a:lnL>
                    <a:lnR w="11185">
                      <a:solidFill>
                        <a:srgbClr val="1F1C1F"/>
                      </a:solidFill>
                      <a:prstDash val="solid"/>
                    </a:lnR>
                    <a:lnT w="11185">
                      <a:solidFill>
                        <a:srgbClr val="1F1C1F"/>
                      </a:solidFill>
                      <a:prstDash val="solid"/>
                    </a:lnT>
                    <a:lnB w="8388">
                      <a:solidFill>
                        <a:srgbClr val="1F1C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014" marR="354330">
                        <a:lnSpc>
                          <a:spcPct val="122300"/>
                        </a:lnSpc>
                      </a:pPr>
                      <a:r>
                        <a:rPr sz="1050" dirty="0">
                          <a:solidFill>
                            <a:srgbClr val="1D1C1C"/>
                          </a:solidFill>
                          <a:latin typeface="Arial"/>
                          <a:cs typeface="Arial"/>
                        </a:rPr>
                        <a:t>High ($99/yr)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1185">
                      <a:solidFill>
                        <a:srgbClr val="1F1C1F"/>
                      </a:solidFill>
                      <a:prstDash val="solid"/>
                    </a:lnL>
                    <a:lnR w="13981">
                      <a:solidFill>
                        <a:srgbClr val="1F1C1F"/>
                      </a:solidFill>
                      <a:prstDash val="solid"/>
                    </a:lnR>
                    <a:lnT w="11185">
                      <a:solidFill>
                        <a:srgbClr val="1F1C1F"/>
                      </a:solidFill>
                      <a:prstDash val="solid"/>
                    </a:lnT>
                    <a:lnB w="8388">
                      <a:solidFill>
                        <a:srgbClr val="1F1C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8585">
                        <a:lnSpc>
                          <a:spcPct val="100000"/>
                        </a:lnSpc>
                      </a:pPr>
                      <a:r>
                        <a:rPr sz="1050" dirty="0">
                          <a:solidFill>
                            <a:srgbClr val="1D1C1C"/>
                          </a:solidFill>
                          <a:latin typeface="Arial"/>
                          <a:cs typeface="Arial"/>
                        </a:rPr>
                        <a:t>API</a:t>
                      </a:r>
                      <a:r>
                        <a:rPr sz="1050" spc="45" dirty="0">
                          <a:solidFill>
                            <a:srgbClr val="1D1C1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50" dirty="0">
                          <a:solidFill>
                            <a:srgbClr val="1D1C1C"/>
                          </a:solidFill>
                          <a:latin typeface="Arial"/>
                          <a:cs typeface="Arial"/>
                        </a:rPr>
                        <a:t>Sync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3981">
                      <a:solidFill>
                        <a:srgbClr val="1F1C1F"/>
                      </a:solidFill>
                      <a:prstDash val="solid"/>
                    </a:lnL>
                    <a:lnR w="11185">
                      <a:solidFill>
                        <a:srgbClr val="1F1C1F"/>
                      </a:solidFill>
                      <a:prstDash val="solid"/>
                    </a:lnR>
                    <a:lnT w="11185">
                      <a:solidFill>
                        <a:srgbClr val="1F1C1F"/>
                      </a:solidFill>
                      <a:prstDash val="solid"/>
                    </a:lnT>
                    <a:lnB w="8388">
                      <a:solidFill>
                        <a:srgbClr val="1F1C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014" marR="165735" indent="-8890">
                        <a:lnSpc>
                          <a:spcPct val="125800"/>
                        </a:lnSpc>
                      </a:pPr>
                      <a:r>
                        <a:rPr sz="1050" dirty="0">
                          <a:solidFill>
                            <a:srgbClr val="1D1C1C"/>
                          </a:solidFill>
                          <a:latin typeface="Arial"/>
                          <a:cs typeface="Arial"/>
                        </a:rPr>
                        <a:t>All-in-One Dashboard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1185">
                      <a:solidFill>
                        <a:srgbClr val="1F1C1F"/>
                      </a:solidFill>
                      <a:prstDash val="solid"/>
                    </a:lnL>
                    <a:lnR w="11185">
                      <a:solidFill>
                        <a:srgbClr val="1F1C1F"/>
                      </a:solidFill>
                      <a:prstDash val="solid"/>
                    </a:lnR>
                    <a:lnT w="11185">
                      <a:solidFill>
                        <a:srgbClr val="1F1C1F"/>
                      </a:solidFill>
                      <a:prstDash val="solid"/>
                    </a:lnT>
                    <a:lnB w="8388">
                      <a:solidFill>
                        <a:srgbClr val="1F1C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014" marR="138430" indent="-5715">
                        <a:lnSpc>
                          <a:spcPct val="124100"/>
                        </a:lnSpc>
                      </a:pPr>
                      <a:r>
                        <a:rPr sz="1050" dirty="0">
                          <a:solidFill>
                            <a:srgbClr val="1D1C1C"/>
                          </a:solidFill>
                          <a:latin typeface="Arial"/>
                          <a:cs typeface="Arial"/>
                        </a:rPr>
                        <a:t>Cloud Privacy</a:t>
                      </a:r>
                      <a:r>
                        <a:rPr sz="1050" spc="45" dirty="0">
                          <a:solidFill>
                            <a:srgbClr val="1D1C1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50" dirty="0">
                          <a:solidFill>
                            <a:srgbClr val="1D1C1C"/>
                          </a:solidFill>
                          <a:latin typeface="Arial"/>
                          <a:cs typeface="Arial"/>
                        </a:rPr>
                        <a:t>Risk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1185">
                      <a:solidFill>
                        <a:srgbClr val="1F1C1F"/>
                      </a:solidFill>
                      <a:prstDash val="solid"/>
                    </a:lnL>
                    <a:lnR w="2796">
                      <a:solidFill>
                        <a:srgbClr val="000000"/>
                      </a:solidFill>
                      <a:prstDash val="solid"/>
                    </a:lnR>
                    <a:lnT w="11185">
                      <a:solidFill>
                        <a:srgbClr val="1F1C1F"/>
                      </a:solidFill>
                      <a:prstDash val="solid"/>
                    </a:lnT>
                    <a:lnB w="8388">
                      <a:solidFill>
                        <a:srgbClr val="1F1C1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3481">
                <a:tc>
                  <a:txBody>
                    <a:bodyPr/>
                    <a:lstStyle/>
                    <a:p>
                      <a:pPr marL="143510">
                        <a:lnSpc>
                          <a:spcPct val="100000"/>
                        </a:lnSpc>
                      </a:pPr>
                      <a:r>
                        <a:rPr sz="1100" b="1" dirty="0">
                          <a:solidFill>
                            <a:srgbClr val="1D1C1C"/>
                          </a:solidFill>
                          <a:latin typeface="Arial"/>
                          <a:cs typeface="Arial"/>
                        </a:rPr>
                        <a:t>Simplifi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796">
                      <a:solidFill>
                        <a:srgbClr val="000000"/>
                      </a:solidFill>
                      <a:prstDash val="solid"/>
                    </a:lnL>
                    <a:lnR w="11185">
                      <a:solidFill>
                        <a:srgbClr val="1F1C1F"/>
                      </a:solidFill>
                      <a:prstDash val="solid"/>
                    </a:lnR>
                    <a:lnT w="8388">
                      <a:solidFill>
                        <a:srgbClr val="1F1C1F"/>
                      </a:solidFill>
                      <a:prstDash val="solid"/>
                    </a:lnT>
                    <a:lnB w="8388">
                      <a:solidFill>
                        <a:srgbClr val="1F1C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0">
                        <a:lnSpc>
                          <a:spcPct val="100000"/>
                        </a:lnSpc>
                      </a:pPr>
                      <a:r>
                        <a:rPr sz="1050" dirty="0">
                          <a:solidFill>
                            <a:srgbClr val="1D1C1C"/>
                          </a:solidFill>
                          <a:latin typeface="Arial"/>
                          <a:cs typeface="Arial"/>
                        </a:rPr>
                        <a:t>Cloud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1185">
                      <a:solidFill>
                        <a:srgbClr val="1F1C1F"/>
                      </a:solidFill>
                      <a:prstDash val="solid"/>
                    </a:lnL>
                    <a:lnR w="11185">
                      <a:solidFill>
                        <a:srgbClr val="1F1C1F"/>
                      </a:solidFill>
                      <a:prstDash val="solid"/>
                    </a:lnR>
                    <a:lnT w="8388">
                      <a:solidFill>
                        <a:srgbClr val="1F1C1F"/>
                      </a:solidFill>
                      <a:prstDash val="solid"/>
                    </a:lnT>
                    <a:lnB w="8388">
                      <a:solidFill>
                        <a:srgbClr val="1F1C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014">
                        <a:lnSpc>
                          <a:spcPct val="100000"/>
                        </a:lnSpc>
                      </a:pPr>
                      <a:r>
                        <a:rPr sz="1050" dirty="0">
                          <a:solidFill>
                            <a:srgbClr val="1D1C1C"/>
                          </a:solidFill>
                          <a:latin typeface="Arial"/>
                          <a:cs typeface="Arial"/>
                        </a:rPr>
                        <a:t>Medium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1185">
                      <a:solidFill>
                        <a:srgbClr val="1F1C1F"/>
                      </a:solidFill>
                      <a:prstDash val="solid"/>
                    </a:lnL>
                    <a:lnR w="13981">
                      <a:solidFill>
                        <a:srgbClr val="1F1C1F"/>
                      </a:solidFill>
                      <a:prstDash val="solid"/>
                    </a:lnR>
                    <a:lnT w="8388">
                      <a:solidFill>
                        <a:srgbClr val="1F1C1F"/>
                      </a:solidFill>
                      <a:prstDash val="solid"/>
                    </a:lnT>
                    <a:lnB w="8388">
                      <a:solidFill>
                        <a:srgbClr val="1F1C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8585">
                        <a:lnSpc>
                          <a:spcPct val="100000"/>
                        </a:lnSpc>
                      </a:pPr>
                      <a:r>
                        <a:rPr sz="1050" dirty="0">
                          <a:solidFill>
                            <a:srgbClr val="1D1C1C"/>
                          </a:solidFill>
                          <a:latin typeface="Arial"/>
                          <a:cs typeface="Arial"/>
                        </a:rPr>
                        <a:t>API</a:t>
                      </a:r>
                      <a:r>
                        <a:rPr sz="1050" spc="45" dirty="0">
                          <a:solidFill>
                            <a:srgbClr val="1D1C1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50" dirty="0">
                          <a:solidFill>
                            <a:srgbClr val="1D1C1C"/>
                          </a:solidFill>
                          <a:latin typeface="Arial"/>
                          <a:cs typeface="Arial"/>
                        </a:rPr>
                        <a:t>Sync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3981">
                      <a:solidFill>
                        <a:srgbClr val="1F1C1F"/>
                      </a:solidFill>
                      <a:prstDash val="solid"/>
                    </a:lnL>
                    <a:lnR w="11185">
                      <a:solidFill>
                        <a:srgbClr val="1F1C1F"/>
                      </a:solidFill>
                      <a:prstDash val="solid"/>
                    </a:lnR>
                    <a:lnT w="8388">
                      <a:solidFill>
                        <a:srgbClr val="1F1C1F"/>
                      </a:solidFill>
                      <a:prstDash val="solid"/>
                    </a:lnT>
                    <a:lnB w="8388">
                      <a:solidFill>
                        <a:srgbClr val="1F1C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014">
                        <a:lnSpc>
                          <a:spcPct val="100000"/>
                        </a:lnSpc>
                      </a:pPr>
                      <a:r>
                        <a:rPr sz="1050" dirty="0">
                          <a:solidFill>
                            <a:srgbClr val="1D1C1C"/>
                          </a:solidFill>
                          <a:latin typeface="Arial"/>
                          <a:cs typeface="Arial"/>
                        </a:rPr>
                        <a:t>Reporting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1185">
                      <a:solidFill>
                        <a:srgbClr val="1F1C1F"/>
                      </a:solidFill>
                      <a:prstDash val="solid"/>
                    </a:lnL>
                    <a:lnR w="11185">
                      <a:solidFill>
                        <a:srgbClr val="1F1C1F"/>
                      </a:solidFill>
                      <a:prstDash val="solid"/>
                    </a:lnR>
                    <a:lnT w="8388">
                      <a:solidFill>
                        <a:srgbClr val="1F1C1F"/>
                      </a:solidFill>
                      <a:prstDash val="solid"/>
                    </a:lnT>
                    <a:lnB w="8388">
                      <a:solidFill>
                        <a:srgbClr val="1F1C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6839" marR="182880" indent="-3175">
                        <a:lnSpc>
                          <a:spcPct val="125800"/>
                        </a:lnSpc>
                      </a:pPr>
                      <a:r>
                        <a:rPr sz="1050" dirty="0">
                          <a:solidFill>
                            <a:srgbClr val="1D1C1C"/>
                          </a:solidFill>
                          <a:latin typeface="Arial"/>
                          <a:cs typeface="Arial"/>
                        </a:rPr>
                        <a:t>Subscriptio n Model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1185">
                      <a:solidFill>
                        <a:srgbClr val="1F1C1F"/>
                      </a:solidFill>
                      <a:prstDash val="solid"/>
                    </a:lnL>
                    <a:lnR w="2796">
                      <a:solidFill>
                        <a:srgbClr val="000000"/>
                      </a:solidFill>
                      <a:prstDash val="solid"/>
                    </a:lnR>
                    <a:lnT w="8388">
                      <a:solidFill>
                        <a:srgbClr val="1F1C1F"/>
                      </a:solidFill>
                      <a:prstDash val="solid"/>
                    </a:lnT>
                    <a:lnB w="8388">
                      <a:solidFill>
                        <a:srgbClr val="1F1C1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3481">
                <a:tc>
                  <a:txBody>
                    <a:bodyPr/>
                    <a:lstStyle/>
                    <a:p>
                      <a:pPr marL="149225">
                        <a:lnSpc>
                          <a:spcPct val="100000"/>
                        </a:lnSpc>
                      </a:pPr>
                      <a:r>
                        <a:rPr sz="1100" b="1" dirty="0">
                          <a:solidFill>
                            <a:srgbClr val="1D1C1C"/>
                          </a:solidFill>
                          <a:latin typeface="Arial"/>
                          <a:cs typeface="Arial"/>
                        </a:rPr>
                        <a:t>Empower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796">
                      <a:solidFill>
                        <a:srgbClr val="000000"/>
                      </a:solidFill>
                      <a:prstDash val="solid"/>
                    </a:lnL>
                    <a:lnR w="11185">
                      <a:solidFill>
                        <a:srgbClr val="1F1C1F"/>
                      </a:solidFill>
                      <a:prstDash val="solid"/>
                    </a:lnR>
                    <a:lnT w="8388">
                      <a:solidFill>
                        <a:srgbClr val="1F1C1F"/>
                      </a:solidFill>
                      <a:prstDash val="solid"/>
                    </a:lnT>
                    <a:lnB w="8388">
                      <a:solidFill>
                        <a:srgbClr val="1F1C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0">
                        <a:lnSpc>
                          <a:spcPct val="100000"/>
                        </a:lnSpc>
                      </a:pPr>
                      <a:r>
                        <a:rPr sz="1050" dirty="0">
                          <a:solidFill>
                            <a:srgbClr val="1D1C1C"/>
                          </a:solidFill>
                          <a:latin typeface="Arial"/>
                          <a:cs typeface="Arial"/>
                        </a:rPr>
                        <a:t>Cloud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1185">
                      <a:solidFill>
                        <a:srgbClr val="1F1C1F"/>
                      </a:solidFill>
                      <a:prstDash val="solid"/>
                    </a:lnL>
                    <a:lnR w="11185">
                      <a:solidFill>
                        <a:srgbClr val="1F1C1F"/>
                      </a:solidFill>
                      <a:prstDash val="solid"/>
                    </a:lnR>
                    <a:lnT w="8388">
                      <a:solidFill>
                        <a:srgbClr val="1F1C1F"/>
                      </a:solidFill>
                      <a:prstDash val="solid"/>
                    </a:lnT>
                    <a:lnB w="8388">
                      <a:solidFill>
                        <a:srgbClr val="1F1C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014">
                        <a:lnSpc>
                          <a:spcPct val="100000"/>
                        </a:lnSpc>
                      </a:pPr>
                      <a:r>
                        <a:rPr sz="1050" dirty="0">
                          <a:solidFill>
                            <a:srgbClr val="1D1C1C"/>
                          </a:solidFill>
                          <a:latin typeface="Arial"/>
                          <a:cs typeface="Arial"/>
                        </a:rPr>
                        <a:t>Free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1185">
                      <a:solidFill>
                        <a:srgbClr val="1F1C1F"/>
                      </a:solidFill>
                      <a:prstDash val="solid"/>
                    </a:lnL>
                    <a:lnR w="13981">
                      <a:solidFill>
                        <a:srgbClr val="1F1C1F"/>
                      </a:solidFill>
                      <a:prstDash val="solid"/>
                    </a:lnR>
                    <a:lnT w="8388">
                      <a:solidFill>
                        <a:srgbClr val="1F1C1F"/>
                      </a:solidFill>
                      <a:prstDash val="solid"/>
                    </a:lnT>
                    <a:lnB w="8388">
                      <a:solidFill>
                        <a:srgbClr val="1F1C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8585">
                        <a:lnSpc>
                          <a:spcPct val="100000"/>
                        </a:lnSpc>
                      </a:pPr>
                      <a:r>
                        <a:rPr sz="1050" dirty="0">
                          <a:solidFill>
                            <a:srgbClr val="1D1C1C"/>
                          </a:solidFill>
                          <a:latin typeface="Arial"/>
                          <a:cs typeface="Arial"/>
                        </a:rPr>
                        <a:t>API</a:t>
                      </a:r>
                      <a:r>
                        <a:rPr sz="1050" spc="45" dirty="0">
                          <a:solidFill>
                            <a:srgbClr val="1D1C1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50" dirty="0">
                          <a:solidFill>
                            <a:srgbClr val="1D1C1C"/>
                          </a:solidFill>
                          <a:latin typeface="Arial"/>
                          <a:cs typeface="Arial"/>
                        </a:rPr>
                        <a:t>Sync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3981">
                      <a:solidFill>
                        <a:srgbClr val="1F1C1F"/>
                      </a:solidFill>
                      <a:prstDash val="solid"/>
                    </a:lnL>
                    <a:lnR w="11185">
                      <a:solidFill>
                        <a:srgbClr val="1F1C1F"/>
                      </a:solidFill>
                      <a:prstDash val="solid"/>
                    </a:lnR>
                    <a:lnT w="8388">
                      <a:solidFill>
                        <a:srgbClr val="1F1C1F"/>
                      </a:solidFill>
                      <a:prstDash val="solid"/>
                    </a:lnT>
                    <a:lnB w="8388">
                      <a:solidFill>
                        <a:srgbClr val="1F1C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1760" marR="327660">
                        <a:lnSpc>
                          <a:spcPct val="125800"/>
                        </a:lnSpc>
                      </a:pPr>
                      <a:r>
                        <a:rPr sz="1050" dirty="0">
                          <a:solidFill>
                            <a:srgbClr val="1D1C1C"/>
                          </a:solidFill>
                          <a:latin typeface="Arial"/>
                          <a:cs typeface="Arial"/>
                        </a:rPr>
                        <a:t>Wealth Tracking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1185">
                      <a:solidFill>
                        <a:srgbClr val="1F1C1F"/>
                      </a:solidFill>
                      <a:prstDash val="solid"/>
                    </a:lnL>
                    <a:lnR w="11185">
                      <a:solidFill>
                        <a:srgbClr val="1F1C1F"/>
                      </a:solidFill>
                      <a:prstDash val="solid"/>
                    </a:lnR>
                    <a:lnT w="8388">
                      <a:solidFill>
                        <a:srgbClr val="1F1C1F"/>
                      </a:solidFill>
                      <a:prstDash val="solid"/>
                    </a:lnT>
                    <a:lnB w="8388">
                      <a:solidFill>
                        <a:srgbClr val="1F1C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014" marR="240665" indent="-8890">
                        <a:lnSpc>
                          <a:spcPct val="125800"/>
                        </a:lnSpc>
                      </a:pPr>
                      <a:r>
                        <a:rPr sz="1050" dirty="0">
                          <a:solidFill>
                            <a:srgbClr val="1D1C1C"/>
                          </a:solidFill>
                          <a:latin typeface="Arial"/>
                          <a:cs typeface="Arial"/>
                        </a:rPr>
                        <a:t>Weak Budgeting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1185">
                      <a:solidFill>
                        <a:srgbClr val="1F1C1F"/>
                      </a:solidFill>
                      <a:prstDash val="solid"/>
                    </a:lnL>
                    <a:lnR w="2796">
                      <a:solidFill>
                        <a:srgbClr val="000000"/>
                      </a:solidFill>
                      <a:prstDash val="solid"/>
                    </a:lnR>
                    <a:lnT w="8388">
                      <a:solidFill>
                        <a:srgbClr val="1F1C1F"/>
                      </a:solidFill>
                      <a:prstDash val="solid"/>
                    </a:lnT>
                    <a:lnB w="8388">
                      <a:solidFill>
                        <a:srgbClr val="1F1C1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6668">
                <a:tc>
                  <a:txBody>
                    <a:bodyPr/>
                    <a:lstStyle/>
                    <a:p>
                      <a:pPr marL="146685">
                        <a:lnSpc>
                          <a:spcPct val="100000"/>
                        </a:lnSpc>
                      </a:pPr>
                      <a:r>
                        <a:rPr sz="1100" b="1" dirty="0">
                          <a:solidFill>
                            <a:srgbClr val="1D1C1C"/>
                          </a:solidFill>
                          <a:latin typeface="Arial"/>
                          <a:cs typeface="Arial"/>
                        </a:rPr>
                        <a:t>Copilot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796">
                      <a:solidFill>
                        <a:srgbClr val="000000"/>
                      </a:solidFill>
                      <a:prstDash val="solid"/>
                    </a:lnL>
                    <a:lnR w="11185">
                      <a:solidFill>
                        <a:srgbClr val="1F1C1F"/>
                      </a:solidFill>
                      <a:prstDash val="solid"/>
                    </a:lnR>
                    <a:lnT w="8388">
                      <a:solidFill>
                        <a:srgbClr val="1F1C1F"/>
                      </a:solidFill>
                      <a:prstDash val="solid"/>
                    </a:lnT>
                    <a:lnB w="8388">
                      <a:solidFill>
                        <a:srgbClr val="1F1C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0">
                        <a:lnSpc>
                          <a:spcPct val="100000"/>
                        </a:lnSpc>
                      </a:pPr>
                      <a:r>
                        <a:rPr sz="1050" dirty="0">
                          <a:solidFill>
                            <a:srgbClr val="1D1C1C"/>
                          </a:solidFill>
                          <a:latin typeface="Arial"/>
                          <a:cs typeface="Arial"/>
                        </a:rPr>
                        <a:t>Cloud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1185">
                      <a:solidFill>
                        <a:srgbClr val="1F1C1F"/>
                      </a:solidFill>
                      <a:prstDash val="solid"/>
                    </a:lnL>
                    <a:lnR w="11185">
                      <a:solidFill>
                        <a:srgbClr val="1F1C1F"/>
                      </a:solidFill>
                      <a:prstDash val="solid"/>
                    </a:lnR>
                    <a:lnT w="8388">
                      <a:solidFill>
                        <a:srgbClr val="1F1C1F"/>
                      </a:solidFill>
                      <a:prstDash val="solid"/>
                    </a:lnT>
                    <a:lnB w="8388">
                      <a:solidFill>
                        <a:srgbClr val="1F1C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014">
                        <a:lnSpc>
                          <a:spcPct val="100000"/>
                        </a:lnSpc>
                      </a:pPr>
                      <a:r>
                        <a:rPr sz="1050" dirty="0">
                          <a:solidFill>
                            <a:srgbClr val="1D1C1C"/>
                          </a:solidFill>
                          <a:latin typeface="Arial"/>
                          <a:cs typeface="Arial"/>
                        </a:rPr>
                        <a:t>High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1185">
                      <a:solidFill>
                        <a:srgbClr val="1F1C1F"/>
                      </a:solidFill>
                      <a:prstDash val="solid"/>
                    </a:lnL>
                    <a:lnR w="13981">
                      <a:solidFill>
                        <a:srgbClr val="1F1C1F"/>
                      </a:solidFill>
                      <a:prstDash val="solid"/>
                    </a:lnR>
                    <a:lnT w="8388">
                      <a:solidFill>
                        <a:srgbClr val="1F1C1F"/>
                      </a:solidFill>
                      <a:prstDash val="solid"/>
                    </a:lnT>
                    <a:lnB w="8388">
                      <a:solidFill>
                        <a:srgbClr val="1F1C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8585">
                        <a:lnSpc>
                          <a:spcPct val="100000"/>
                        </a:lnSpc>
                      </a:pPr>
                      <a:r>
                        <a:rPr sz="1050" dirty="0">
                          <a:solidFill>
                            <a:srgbClr val="1D1C1C"/>
                          </a:solidFill>
                          <a:latin typeface="Arial"/>
                          <a:cs typeface="Arial"/>
                        </a:rPr>
                        <a:t>API</a:t>
                      </a:r>
                      <a:r>
                        <a:rPr sz="1050" spc="45" dirty="0">
                          <a:solidFill>
                            <a:srgbClr val="1D1C1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50" dirty="0">
                          <a:solidFill>
                            <a:srgbClr val="1D1C1C"/>
                          </a:solidFill>
                          <a:latin typeface="Arial"/>
                          <a:cs typeface="Arial"/>
                        </a:rPr>
                        <a:t>Sync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3981">
                      <a:solidFill>
                        <a:srgbClr val="1F1C1F"/>
                      </a:solidFill>
                      <a:prstDash val="solid"/>
                    </a:lnL>
                    <a:lnR w="11185">
                      <a:solidFill>
                        <a:srgbClr val="1F1C1F"/>
                      </a:solidFill>
                      <a:prstDash val="solid"/>
                    </a:lnR>
                    <a:lnT w="8388">
                      <a:solidFill>
                        <a:srgbClr val="1F1C1F"/>
                      </a:solidFill>
                      <a:prstDash val="solid"/>
                    </a:lnT>
                    <a:lnB w="8388">
                      <a:solidFill>
                        <a:srgbClr val="1F1C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014">
                        <a:lnSpc>
                          <a:spcPct val="100000"/>
                        </a:lnSpc>
                      </a:pPr>
                      <a:r>
                        <a:rPr sz="1050" dirty="0">
                          <a:solidFill>
                            <a:srgbClr val="1D1C1C"/>
                          </a:solidFill>
                          <a:latin typeface="Arial"/>
                          <a:cs typeface="Arial"/>
                        </a:rPr>
                        <a:t>ML</a:t>
                      </a:r>
                      <a:endParaRPr sz="1050">
                        <a:latin typeface="Arial"/>
                        <a:cs typeface="Arial"/>
                      </a:endParaRPr>
                    </a:p>
                    <a:p>
                      <a:pPr marL="116839" marR="127000" indent="-3175">
                        <a:lnSpc>
                          <a:spcPts val="1590"/>
                        </a:lnSpc>
                        <a:spcBef>
                          <a:spcPts val="80"/>
                        </a:spcBef>
                      </a:pPr>
                      <a:r>
                        <a:rPr sz="1050" dirty="0">
                          <a:solidFill>
                            <a:srgbClr val="1D1C1C"/>
                          </a:solidFill>
                          <a:latin typeface="Arial"/>
                          <a:cs typeface="Arial"/>
                        </a:rPr>
                        <a:t>Categorizat ion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1185">
                      <a:solidFill>
                        <a:srgbClr val="1F1C1F"/>
                      </a:solidFill>
                      <a:prstDash val="solid"/>
                    </a:lnL>
                    <a:lnR w="11185">
                      <a:solidFill>
                        <a:srgbClr val="1F1C1F"/>
                      </a:solidFill>
                      <a:prstDash val="solid"/>
                    </a:lnR>
                    <a:lnT w="8388">
                      <a:solidFill>
                        <a:srgbClr val="1F1C1F"/>
                      </a:solidFill>
                      <a:prstDash val="solid"/>
                    </a:lnT>
                    <a:lnB w="8388">
                      <a:solidFill>
                        <a:srgbClr val="1F1C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0" marR="356235" indent="5080">
                        <a:lnSpc>
                          <a:spcPct val="124100"/>
                        </a:lnSpc>
                      </a:pPr>
                      <a:r>
                        <a:rPr sz="1050" dirty="0">
                          <a:solidFill>
                            <a:srgbClr val="1D1C1C"/>
                          </a:solidFill>
                          <a:latin typeface="Arial"/>
                          <a:cs typeface="Arial"/>
                        </a:rPr>
                        <a:t>Mac/iOS Only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1185">
                      <a:solidFill>
                        <a:srgbClr val="1F1C1F"/>
                      </a:solidFill>
                      <a:prstDash val="solid"/>
                    </a:lnL>
                    <a:lnR w="2796">
                      <a:solidFill>
                        <a:srgbClr val="000000"/>
                      </a:solidFill>
                      <a:prstDash val="solid"/>
                    </a:lnR>
                    <a:lnT w="8388">
                      <a:solidFill>
                        <a:srgbClr val="1F1C1F"/>
                      </a:solidFill>
                      <a:prstDash val="solid"/>
                    </a:lnT>
                    <a:lnB w="8388">
                      <a:solidFill>
                        <a:srgbClr val="1F1C1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56668">
                <a:tc>
                  <a:txBody>
                    <a:bodyPr/>
                    <a:lstStyle/>
                    <a:p>
                      <a:pPr marL="149225">
                        <a:lnSpc>
                          <a:spcPct val="100000"/>
                        </a:lnSpc>
                      </a:pPr>
                      <a:r>
                        <a:rPr sz="1100" b="1" dirty="0">
                          <a:solidFill>
                            <a:srgbClr val="1D1C1C"/>
                          </a:solidFill>
                          <a:latin typeface="Arial"/>
                          <a:cs typeface="Arial"/>
                        </a:rPr>
                        <a:t>Rocket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796">
                      <a:solidFill>
                        <a:srgbClr val="000000"/>
                      </a:solidFill>
                      <a:prstDash val="solid"/>
                    </a:lnL>
                    <a:lnR w="11185">
                      <a:solidFill>
                        <a:srgbClr val="1F1C1F"/>
                      </a:solidFill>
                      <a:prstDash val="solid"/>
                    </a:lnR>
                    <a:lnT w="8388">
                      <a:solidFill>
                        <a:srgbClr val="1F1C1F"/>
                      </a:solidFill>
                      <a:prstDash val="solid"/>
                    </a:lnT>
                    <a:lnB w="8388">
                      <a:solidFill>
                        <a:srgbClr val="1F1C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0">
                        <a:lnSpc>
                          <a:spcPct val="100000"/>
                        </a:lnSpc>
                      </a:pPr>
                      <a:r>
                        <a:rPr sz="1050" dirty="0">
                          <a:solidFill>
                            <a:srgbClr val="1D1C1C"/>
                          </a:solidFill>
                          <a:latin typeface="Arial"/>
                          <a:cs typeface="Arial"/>
                        </a:rPr>
                        <a:t>Cloud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1185">
                      <a:solidFill>
                        <a:srgbClr val="1F1C1F"/>
                      </a:solidFill>
                      <a:prstDash val="solid"/>
                    </a:lnL>
                    <a:lnR w="11185">
                      <a:solidFill>
                        <a:srgbClr val="1F1C1F"/>
                      </a:solidFill>
                      <a:prstDash val="solid"/>
                    </a:lnR>
                    <a:lnT w="8388">
                      <a:solidFill>
                        <a:srgbClr val="1F1C1F"/>
                      </a:solidFill>
                      <a:prstDash val="solid"/>
                    </a:lnT>
                    <a:lnB w="8388">
                      <a:solidFill>
                        <a:srgbClr val="1F1C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014">
                        <a:lnSpc>
                          <a:spcPct val="100000"/>
                        </a:lnSpc>
                      </a:pPr>
                      <a:r>
                        <a:rPr sz="1050" dirty="0">
                          <a:solidFill>
                            <a:srgbClr val="1D1C1C"/>
                          </a:solidFill>
                          <a:latin typeface="Arial"/>
                          <a:cs typeface="Arial"/>
                        </a:rPr>
                        <a:t>Freemium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1185">
                      <a:solidFill>
                        <a:srgbClr val="1F1C1F"/>
                      </a:solidFill>
                      <a:prstDash val="solid"/>
                    </a:lnL>
                    <a:lnR w="13981">
                      <a:solidFill>
                        <a:srgbClr val="1F1C1F"/>
                      </a:solidFill>
                      <a:prstDash val="solid"/>
                    </a:lnR>
                    <a:lnT w="8388">
                      <a:solidFill>
                        <a:srgbClr val="1F1C1F"/>
                      </a:solidFill>
                      <a:prstDash val="solid"/>
                    </a:lnT>
                    <a:lnB w="8388">
                      <a:solidFill>
                        <a:srgbClr val="1F1C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8585">
                        <a:lnSpc>
                          <a:spcPct val="100000"/>
                        </a:lnSpc>
                      </a:pPr>
                      <a:r>
                        <a:rPr sz="1050" dirty="0">
                          <a:solidFill>
                            <a:srgbClr val="1D1C1C"/>
                          </a:solidFill>
                          <a:latin typeface="Arial"/>
                          <a:cs typeface="Arial"/>
                        </a:rPr>
                        <a:t>API</a:t>
                      </a:r>
                      <a:r>
                        <a:rPr sz="1050" spc="45" dirty="0">
                          <a:solidFill>
                            <a:srgbClr val="1D1C1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50" dirty="0">
                          <a:solidFill>
                            <a:srgbClr val="1D1C1C"/>
                          </a:solidFill>
                          <a:latin typeface="Arial"/>
                          <a:cs typeface="Arial"/>
                        </a:rPr>
                        <a:t>Sync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3981">
                      <a:solidFill>
                        <a:srgbClr val="1F1C1F"/>
                      </a:solidFill>
                      <a:prstDash val="solid"/>
                    </a:lnL>
                    <a:lnR w="11185">
                      <a:solidFill>
                        <a:srgbClr val="1F1C1F"/>
                      </a:solidFill>
                      <a:prstDash val="solid"/>
                    </a:lnR>
                    <a:lnT w="8388">
                      <a:solidFill>
                        <a:srgbClr val="1F1C1F"/>
                      </a:solidFill>
                      <a:prstDash val="solid"/>
                    </a:lnT>
                    <a:lnB w="8388">
                      <a:solidFill>
                        <a:srgbClr val="1F1C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6839" marR="156845" indent="-3175">
                        <a:lnSpc>
                          <a:spcPct val="125800"/>
                        </a:lnSpc>
                      </a:pPr>
                      <a:r>
                        <a:rPr sz="1050" dirty="0">
                          <a:solidFill>
                            <a:srgbClr val="1D1C1C"/>
                          </a:solidFill>
                          <a:latin typeface="Arial"/>
                          <a:cs typeface="Arial"/>
                        </a:rPr>
                        <a:t>Sub. Manageme nt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1185">
                      <a:solidFill>
                        <a:srgbClr val="1F1C1F"/>
                      </a:solidFill>
                      <a:prstDash val="solid"/>
                    </a:lnL>
                    <a:lnR w="11185">
                      <a:solidFill>
                        <a:srgbClr val="1F1C1F"/>
                      </a:solidFill>
                      <a:prstDash val="solid"/>
                    </a:lnR>
                    <a:lnT w="8388">
                      <a:solidFill>
                        <a:srgbClr val="1F1C1F"/>
                      </a:solidFill>
                      <a:prstDash val="solid"/>
                    </a:lnT>
                    <a:lnB w="8388">
                      <a:solidFill>
                        <a:srgbClr val="1F1C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0" marR="283210" indent="5080">
                        <a:lnSpc>
                          <a:spcPct val="125800"/>
                        </a:lnSpc>
                      </a:pPr>
                      <a:r>
                        <a:rPr sz="1050" dirty="0">
                          <a:solidFill>
                            <a:srgbClr val="1D1C1C"/>
                          </a:solidFill>
                          <a:latin typeface="Arial"/>
                          <a:cs typeface="Arial"/>
                        </a:rPr>
                        <a:t>Privacy Concerns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1185">
                      <a:solidFill>
                        <a:srgbClr val="1F1C1F"/>
                      </a:solidFill>
                      <a:prstDash val="solid"/>
                    </a:lnL>
                    <a:lnR w="2796">
                      <a:solidFill>
                        <a:srgbClr val="000000"/>
                      </a:solidFill>
                      <a:prstDash val="solid"/>
                    </a:lnR>
                    <a:lnT w="8388">
                      <a:solidFill>
                        <a:srgbClr val="1F1C1F"/>
                      </a:solidFill>
                      <a:prstDash val="solid"/>
                    </a:lnT>
                    <a:lnB w="8388">
                      <a:solidFill>
                        <a:srgbClr val="1F1C1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3480">
                <a:tc>
                  <a:txBody>
                    <a:bodyPr/>
                    <a:lstStyle/>
                    <a:p>
                      <a:pPr marL="140970">
                        <a:lnSpc>
                          <a:spcPct val="100000"/>
                        </a:lnSpc>
                      </a:pPr>
                      <a:r>
                        <a:rPr sz="1100" b="1" dirty="0">
                          <a:solidFill>
                            <a:srgbClr val="1D1C1C"/>
                          </a:solidFill>
                          <a:latin typeface="Arial"/>
                          <a:cs typeface="Arial"/>
                        </a:rPr>
                        <a:t>Tiller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796">
                      <a:solidFill>
                        <a:srgbClr val="000000"/>
                      </a:solidFill>
                      <a:prstDash val="solid"/>
                    </a:lnL>
                    <a:lnR w="11185">
                      <a:solidFill>
                        <a:srgbClr val="1F1C1F"/>
                      </a:solidFill>
                      <a:prstDash val="solid"/>
                    </a:lnR>
                    <a:lnT w="8388">
                      <a:solidFill>
                        <a:srgbClr val="1F1C1F"/>
                      </a:solidFill>
                      <a:prstDash val="solid"/>
                    </a:lnT>
                    <a:lnB w="8388">
                      <a:solidFill>
                        <a:srgbClr val="1F1C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0">
                        <a:lnSpc>
                          <a:spcPct val="100000"/>
                        </a:lnSpc>
                      </a:pPr>
                      <a:r>
                        <a:rPr sz="1050" dirty="0">
                          <a:solidFill>
                            <a:srgbClr val="1D1C1C"/>
                          </a:solidFill>
                          <a:latin typeface="Arial"/>
                          <a:cs typeface="Arial"/>
                        </a:rPr>
                        <a:t>Cloud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1185">
                      <a:solidFill>
                        <a:srgbClr val="1F1C1F"/>
                      </a:solidFill>
                      <a:prstDash val="solid"/>
                    </a:lnL>
                    <a:lnR w="11185">
                      <a:solidFill>
                        <a:srgbClr val="1F1C1F"/>
                      </a:solidFill>
                      <a:prstDash val="solid"/>
                    </a:lnR>
                    <a:lnT w="8388">
                      <a:solidFill>
                        <a:srgbClr val="1F1C1F"/>
                      </a:solidFill>
                      <a:prstDash val="solid"/>
                    </a:lnT>
                    <a:lnB w="8388">
                      <a:solidFill>
                        <a:srgbClr val="1F1C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014">
                        <a:lnSpc>
                          <a:spcPct val="100000"/>
                        </a:lnSpc>
                      </a:pPr>
                      <a:r>
                        <a:rPr sz="1050" dirty="0">
                          <a:solidFill>
                            <a:srgbClr val="1D1C1C"/>
                          </a:solidFill>
                          <a:latin typeface="Arial"/>
                          <a:cs typeface="Arial"/>
                        </a:rPr>
                        <a:t>Medium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1185">
                      <a:solidFill>
                        <a:srgbClr val="1F1C1F"/>
                      </a:solidFill>
                      <a:prstDash val="solid"/>
                    </a:lnL>
                    <a:lnR w="13981">
                      <a:solidFill>
                        <a:srgbClr val="1F1C1F"/>
                      </a:solidFill>
                      <a:prstDash val="solid"/>
                    </a:lnR>
                    <a:lnT w="8388">
                      <a:solidFill>
                        <a:srgbClr val="1F1C1F"/>
                      </a:solidFill>
                      <a:prstDash val="solid"/>
                    </a:lnT>
                    <a:lnB w="8388">
                      <a:solidFill>
                        <a:srgbClr val="1F1C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8585">
                        <a:lnSpc>
                          <a:spcPct val="100000"/>
                        </a:lnSpc>
                      </a:pPr>
                      <a:r>
                        <a:rPr sz="1050" dirty="0">
                          <a:solidFill>
                            <a:srgbClr val="1D1C1C"/>
                          </a:solidFill>
                          <a:latin typeface="Arial"/>
                          <a:cs typeface="Arial"/>
                        </a:rPr>
                        <a:t>API</a:t>
                      </a:r>
                      <a:r>
                        <a:rPr sz="1050" spc="45" dirty="0">
                          <a:solidFill>
                            <a:srgbClr val="1D1C1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50" dirty="0">
                          <a:solidFill>
                            <a:srgbClr val="1D1C1C"/>
                          </a:solidFill>
                          <a:latin typeface="Arial"/>
                          <a:cs typeface="Arial"/>
                        </a:rPr>
                        <a:t>Sync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3981">
                      <a:solidFill>
                        <a:srgbClr val="1F1C1F"/>
                      </a:solidFill>
                      <a:prstDash val="solid"/>
                    </a:lnL>
                    <a:lnR w="11185">
                      <a:solidFill>
                        <a:srgbClr val="1F1C1F"/>
                      </a:solidFill>
                      <a:prstDash val="solid"/>
                    </a:lnR>
                    <a:lnT w="8388">
                      <a:solidFill>
                        <a:srgbClr val="1F1C1F"/>
                      </a:solidFill>
                      <a:prstDash val="solid"/>
                    </a:lnT>
                    <a:lnB w="8388">
                      <a:solidFill>
                        <a:srgbClr val="1F1C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0" marR="369570">
                        <a:lnSpc>
                          <a:spcPct val="125800"/>
                        </a:lnSpc>
                      </a:pPr>
                      <a:r>
                        <a:rPr sz="1050" dirty="0">
                          <a:solidFill>
                            <a:srgbClr val="1D1C1C"/>
                          </a:solidFill>
                          <a:latin typeface="Arial"/>
                          <a:cs typeface="Arial"/>
                        </a:rPr>
                        <a:t>Custom Sheets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1185">
                      <a:solidFill>
                        <a:srgbClr val="1F1C1F"/>
                      </a:solidFill>
                      <a:prstDash val="solid"/>
                    </a:lnL>
                    <a:lnR w="11185">
                      <a:solidFill>
                        <a:srgbClr val="1F1C1F"/>
                      </a:solidFill>
                      <a:prstDash val="solid"/>
                    </a:lnR>
                    <a:lnT w="8388">
                      <a:solidFill>
                        <a:srgbClr val="1F1C1F"/>
                      </a:solidFill>
                      <a:prstDash val="solid"/>
                    </a:lnT>
                    <a:lnB w="8388">
                      <a:solidFill>
                        <a:srgbClr val="1F1C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014" marR="323850">
                        <a:lnSpc>
                          <a:spcPct val="125800"/>
                        </a:lnSpc>
                      </a:pPr>
                      <a:r>
                        <a:rPr sz="1050" dirty="0">
                          <a:solidFill>
                            <a:srgbClr val="1D1C1C"/>
                          </a:solidFill>
                          <a:latin typeface="Arial"/>
                          <a:cs typeface="Arial"/>
                        </a:rPr>
                        <a:t>High Difficulty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1185">
                      <a:solidFill>
                        <a:srgbClr val="1F1C1F"/>
                      </a:solidFill>
                      <a:prstDash val="solid"/>
                    </a:lnL>
                    <a:lnR w="2796">
                      <a:solidFill>
                        <a:srgbClr val="000000"/>
                      </a:solidFill>
                      <a:prstDash val="solid"/>
                    </a:lnR>
                    <a:lnT w="8388">
                      <a:solidFill>
                        <a:srgbClr val="1F1C1F"/>
                      </a:solidFill>
                      <a:prstDash val="solid"/>
                    </a:lnT>
                    <a:lnB w="8388">
                      <a:solidFill>
                        <a:srgbClr val="1F1C1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56668">
                <a:tc>
                  <a:txBody>
                    <a:bodyPr/>
                    <a:lstStyle/>
                    <a:p>
                      <a:pPr marL="146685">
                        <a:lnSpc>
                          <a:spcPct val="100000"/>
                        </a:lnSpc>
                      </a:pPr>
                      <a:r>
                        <a:rPr sz="1100" b="1" dirty="0">
                          <a:solidFill>
                            <a:srgbClr val="1D1C1C"/>
                          </a:solidFill>
                          <a:latin typeface="Arial"/>
                          <a:cs typeface="Arial"/>
                        </a:rPr>
                        <a:t>Gn</a:t>
                      </a:r>
                      <a:r>
                        <a:rPr sz="1100" b="1" spc="70" dirty="0">
                          <a:solidFill>
                            <a:srgbClr val="1D1C1C"/>
                          </a:solidFill>
                          <a:latin typeface="Arial"/>
                          <a:cs typeface="Arial"/>
                        </a:rPr>
                        <a:t>u</a:t>
                      </a:r>
                      <a:r>
                        <a:rPr sz="1100" b="1" dirty="0">
                          <a:solidFill>
                            <a:srgbClr val="1D1C1C"/>
                          </a:solidFill>
                          <a:latin typeface="Arial"/>
                          <a:cs typeface="Arial"/>
                        </a:rPr>
                        <a:t>Cash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796">
                      <a:solidFill>
                        <a:srgbClr val="000000"/>
                      </a:solidFill>
                      <a:prstDash val="solid"/>
                    </a:lnL>
                    <a:lnR w="11185">
                      <a:solidFill>
                        <a:srgbClr val="1F1C1F"/>
                      </a:solidFill>
                      <a:prstDash val="solid"/>
                    </a:lnR>
                    <a:lnT w="8388">
                      <a:solidFill>
                        <a:srgbClr val="1F1C1F"/>
                      </a:solidFill>
                      <a:prstDash val="solid"/>
                    </a:lnT>
                    <a:lnB w="8388">
                      <a:solidFill>
                        <a:srgbClr val="1F1C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014">
                        <a:lnSpc>
                          <a:spcPct val="100000"/>
                        </a:lnSpc>
                      </a:pPr>
                      <a:r>
                        <a:rPr sz="1050" dirty="0">
                          <a:solidFill>
                            <a:srgbClr val="1D1C1C"/>
                          </a:solidFill>
                          <a:latin typeface="Arial"/>
                          <a:cs typeface="Arial"/>
                        </a:rPr>
                        <a:t>Local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1185">
                      <a:solidFill>
                        <a:srgbClr val="1F1C1F"/>
                      </a:solidFill>
                      <a:prstDash val="solid"/>
                    </a:lnL>
                    <a:lnR w="11185">
                      <a:solidFill>
                        <a:srgbClr val="1F1C1F"/>
                      </a:solidFill>
                      <a:prstDash val="solid"/>
                    </a:lnR>
                    <a:lnT w="8388">
                      <a:solidFill>
                        <a:srgbClr val="1F1C1F"/>
                      </a:solidFill>
                      <a:prstDash val="solid"/>
                    </a:lnT>
                    <a:lnB w="8388">
                      <a:solidFill>
                        <a:srgbClr val="1F1C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014">
                        <a:lnSpc>
                          <a:spcPct val="100000"/>
                        </a:lnSpc>
                      </a:pPr>
                      <a:r>
                        <a:rPr sz="1050" dirty="0">
                          <a:solidFill>
                            <a:srgbClr val="1D1C1C"/>
                          </a:solidFill>
                          <a:latin typeface="Arial"/>
                          <a:cs typeface="Arial"/>
                        </a:rPr>
                        <a:t>Free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1185">
                      <a:solidFill>
                        <a:srgbClr val="1F1C1F"/>
                      </a:solidFill>
                      <a:prstDash val="solid"/>
                    </a:lnL>
                    <a:lnR w="13981">
                      <a:solidFill>
                        <a:srgbClr val="1F1C1F"/>
                      </a:solidFill>
                      <a:prstDash val="solid"/>
                    </a:lnR>
                    <a:lnT w="8388">
                      <a:solidFill>
                        <a:srgbClr val="1F1C1F"/>
                      </a:solidFill>
                      <a:prstDash val="solid"/>
                    </a:lnT>
                    <a:lnB w="8388">
                      <a:solidFill>
                        <a:srgbClr val="1F1C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6839">
                        <a:lnSpc>
                          <a:spcPct val="100000"/>
                        </a:lnSpc>
                      </a:pPr>
                      <a:r>
                        <a:rPr sz="1050" dirty="0">
                          <a:solidFill>
                            <a:srgbClr val="1D1C1C"/>
                          </a:solidFill>
                          <a:latin typeface="Arial"/>
                          <a:cs typeface="Arial"/>
                        </a:rPr>
                        <a:t>Manual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3981">
                      <a:solidFill>
                        <a:srgbClr val="1F1C1F"/>
                      </a:solidFill>
                      <a:prstDash val="solid"/>
                    </a:lnL>
                    <a:lnR w="11185">
                      <a:solidFill>
                        <a:srgbClr val="1F1C1F"/>
                      </a:solidFill>
                      <a:prstDash val="solid"/>
                    </a:lnR>
                    <a:lnT w="8388">
                      <a:solidFill>
                        <a:srgbClr val="1F1C1F"/>
                      </a:solidFill>
                      <a:prstDash val="solid"/>
                    </a:lnT>
                    <a:lnB w="8388">
                      <a:solidFill>
                        <a:srgbClr val="1F1C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014" marR="99695">
                        <a:lnSpc>
                          <a:spcPct val="124100"/>
                        </a:lnSpc>
                      </a:pPr>
                      <a:r>
                        <a:rPr sz="1050" dirty="0">
                          <a:solidFill>
                            <a:srgbClr val="1D1C1C"/>
                          </a:solidFill>
                          <a:latin typeface="Arial"/>
                          <a:cs typeface="Arial"/>
                        </a:rPr>
                        <a:t>Double- Entry</a:t>
                      </a:r>
                      <a:r>
                        <a:rPr sz="1050" spc="40" dirty="0">
                          <a:solidFill>
                            <a:srgbClr val="1D1C1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50" dirty="0">
                          <a:solidFill>
                            <a:srgbClr val="1D1C1C"/>
                          </a:solidFill>
                          <a:latin typeface="Arial"/>
                          <a:cs typeface="Arial"/>
                        </a:rPr>
                        <a:t>Books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1185">
                      <a:solidFill>
                        <a:srgbClr val="1F1C1F"/>
                      </a:solidFill>
                      <a:prstDash val="solid"/>
                    </a:lnL>
                    <a:lnR w="11185">
                      <a:solidFill>
                        <a:srgbClr val="1F1C1F"/>
                      </a:solidFill>
                      <a:prstDash val="solid"/>
                    </a:lnR>
                    <a:lnT w="8388">
                      <a:solidFill>
                        <a:srgbClr val="1F1C1F"/>
                      </a:solidFill>
                      <a:prstDash val="solid"/>
                    </a:lnT>
                    <a:lnB w="8388">
                      <a:solidFill>
                        <a:srgbClr val="1F1C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0" marR="337820">
                        <a:lnSpc>
                          <a:spcPct val="124100"/>
                        </a:lnSpc>
                      </a:pPr>
                      <a:r>
                        <a:rPr sz="1050" dirty="0">
                          <a:solidFill>
                            <a:srgbClr val="1D1C1C"/>
                          </a:solidFill>
                          <a:latin typeface="Arial"/>
                          <a:cs typeface="Arial"/>
                        </a:rPr>
                        <a:t>Steep Learning Curve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1185">
                      <a:solidFill>
                        <a:srgbClr val="1F1C1F"/>
                      </a:solidFill>
                      <a:prstDash val="solid"/>
                    </a:lnL>
                    <a:lnR w="2796">
                      <a:solidFill>
                        <a:srgbClr val="000000"/>
                      </a:solidFill>
                      <a:prstDash val="solid"/>
                    </a:lnR>
                    <a:lnT w="8388">
                      <a:solidFill>
                        <a:srgbClr val="1F1C1F"/>
                      </a:solidFill>
                      <a:prstDash val="solid"/>
                    </a:lnT>
                    <a:lnB w="8388">
                      <a:solidFill>
                        <a:srgbClr val="1F1C1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84684">
                <a:tc>
                  <a:txBody>
                    <a:bodyPr/>
                    <a:lstStyle/>
                    <a:p>
                      <a:pPr marL="149225">
                        <a:lnSpc>
                          <a:spcPct val="100000"/>
                        </a:lnSpc>
                      </a:pPr>
                      <a:r>
                        <a:rPr sz="1100" b="1" dirty="0">
                          <a:solidFill>
                            <a:srgbClr val="1D1C1C"/>
                          </a:solidFill>
                          <a:latin typeface="Arial"/>
                          <a:cs typeface="Arial"/>
                        </a:rPr>
                        <a:t>HomeBank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796">
                      <a:solidFill>
                        <a:srgbClr val="000000"/>
                      </a:solidFill>
                      <a:prstDash val="solid"/>
                    </a:lnL>
                    <a:lnR w="11185">
                      <a:solidFill>
                        <a:srgbClr val="1F1C1F"/>
                      </a:solidFill>
                      <a:prstDash val="solid"/>
                    </a:lnR>
                    <a:lnT w="8388">
                      <a:solidFill>
                        <a:srgbClr val="1F1C1F"/>
                      </a:solidFill>
                      <a:prstDash val="solid"/>
                    </a:lnT>
                    <a:lnB w="11185">
                      <a:solidFill>
                        <a:srgbClr val="1F1C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014">
                        <a:lnSpc>
                          <a:spcPct val="100000"/>
                        </a:lnSpc>
                      </a:pPr>
                      <a:r>
                        <a:rPr sz="1050" dirty="0">
                          <a:solidFill>
                            <a:srgbClr val="1D1C1C"/>
                          </a:solidFill>
                          <a:latin typeface="Arial"/>
                          <a:cs typeface="Arial"/>
                        </a:rPr>
                        <a:t>Local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1185">
                      <a:solidFill>
                        <a:srgbClr val="1F1C1F"/>
                      </a:solidFill>
                      <a:prstDash val="solid"/>
                    </a:lnL>
                    <a:lnR w="11185">
                      <a:solidFill>
                        <a:srgbClr val="1F1C1F"/>
                      </a:solidFill>
                      <a:prstDash val="solid"/>
                    </a:lnR>
                    <a:lnT w="8388">
                      <a:solidFill>
                        <a:srgbClr val="1F1C1F"/>
                      </a:solidFill>
                      <a:prstDash val="solid"/>
                    </a:lnT>
                    <a:lnB w="11185">
                      <a:solidFill>
                        <a:srgbClr val="1F1C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014">
                        <a:lnSpc>
                          <a:spcPct val="100000"/>
                        </a:lnSpc>
                      </a:pPr>
                      <a:r>
                        <a:rPr sz="1050" dirty="0">
                          <a:solidFill>
                            <a:srgbClr val="1D1C1C"/>
                          </a:solidFill>
                          <a:latin typeface="Arial"/>
                          <a:cs typeface="Arial"/>
                        </a:rPr>
                        <a:t>Free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1185">
                      <a:solidFill>
                        <a:srgbClr val="1F1C1F"/>
                      </a:solidFill>
                      <a:prstDash val="solid"/>
                    </a:lnL>
                    <a:lnR w="13981">
                      <a:solidFill>
                        <a:srgbClr val="1F1C1F"/>
                      </a:solidFill>
                      <a:prstDash val="solid"/>
                    </a:lnR>
                    <a:lnT w="8388">
                      <a:solidFill>
                        <a:srgbClr val="1F1C1F"/>
                      </a:solidFill>
                      <a:prstDash val="solid"/>
                    </a:lnT>
                    <a:lnB w="11185">
                      <a:solidFill>
                        <a:srgbClr val="1F1C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6839">
                        <a:lnSpc>
                          <a:spcPct val="100000"/>
                        </a:lnSpc>
                      </a:pPr>
                      <a:r>
                        <a:rPr sz="1050" dirty="0">
                          <a:solidFill>
                            <a:srgbClr val="1D1C1C"/>
                          </a:solidFill>
                          <a:latin typeface="Arial"/>
                          <a:cs typeface="Arial"/>
                        </a:rPr>
                        <a:t>Manual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3981">
                      <a:solidFill>
                        <a:srgbClr val="1F1C1F"/>
                      </a:solidFill>
                      <a:prstDash val="solid"/>
                    </a:lnL>
                    <a:lnR w="11185">
                      <a:solidFill>
                        <a:srgbClr val="1F1C1F"/>
                      </a:solidFill>
                      <a:prstDash val="solid"/>
                    </a:lnR>
                    <a:lnT w="8388">
                      <a:solidFill>
                        <a:srgbClr val="1F1C1F"/>
                      </a:solidFill>
                      <a:prstDash val="solid"/>
                    </a:lnT>
                    <a:lnB w="11185">
                      <a:solidFill>
                        <a:srgbClr val="1F1C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014">
                        <a:lnSpc>
                          <a:spcPct val="100000"/>
                        </a:lnSpc>
                      </a:pPr>
                      <a:r>
                        <a:rPr sz="1050" dirty="0">
                          <a:solidFill>
                            <a:srgbClr val="1D1C1C"/>
                          </a:solidFill>
                          <a:latin typeface="Arial"/>
                          <a:cs typeface="Arial"/>
                        </a:rPr>
                        <a:t>Lightweight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1185">
                      <a:solidFill>
                        <a:srgbClr val="1F1C1F"/>
                      </a:solidFill>
                      <a:prstDash val="solid"/>
                    </a:lnL>
                    <a:lnR w="11185">
                      <a:solidFill>
                        <a:srgbClr val="1F1C1F"/>
                      </a:solidFill>
                      <a:prstDash val="solid"/>
                    </a:lnR>
                    <a:lnT w="8388">
                      <a:solidFill>
                        <a:srgbClr val="1F1C1F"/>
                      </a:solidFill>
                      <a:prstDash val="solid"/>
                    </a:lnT>
                    <a:lnB w="11185">
                      <a:solidFill>
                        <a:srgbClr val="1F1C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1760" marR="169545" indent="8255">
                        <a:lnSpc>
                          <a:spcPct val="125800"/>
                        </a:lnSpc>
                      </a:pPr>
                      <a:r>
                        <a:rPr sz="1050" dirty="0">
                          <a:solidFill>
                            <a:srgbClr val="1D1C1C"/>
                          </a:solidFill>
                          <a:latin typeface="Arial"/>
                          <a:cs typeface="Arial"/>
                        </a:rPr>
                        <a:t>No Automation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1185">
                      <a:solidFill>
                        <a:srgbClr val="1F1C1F"/>
                      </a:solidFill>
                      <a:prstDash val="solid"/>
                    </a:lnL>
                    <a:lnR w="2796">
                      <a:solidFill>
                        <a:srgbClr val="000000"/>
                      </a:solidFill>
                      <a:prstDash val="solid"/>
                    </a:lnR>
                    <a:lnT w="8388">
                      <a:solidFill>
                        <a:srgbClr val="1F1C1F"/>
                      </a:solidFill>
                      <a:prstDash val="solid"/>
                    </a:lnT>
                    <a:lnB w="11185">
                      <a:solidFill>
                        <a:srgbClr val="1F1C1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661480">
                <a:tc>
                  <a:txBody>
                    <a:bodyPr/>
                    <a:lstStyle/>
                    <a:p>
                      <a:pPr marL="143510" marR="151765" indent="5080">
                        <a:lnSpc>
                          <a:spcPct val="120100"/>
                        </a:lnSpc>
                      </a:pPr>
                      <a:r>
                        <a:rPr sz="1100" b="1" dirty="0">
                          <a:solidFill>
                            <a:srgbClr val="1D1C1C"/>
                          </a:solidFill>
                          <a:latin typeface="Arial"/>
                          <a:cs typeface="Arial"/>
                        </a:rPr>
                        <a:t>LocalFinTr acker</a:t>
                      </a:r>
                      <a:endParaRPr sz="11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796">
                      <a:solidFill>
                        <a:srgbClr val="000000"/>
                      </a:solidFill>
                      <a:prstDash val="solid"/>
                    </a:lnL>
                    <a:lnR w="11185">
                      <a:solidFill>
                        <a:srgbClr val="1F1C1F"/>
                      </a:solidFill>
                      <a:prstDash val="solid"/>
                    </a:lnR>
                    <a:lnT w="11185">
                      <a:solidFill>
                        <a:srgbClr val="1F1C1F"/>
                      </a:solidFill>
                      <a:prstDash val="solid"/>
                    </a:lnT>
                    <a:lnB w="5592">
                      <a:solidFill>
                        <a:srgbClr val="1F1C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014">
                        <a:lnSpc>
                          <a:spcPct val="100000"/>
                        </a:lnSpc>
                      </a:pPr>
                      <a:r>
                        <a:rPr sz="1100" b="1" dirty="0">
                          <a:solidFill>
                            <a:srgbClr val="1D1C1C"/>
                          </a:solidFill>
                          <a:latin typeface="Arial"/>
                          <a:cs typeface="Arial"/>
                        </a:rPr>
                        <a:t>Local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1185">
                      <a:solidFill>
                        <a:srgbClr val="1F1C1F"/>
                      </a:solidFill>
                      <a:prstDash val="solid"/>
                    </a:lnL>
                    <a:lnR w="11185">
                      <a:solidFill>
                        <a:srgbClr val="1F1C1F"/>
                      </a:solidFill>
                      <a:prstDash val="solid"/>
                    </a:lnR>
                    <a:lnT w="11185">
                      <a:solidFill>
                        <a:srgbClr val="1F1C1F"/>
                      </a:solidFill>
                      <a:prstDash val="solid"/>
                    </a:lnT>
                    <a:lnB w="5592">
                      <a:solidFill>
                        <a:srgbClr val="1F1C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014">
                        <a:lnSpc>
                          <a:spcPct val="100000"/>
                        </a:lnSpc>
                      </a:pPr>
                      <a:r>
                        <a:rPr sz="1100" b="1" dirty="0">
                          <a:solidFill>
                            <a:srgbClr val="1D1C1C"/>
                          </a:solidFill>
                          <a:latin typeface="Arial"/>
                          <a:cs typeface="Arial"/>
                        </a:rPr>
                        <a:t>Free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1185">
                      <a:solidFill>
                        <a:srgbClr val="1F1C1F"/>
                      </a:solidFill>
                      <a:prstDash val="solid"/>
                    </a:lnL>
                    <a:lnR w="13981">
                      <a:solidFill>
                        <a:srgbClr val="1F1C1F"/>
                      </a:solidFill>
                      <a:prstDash val="solid"/>
                    </a:lnR>
                    <a:lnT w="11185">
                      <a:solidFill>
                        <a:srgbClr val="1F1C1F"/>
                      </a:solidFill>
                      <a:prstDash val="solid"/>
                    </a:lnT>
                    <a:lnB w="5592">
                      <a:solidFill>
                        <a:srgbClr val="1F1C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0">
                        <a:lnSpc>
                          <a:spcPct val="100000"/>
                        </a:lnSpc>
                      </a:pPr>
                      <a:r>
                        <a:rPr sz="1700" b="1" dirty="0">
                          <a:solidFill>
                            <a:srgbClr val="1D1C1C"/>
                          </a:solidFill>
                          <a:latin typeface="Courier New"/>
                          <a:cs typeface="Courier New"/>
                        </a:rPr>
                        <a:t>csv</a:t>
                      </a:r>
                      <a:endParaRPr sz="1700" dirty="0">
                        <a:latin typeface="Courier New"/>
                        <a:cs typeface="Courier New"/>
                      </a:endParaRPr>
                    </a:p>
                    <a:p>
                      <a:pPr marL="116839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100" b="1" dirty="0">
                          <a:solidFill>
                            <a:srgbClr val="1D1C1C"/>
                          </a:solidFill>
                          <a:latin typeface="Arial"/>
                          <a:cs typeface="Arial"/>
                        </a:rPr>
                        <a:t>Import</a:t>
                      </a:r>
                      <a:endParaRPr sz="11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3981">
                      <a:solidFill>
                        <a:srgbClr val="1F1C1F"/>
                      </a:solidFill>
                      <a:prstDash val="solid"/>
                    </a:lnL>
                    <a:lnR w="11185">
                      <a:solidFill>
                        <a:srgbClr val="1F1C1F"/>
                      </a:solidFill>
                      <a:prstDash val="solid"/>
                    </a:lnR>
                    <a:lnT w="11185">
                      <a:solidFill>
                        <a:srgbClr val="1F1C1F"/>
                      </a:solidFill>
                      <a:prstDash val="solid"/>
                    </a:lnT>
                    <a:lnB w="5592">
                      <a:solidFill>
                        <a:srgbClr val="1F1C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1760" marR="162560" indent="8255">
                        <a:lnSpc>
                          <a:spcPct val="119300"/>
                        </a:lnSpc>
                      </a:pPr>
                      <a:r>
                        <a:rPr sz="1100" b="1" dirty="0">
                          <a:solidFill>
                            <a:srgbClr val="1D1C1C"/>
                          </a:solidFill>
                          <a:latin typeface="Arial"/>
                          <a:cs typeface="Arial"/>
                        </a:rPr>
                        <a:t>Private </a:t>
                      </a:r>
                      <a:r>
                        <a:rPr lang="en-US" sz="1100" b="1" dirty="0">
                          <a:solidFill>
                            <a:srgbClr val="1D1C1C"/>
                          </a:solidFill>
                          <a:latin typeface="Arial"/>
                          <a:cs typeface="Arial"/>
                        </a:rPr>
                        <a:t>and </a:t>
                      </a:r>
                      <a:r>
                        <a:rPr sz="1100" b="1" dirty="0">
                          <a:solidFill>
                            <a:srgbClr val="1D1C1C"/>
                          </a:solidFill>
                          <a:latin typeface="Arial"/>
                          <a:cs typeface="Arial"/>
                        </a:rPr>
                        <a:t>Automatic </a:t>
                      </a:r>
                      <a:endParaRPr sz="11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1185">
                      <a:solidFill>
                        <a:srgbClr val="1F1C1F"/>
                      </a:solidFill>
                      <a:prstDash val="solid"/>
                    </a:lnL>
                    <a:lnR w="11185">
                      <a:solidFill>
                        <a:srgbClr val="1F1C1F"/>
                      </a:solidFill>
                      <a:prstDash val="solid"/>
                    </a:lnR>
                    <a:lnT w="11185">
                      <a:solidFill>
                        <a:srgbClr val="1F1C1F"/>
                      </a:solidFill>
                      <a:prstDash val="solid"/>
                    </a:lnT>
                    <a:lnB w="5592">
                      <a:solidFill>
                        <a:srgbClr val="1F1C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6839" marR="142240" indent="-3175">
                        <a:lnSpc>
                          <a:spcPct val="120100"/>
                        </a:lnSpc>
                      </a:pPr>
                      <a:r>
                        <a:rPr sz="1100" b="1" dirty="0">
                          <a:solidFill>
                            <a:srgbClr val="1D1C1C"/>
                          </a:solidFill>
                          <a:latin typeface="Arial"/>
                          <a:cs typeface="Arial"/>
                        </a:rPr>
                        <a:t>Static Categories</a:t>
                      </a:r>
                      <a:endParaRPr sz="11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1185">
                      <a:solidFill>
                        <a:srgbClr val="1F1C1F"/>
                      </a:solidFill>
                      <a:prstDash val="solid"/>
                    </a:lnL>
                    <a:lnR w="2796">
                      <a:solidFill>
                        <a:srgbClr val="000000"/>
                      </a:solidFill>
                      <a:prstDash val="solid"/>
                    </a:lnR>
                    <a:lnT w="11185">
                      <a:solidFill>
                        <a:srgbClr val="1F1C1F"/>
                      </a:solidFill>
                      <a:prstDash val="solid"/>
                    </a:lnT>
                    <a:lnB w="5592">
                      <a:solidFill>
                        <a:srgbClr val="1F1C1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0412" y="914400"/>
            <a:ext cx="7010400" cy="6155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000" b="1" spc="40" dirty="0">
                <a:solidFill>
                  <a:srgbClr val="1C1A1A"/>
                </a:solidFill>
                <a:latin typeface="Arial"/>
                <a:cs typeface="Arial"/>
              </a:rPr>
              <a:t>IV.</a:t>
            </a:r>
            <a:r>
              <a:rPr sz="4000" b="1" spc="-6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4000" b="1" spc="10" dirty="0">
                <a:solidFill>
                  <a:srgbClr val="1C1A1A"/>
                </a:solidFill>
                <a:latin typeface="Arial"/>
                <a:cs typeface="Arial"/>
              </a:rPr>
              <a:t>Problem</a:t>
            </a:r>
            <a:r>
              <a:rPr sz="4000" b="1" spc="-2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4000" b="1" spc="35" dirty="0">
                <a:solidFill>
                  <a:srgbClr val="1C1A1A"/>
                </a:solidFill>
                <a:latin typeface="Arial"/>
                <a:cs typeface="Arial"/>
              </a:rPr>
              <a:t>Statement</a:t>
            </a:r>
            <a:endParaRPr sz="40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0412" y="2271824"/>
            <a:ext cx="9843782" cy="317304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240" indent="-3175">
              <a:lnSpc>
                <a:spcPct val="100000"/>
              </a:lnSpc>
            </a:pPr>
            <a:r>
              <a:rPr spc="-35" dirty="0">
                <a:solidFill>
                  <a:srgbClr val="1C1A1A"/>
                </a:solidFill>
                <a:latin typeface="Arial"/>
                <a:cs typeface="Arial"/>
              </a:rPr>
              <a:t>To</a:t>
            </a:r>
            <a:r>
              <a:rPr spc="2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pc="5" dirty="0">
                <a:solidFill>
                  <a:srgbClr val="1C1A1A"/>
                </a:solidFill>
                <a:latin typeface="Arial"/>
                <a:cs typeface="Arial"/>
              </a:rPr>
              <a:t>track</a:t>
            </a:r>
            <a:r>
              <a:rPr spc="5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pc="5" dirty="0">
                <a:solidFill>
                  <a:srgbClr val="1C1A1A"/>
                </a:solidFill>
                <a:latin typeface="Arial"/>
                <a:cs typeface="Arial"/>
              </a:rPr>
              <a:t>their</a:t>
            </a:r>
            <a:r>
              <a:rPr spc="8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pc="-20" dirty="0">
                <a:solidFill>
                  <a:srgbClr val="1C1A1A"/>
                </a:solidFill>
                <a:latin typeface="Arial"/>
                <a:cs typeface="Arial"/>
              </a:rPr>
              <a:t>expenses,</a:t>
            </a:r>
            <a:r>
              <a:rPr spc="11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pc="-15" dirty="0">
                <a:solidFill>
                  <a:srgbClr val="1C1A1A"/>
                </a:solidFill>
                <a:latin typeface="Arial"/>
                <a:cs typeface="Arial"/>
              </a:rPr>
              <a:t>Users</a:t>
            </a:r>
            <a:r>
              <a:rPr spc="-2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pc="10" dirty="0">
                <a:solidFill>
                  <a:srgbClr val="1C1A1A"/>
                </a:solidFill>
                <a:latin typeface="Arial"/>
                <a:cs typeface="Arial"/>
              </a:rPr>
              <a:t>currently</a:t>
            </a:r>
            <a:r>
              <a:rPr spc="4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pc="10" dirty="0">
                <a:solidFill>
                  <a:srgbClr val="1C1A1A"/>
                </a:solidFill>
                <a:latin typeface="Arial"/>
                <a:cs typeface="Arial"/>
              </a:rPr>
              <a:t>face</a:t>
            </a:r>
            <a:r>
              <a:rPr spc="4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pc="5" dirty="0">
                <a:solidFill>
                  <a:srgbClr val="1C1A1A"/>
                </a:solidFill>
                <a:latin typeface="Arial"/>
                <a:cs typeface="Arial"/>
              </a:rPr>
              <a:t>only</a:t>
            </a:r>
            <a:r>
              <a:rPr spc="1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pc="-55" dirty="0">
                <a:solidFill>
                  <a:srgbClr val="1C1A1A"/>
                </a:solidFill>
                <a:latin typeface="Arial"/>
                <a:cs typeface="Arial"/>
              </a:rPr>
              <a:t>2</a:t>
            </a:r>
            <a:r>
              <a:rPr spc="-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1C1A1A"/>
                </a:solidFill>
                <a:latin typeface="Arial"/>
                <a:cs typeface="Arial"/>
              </a:rPr>
              <a:t>choices:</a:t>
            </a:r>
            <a:endParaRPr dirty="0">
              <a:latin typeface="Arial"/>
              <a:cs typeface="Arial"/>
            </a:endParaRPr>
          </a:p>
          <a:p>
            <a:pPr marL="15240" marR="1483360">
              <a:lnSpc>
                <a:spcPct val="210200"/>
              </a:lnSpc>
            </a:pPr>
            <a:r>
              <a:rPr dirty="0">
                <a:solidFill>
                  <a:srgbClr val="1C1A1A"/>
                </a:solidFill>
                <a:latin typeface="Arial"/>
                <a:cs typeface="Arial"/>
              </a:rPr>
              <a:t>Sacrifice</a:t>
            </a:r>
            <a:r>
              <a:rPr spc="6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pc="10" dirty="0">
                <a:solidFill>
                  <a:srgbClr val="1C1A1A"/>
                </a:solidFill>
                <a:latin typeface="Arial"/>
                <a:cs typeface="Arial"/>
              </a:rPr>
              <a:t>privacy</a:t>
            </a:r>
            <a:r>
              <a:rPr spc="-1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pc="20" dirty="0">
                <a:solidFill>
                  <a:srgbClr val="1C1A1A"/>
                </a:solidFill>
                <a:latin typeface="Arial"/>
                <a:cs typeface="Arial"/>
              </a:rPr>
              <a:t>for</a:t>
            </a:r>
            <a:r>
              <a:rPr spc="5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pc="25" dirty="0">
                <a:solidFill>
                  <a:srgbClr val="1C1A1A"/>
                </a:solidFill>
                <a:latin typeface="Arial"/>
                <a:cs typeface="Arial"/>
              </a:rPr>
              <a:t>the</a:t>
            </a:r>
            <a:r>
              <a:rPr spc="1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pc="5" dirty="0">
                <a:solidFill>
                  <a:srgbClr val="1C1A1A"/>
                </a:solidFill>
                <a:latin typeface="Arial"/>
                <a:cs typeface="Arial"/>
              </a:rPr>
              <a:t>convenience</a:t>
            </a:r>
            <a:r>
              <a:rPr spc="6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pc="30" dirty="0">
                <a:solidFill>
                  <a:srgbClr val="1C1A1A"/>
                </a:solidFill>
                <a:latin typeface="Arial"/>
                <a:cs typeface="Arial"/>
              </a:rPr>
              <a:t>of</a:t>
            </a:r>
            <a:r>
              <a:rPr spc="25" dirty="0">
                <a:solidFill>
                  <a:srgbClr val="1C1A1A"/>
                </a:solidFill>
                <a:latin typeface="Arial"/>
                <a:cs typeface="Arial"/>
              </a:rPr>
              <a:t> cloud-based</a:t>
            </a:r>
            <a:r>
              <a:rPr spc="5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pc="5" dirty="0">
                <a:solidFill>
                  <a:srgbClr val="1C1A1A"/>
                </a:solidFill>
                <a:latin typeface="Arial"/>
                <a:cs typeface="Arial"/>
              </a:rPr>
              <a:t>automation.</a:t>
            </a:r>
            <a:r>
              <a:rPr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endParaRPr lang="en-IN" dirty="0">
              <a:solidFill>
                <a:srgbClr val="1C1A1A"/>
              </a:solidFill>
              <a:latin typeface="Arial"/>
              <a:cs typeface="Arial"/>
            </a:endParaRPr>
          </a:p>
          <a:p>
            <a:pPr marL="15240" marR="1483360">
              <a:lnSpc>
                <a:spcPct val="210200"/>
              </a:lnSpc>
            </a:pPr>
            <a:r>
              <a:rPr spc="-95" dirty="0">
                <a:solidFill>
                  <a:srgbClr val="1C1A1A"/>
                </a:solidFill>
                <a:latin typeface="Arial"/>
                <a:cs typeface="Arial"/>
              </a:rPr>
              <a:t>OR</a:t>
            </a:r>
            <a:endParaRPr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8"/>
              </a:spcBef>
            </a:pPr>
            <a:endParaRPr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lang="en-IN" spc="10" dirty="0">
                <a:solidFill>
                  <a:srgbClr val="1C1A1A"/>
                </a:solidFill>
                <a:latin typeface="Arial"/>
                <a:cs typeface="Arial"/>
              </a:rPr>
              <a:t>Go through</a:t>
            </a:r>
            <a:r>
              <a:rPr spc="8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pc="20" dirty="0">
                <a:solidFill>
                  <a:srgbClr val="1C1A1A"/>
                </a:solidFill>
                <a:latin typeface="Arial"/>
                <a:cs typeface="Arial"/>
              </a:rPr>
              <a:t>the</a:t>
            </a:r>
            <a:r>
              <a:rPr spc="2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pc="5" dirty="0">
                <a:solidFill>
                  <a:srgbClr val="1C1A1A"/>
                </a:solidFill>
                <a:latin typeface="Arial"/>
                <a:cs typeface="Arial"/>
              </a:rPr>
              <a:t>tedious</a:t>
            </a:r>
            <a:r>
              <a:rPr spc="10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pc="10" dirty="0">
                <a:solidFill>
                  <a:srgbClr val="1C1A1A"/>
                </a:solidFill>
                <a:latin typeface="Arial"/>
                <a:cs typeface="Arial"/>
              </a:rPr>
              <a:t>process</a:t>
            </a:r>
            <a:r>
              <a:rPr spc="-1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pc="30" dirty="0">
                <a:solidFill>
                  <a:srgbClr val="1C1A1A"/>
                </a:solidFill>
                <a:latin typeface="Arial"/>
                <a:cs typeface="Arial"/>
              </a:rPr>
              <a:t>of</a:t>
            </a:r>
            <a:r>
              <a:rPr spc="4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pc="-10" dirty="0">
                <a:solidFill>
                  <a:srgbClr val="1C1A1A"/>
                </a:solidFill>
                <a:latin typeface="Arial"/>
                <a:cs typeface="Arial"/>
              </a:rPr>
              <a:t>manual</a:t>
            </a:r>
            <a:r>
              <a:rPr spc="2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pc="10" dirty="0">
                <a:solidFill>
                  <a:srgbClr val="1C1A1A"/>
                </a:solidFill>
                <a:latin typeface="Arial"/>
                <a:cs typeface="Arial"/>
              </a:rPr>
              <a:t>entry</a:t>
            </a:r>
            <a:r>
              <a:rPr spc="-1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pc="20" dirty="0">
                <a:solidFill>
                  <a:srgbClr val="1C1A1A"/>
                </a:solidFill>
                <a:latin typeface="Arial"/>
                <a:cs typeface="Arial"/>
              </a:rPr>
              <a:t>for</a:t>
            </a:r>
            <a:r>
              <a:rPr spc="7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pc="20" dirty="0">
                <a:solidFill>
                  <a:srgbClr val="1C1A1A"/>
                </a:solidFill>
                <a:latin typeface="Arial"/>
                <a:cs typeface="Arial"/>
              </a:rPr>
              <a:t>the</a:t>
            </a:r>
            <a:r>
              <a:rPr spc="2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pc="5" dirty="0">
                <a:solidFill>
                  <a:srgbClr val="1C1A1A"/>
                </a:solidFill>
                <a:latin typeface="Arial"/>
                <a:cs typeface="Arial"/>
              </a:rPr>
              <a:t>security</a:t>
            </a:r>
            <a:r>
              <a:rPr spc="4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pc="20" dirty="0">
                <a:solidFill>
                  <a:srgbClr val="1C1A1A"/>
                </a:solidFill>
                <a:latin typeface="Arial"/>
                <a:cs typeface="Arial"/>
              </a:rPr>
              <a:t>of</a:t>
            </a:r>
            <a:r>
              <a:rPr spc="4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pc="20" dirty="0">
                <a:solidFill>
                  <a:srgbClr val="1C1A1A"/>
                </a:solidFill>
                <a:latin typeface="Arial"/>
                <a:cs typeface="Arial"/>
              </a:rPr>
              <a:t>offline </a:t>
            </a:r>
            <a:r>
              <a:rPr spc="10" dirty="0">
                <a:solidFill>
                  <a:srgbClr val="1C1A1A"/>
                </a:solidFill>
                <a:latin typeface="Arial"/>
                <a:cs typeface="Arial"/>
              </a:rPr>
              <a:t>software.</a:t>
            </a:r>
            <a:endParaRPr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"/>
              </a:spcBef>
            </a:pPr>
            <a:endParaRPr lang="en-IN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"/>
              </a:spcBef>
            </a:pPr>
            <a:endParaRPr dirty="0">
              <a:latin typeface="Times New Roman"/>
              <a:cs typeface="Times New Roman"/>
            </a:endParaRPr>
          </a:p>
          <a:p>
            <a:pPr marL="12700" marR="5080">
              <a:lnSpc>
                <a:spcPct val="118400"/>
              </a:lnSpc>
            </a:pPr>
            <a:r>
              <a:rPr b="1" spc="-15" dirty="0">
                <a:solidFill>
                  <a:srgbClr val="1C1A1A"/>
                </a:solidFill>
                <a:latin typeface="Arial"/>
                <a:cs typeface="Arial"/>
              </a:rPr>
              <a:t>There</a:t>
            </a:r>
            <a:r>
              <a:rPr b="1" spc="6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b="1" spc="5" dirty="0">
                <a:solidFill>
                  <a:srgbClr val="1C1A1A"/>
                </a:solidFill>
                <a:latin typeface="Arial"/>
                <a:cs typeface="Arial"/>
              </a:rPr>
              <a:t>is</a:t>
            </a:r>
            <a:r>
              <a:rPr b="1" spc="-4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b="1" spc="5" dirty="0">
                <a:solidFill>
                  <a:srgbClr val="1C1A1A"/>
                </a:solidFill>
                <a:latin typeface="Arial"/>
                <a:cs typeface="Arial"/>
              </a:rPr>
              <a:t>no</a:t>
            </a:r>
            <a:r>
              <a:rPr b="1" spc="-2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b="1" dirty="0">
                <a:solidFill>
                  <a:srgbClr val="1C1A1A"/>
                </a:solidFill>
                <a:latin typeface="Arial"/>
                <a:cs typeface="Arial"/>
              </a:rPr>
              <a:t>streamlined,</a:t>
            </a:r>
            <a:r>
              <a:rPr b="1" spc="5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b="1" spc="15" dirty="0">
                <a:solidFill>
                  <a:srgbClr val="1C1A1A"/>
                </a:solidFill>
                <a:latin typeface="Arial"/>
                <a:cs typeface="Arial"/>
              </a:rPr>
              <a:t>free</a:t>
            </a:r>
            <a:r>
              <a:rPr b="1" spc="3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b="1" spc="25" dirty="0">
                <a:solidFill>
                  <a:srgbClr val="1C1A1A"/>
                </a:solidFill>
                <a:latin typeface="Arial"/>
                <a:cs typeface="Arial"/>
              </a:rPr>
              <a:t>tool</a:t>
            </a:r>
            <a:r>
              <a:rPr b="1" spc="-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b="1" spc="20" dirty="0">
                <a:solidFill>
                  <a:srgbClr val="1C1A1A"/>
                </a:solidFill>
                <a:latin typeface="Arial"/>
                <a:cs typeface="Arial"/>
              </a:rPr>
              <a:t>that</a:t>
            </a:r>
            <a:r>
              <a:rPr b="1" spc="6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b="1" spc="5" dirty="0">
                <a:solidFill>
                  <a:srgbClr val="1C1A1A"/>
                </a:solidFill>
                <a:latin typeface="Arial"/>
                <a:cs typeface="Arial"/>
              </a:rPr>
              <a:t>automates</a:t>
            </a:r>
            <a:r>
              <a:rPr b="1" spc="5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b="1" dirty="0">
                <a:solidFill>
                  <a:srgbClr val="1C1A1A"/>
                </a:solidFill>
                <a:latin typeface="Arial"/>
                <a:cs typeface="Arial"/>
              </a:rPr>
              <a:t>financial</a:t>
            </a:r>
            <a:r>
              <a:rPr b="1" spc="7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b="1" spc="-10" dirty="0">
                <a:solidFill>
                  <a:srgbClr val="1C1A1A"/>
                </a:solidFill>
                <a:latin typeface="Arial"/>
                <a:cs typeface="Arial"/>
              </a:rPr>
              <a:t>analysis</a:t>
            </a:r>
            <a:r>
              <a:rPr b="1" spc="2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b="1" spc="20" dirty="0">
                <a:solidFill>
                  <a:srgbClr val="1C1A1A"/>
                </a:solidFill>
                <a:latin typeface="Arial"/>
                <a:cs typeface="Arial"/>
              </a:rPr>
              <a:t>from</a:t>
            </a:r>
            <a:r>
              <a:rPr b="1" spc="4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b="1" dirty="0">
                <a:solidFill>
                  <a:srgbClr val="1C1A1A"/>
                </a:solidFill>
                <a:latin typeface="Arial"/>
                <a:cs typeface="Arial"/>
              </a:rPr>
              <a:t>bank</a:t>
            </a:r>
            <a:r>
              <a:rPr b="1" spc="-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b="1" spc="10" dirty="0">
                <a:solidFill>
                  <a:srgbClr val="1C1A1A"/>
                </a:solidFill>
                <a:latin typeface="Arial"/>
                <a:cs typeface="Arial"/>
              </a:rPr>
              <a:t>statements</a:t>
            </a:r>
            <a:r>
              <a:rPr b="1" spc="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b="1" dirty="0">
                <a:solidFill>
                  <a:srgbClr val="1C1A1A"/>
                </a:solidFill>
                <a:latin typeface="Arial"/>
                <a:cs typeface="Arial"/>
              </a:rPr>
              <a:t>while</a:t>
            </a:r>
            <a:r>
              <a:rPr b="1" spc="7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b="1" spc="5" dirty="0">
                <a:solidFill>
                  <a:srgbClr val="1C1A1A"/>
                </a:solidFill>
                <a:latin typeface="Arial"/>
                <a:cs typeface="Arial"/>
              </a:rPr>
              <a:t>guaranteeing</a:t>
            </a:r>
            <a:r>
              <a:rPr b="1" spc="10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b="1" spc="20" dirty="0">
                <a:solidFill>
                  <a:srgbClr val="1C1A1A"/>
                </a:solidFill>
                <a:latin typeface="Arial"/>
                <a:cs typeface="Arial"/>
              </a:rPr>
              <a:t>100%</a:t>
            </a:r>
            <a:r>
              <a:rPr b="1" spc="-5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b="1" spc="5" dirty="0">
                <a:solidFill>
                  <a:srgbClr val="1C1A1A"/>
                </a:solidFill>
                <a:latin typeface="Arial"/>
                <a:cs typeface="Arial"/>
              </a:rPr>
              <a:t>local</a:t>
            </a:r>
            <a:r>
              <a:rPr b="1" spc="-1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b="1" spc="5" dirty="0">
                <a:solidFill>
                  <a:srgbClr val="1C1A1A"/>
                </a:solidFill>
                <a:latin typeface="Arial"/>
                <a:cs typeface="Arial"/>
              </a:rPr>
              <a:t>data</a:t>
            </a:r>
            <a:r>
              <a:rPr b="1" spc="4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b="1" spc="5" dirty="0">
                <a:solidFill>
                  <a:srgbClr val="1C1A1A"/>
                </a:solidFill>
                <a:latin typeface="Arial"/>
                <a:cs typeface="Arial"/>
              </a:rPr>
              <a:t>sovereignty.</a:t>
            </a:r>
            <a:endParaRPr b="1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618498" y="300393"/>
            <a:ext cx="4800600" cy="6155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000" b="1" spc="30" dirty="0">
                <a:solidFill>
                  <a:srgbClr val="1C1A1A"/>
                </a:solidFill>
                <a:latin typeface="Arial"/>
                <a:cs typeface="Arial"/>
              </a:rPr>
              <a:t>V.</a:t>
            </a:r>
            <a:r>
              <a:rPr sz="4000" b="1" spc="2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4000" b="1" spc="50" dirty="0">
                <a:solidFill>
                  <a:srgbClr val="1C1A1A"/>
                </a:solidFill>
                <a:latin typeface="Arial"/>
                <a:cs typeface="Arial"/>
              </a:rPr>
              <a:t>Object</a:t>
            </a:r>
            <a:r>
              <a:rPr sz="4000" b="1" spc="-20" dirty="0">
                <a:solidFill>
                  <a:srgbClr val="1C1A1A"/>
                </a:solidFill>
                <a:latin typeface="Arial"/>
                <a:cs typeface="Arial"/>
              </a:rPr>
              <a:t>i</a:t>
            </a:r>
            <a:r>
              <a:rPr sz="4000" b="1" spc="45" dirty="0">
                <a:solidFill>
                  <a:srgbClr val="1C1A1A"/>
                </a:solidFill>
                <a:latin typeface="Arial"/>
                <a:cs typeface="Arial"/>
              </a:rPr>
              <a:t>ve</a:t>
            </a:r>
            <a:endParaRPr sz="400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18498" y="1349008"/>
            <a:ext cx="3799514" cy="21466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30504" marR="5080" indent="-218440">
              <a:lnSpc>
                <a:spcPct val="118400"/>
              </a:lnSpc>
            </a:pPr>
            <a:r>
              <a:rPr sz="2000" spc="-30" dirty="0">
                <a:solidFill>
                  <a:srgbClr val="1C1A1A"/>
                </a:solidFill>
                <a:latin typeface="Arial"/>
                <a:cs typeface="Arial"/>
              </a:rPr>
              <a:t>1.  </a:t>
            </a:r>
            <a:r>
              <a:rPr sz="2000" spc="-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2000" b="1" spc="5" dirty="0">
                <a:solidFill>
                  <a:srgbClr val="1C1A1A"/>
                </a:solidFill>
                <a:latin typeface="Arial"/>
                <a:cs typeface="Arial"/>
              </a:rPr>
              <a:t>Develop</a:t>
            </a:r>
            <a:r>
              <a:rPr sz="2000" b="1" dirty="0">
                <a:solidFill>
                  <a:srgbClr val="1C1A1A"/>
                </a:solidFill>
                <a:latin typeface="Arial"/>
                <a:cs typeface="Arial"/>
              </a:rPr>
              <a:t> an</a:t>
            </a:r>
            <a:r>
              <a:rPr sz="2000" b="1" spc="-2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2000" b="1" spc="5" dirty="0">
                <a:solidFill>
                  <a:srgbClr val="1C1A1A"/>
                </a:solidFill>
                <a:latin typeface="Arial"/>
                <a:cs typeface="Arial"/>
              </a:rPr>
              <a:t>Automated</a:t>
            </a:r>
            <a:r>
              <a:rPr sz="2000" b="1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2000" b="1" spc="-13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2000" b="1" spc="5" dirty="0">
                <a:solidFill>
                  <a:srgbClr val="1C1A1A"/>
                </a:solidFill>
                <a:latin typeface="Arial"/>
                <a:cs typeface="Arial"/>
              </a:rPr>
              <a:t>Program/Software:</a:t>
            </a:r>
            <a:r>
              <a:rPr sz="2000" b="1" spc="12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1C1A1A"/>
                </a:solidFill>
                <a:latin typeface="Arial"/>
                <a:cs typeface="Arial"/>
              </a:rPr>
              <a:t>Create</a:t>
            </a:r>
            <a:r>
              <a:rPr sz="2000" spc="3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2000" spc="-65" dirty="0">
                <a:solidFill>
                  <a:srgbClr val="1C1A1A"/>
                </a:solidFill>
                <a:latin typeface="Arial"/>
                <a:cs typeface="Arial"/>
              </a:rPr>
              <a:t>a</a:t>
            </a:r>
            <a:r>
              <a:rPr sz="2000" spc="6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1C1A1A"/>
                </a:solidFill>
                <a:latin typeface="Arial"/>
                <a:cs typeface="Arial"/>
              </a:rPr>
              <a:t>Python</a:t>
            </a:r>
            <a:r>
              <a:rPr sz="2000" spc="-2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2000" spc="10" dirty="0">
                <a:solidFill>
                  <a:srgbClr val="1C1A1A"/>
                </a:solidFill>
                <a:latin typeface="Arial"/>
                <a:cs typeface="Arial"/>
              </a:rPr>
              <a:t>application</a:t>
            </a:r>
            <a:r>
              <a:rPr sz="2000" spc="6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2000" spc="5" dirty="0">
                <a:solidFill>
                  <a:srgbClr val="1C1A1A"/>
                </a:solidFill>
                <a:latin typeface="Arial"/>
                <a:cs typeface="Arial"/>
              </a:rPr>
              <a:t>using</a:t>
            </a:r>
            <a:r>
              <a:rPr sz="2000" spc="1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2000" spc="5" dirty="0">
                <a:solidFill>
                  <a:srgbClr val="1C1A1A"/>
                </a:solidFill>
                <a:latin typeface="Arial"/>
                <a:cs typeface="Arial"/>
              </a:rPr>
              <a:t>pandas</a:t>
            </a:r>
            <a:r>
              <a:rPr sz="200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2000" spc="45" dirty="0">
                <a:solidFill>
                  <a:srgbClr val="1C1A1A"/>
                </a:solidFill>
                <a:latin typeface="Arial"/>
                <a:cs typeface="Arial"/>
              </a:rPr>
              <a:t>to</a:t>
            </a:r>
            <a:r>
              <a:rPr sz="2000" spc="2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2000" spc="5" dirty="0">
                <a:solidFill>
                  <a:srgbClr val="1C1A1A"/>
                </a:solidFill>
                <a:latin typeface="Arial"/>
                <a:cs typeface="Arial"/>
              </a:rPr>
              <a:t>clean</a:t>
            </a:r>
            <a:r>
              <a:rPr sz="2000" spc="1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1C1A1A"/>
                </a:solidFill>
                <a:latin typeface="Arial"/>
                <a:cs typeface="Arial"/>
              </a:rPr>
              <a:t>and</a:t>
            </a:r>
            <a:r>
              <a:rPr sz="2000" spc="3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2000" spc="10" dirty="0">
                <a:solidFill>
                  <a:srgbClr val="1C1A1A"/>
                </a:solidFill>
                <a:latin typeface="Arial"/>
                <a:cs typeface="Arial"/>
              </a:rPr>
              <a:t>categorize</a:t>
            </a:r>
            <a:r>
              <a:rPr sz="2000" spc="6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2000" spc="5" dirty="0">
                <a:solidFill>
                  <a:srgbClr val="1C1A1A"/>
                </a:solidFill>
                <a:latin typeface="Arial"/>
                <a:cs typeface="Arial"/>
              </a:rPr>
              <a:t>raw</a:t>
            </a:r>
            <a:r>
              <a:rPr sz="2000" spc="1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1C1A1A"/>
                </a:solidFill>
                <a:latin typeface="Arial"/>
                <a:cs typeface="Arial"/>
              </a:rPr>
              <a:t>bank</a:t>
            </a:r>
            <a:r>
              <a:rPr sz="2000" spc="-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2000" spc="-85" dirty="0">
                <a:solidFill>
                  <a:srgbClr val="1C1A1A"/>
                </a:solidFill>
                <a:latin typeface="Arial"/>
                <a:cs typeface="Arial"/>
              </a:rPr>
              <a:t>CSV</a:t>
            </a:r>
            <a:r>
              <a:rPr sz="2000" spc="6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2000" spc="5" dirty="0">
                <a:solidFill>
                  <a:srgbClr val="1C1A1A"/>
                </a:solidFill>
                <a:latin typeface="Arial"/>
                <a:cs typeface="Arial"/>
              </a:rPr>
              <a:t>data</a:t>
            </a:r>
            <a:r>
              <a:rPr sz="2000" spc="6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2000" spc="20" dirty="0">
                <a:solidFill>
                  <a:srgbClr val="1C1A1A"/>
                </a:solidFill>
                <a:latin typeface="Arial"/>
                <a:cs typeface="Arial"/>
              </a:rPr>
              <a:t>into</a:t>
            </a:r>
            <a:r>
              <a:rPr sz="2000" spc="-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1C1A1A"/>
                </a:solidFill>
                <a:latin typeface="Arial"/>
                <a:cs typeface="Arial"/>
              </a:rPr>
              <a:t>meaningful</a:t>
            </a:r>
            <a:r>
              <a:rPr sz="2000" spc="9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1C1A1A"/>
                </a:solidFill>
                <a:latin typeface="Arial"/>
                <a:cs typeface="Arial"/>
              </a:rPr>
              <a:t>insights.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993757" y="2053161"/>
            <a:ext cx="5576570" cy="14203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4475" marR="5080" indent="-232410">
              <a:lnSpc>
                <a:spcPct val="118400"/>
              </a:lnSpc>
            </a:pPr>
            <a:r>
              <a:rPr sz="2000" spc="-30" dirty="0">
                <a:solidFill>
                  <a:srgbClr val="1C1A1A"/>
                </a:solidFill>
                <a:latin typeface="Arial"/>
                <a:cs typeface="Arial"/>
              </a:rPr>
              <a:t>2.  </a:t>
            </a:r>
            <a:r>
              <a:rPr sz="2000" spc="6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2000" b="1" spc="15" dirty="0">
                <a:solidFill>
                  <a:srgbClr val="1C1A1A"/>
                </a:solidFill>
                <a:latin typeface="Arial"/>
                <a:cs typeface="Arial"/>
              </a:rPr>
              <a:t>Generate</a:t>
            </a:r>
            <a:r>
              <a:rPr sz="2000" b="1" spc="-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2000" b="1" spc="-20" dirty="0">
                <a:solidFill>
                  <a:srgbClr val="1C1A1A"/>
                </a:solidFill>
                <a:latin typeface="Arial"/>
                <a:cs typeface="Arial"/>
              </a:rPr>
              <a:t>Visual</a:t>
            </a:r>
            <a:r>
              <a:rPr sz="2000" b="1" spc="11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1C1A1A"/>
                </a:solidFill>
                <a:latin typeface="Arial"/>
                <a:cs typeface="Arial"/>
              </a:rPr>
              <a:t>Reports:</a:t>
            </a:r>
            <a:r>
              <a:rPr sz="2000" b="1" spc="1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2000" spc="-5" dirty="0">
                <a:solidFill>
                  <a:srgbClr val="1C1A1A"/>
                </a:solidFill>
                <a:latin typeface="Arial"/>
                <a:cs typeface="Arial"/>
              </a:rPr>
              <a:t>Utilize</a:t>
            </a:r>
            <a:r>
              <a:rPr sz="2000" spc="-2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2000" spc="5" dirty="0">
                <a:solidFill>
                  <a:srgbClr val="1C1A1A"/>
                </a:solidFill>
                <a:latin typeface="Arial"/>
                <a:cs typeface="Arial"/>
              </a:rPr>
              <a:t>openpyxl</a:t>
            </a:r>
            <a:r>
              <a:rPr sz="2000" spc="45" dirty="0">
                <a:solidFill>
                  <a:srgbClr val="1C1A1A"/>
                </a:solidFill>
                <a:latin typeface="Arial"/>
                <a:cs typeface="Arial"/>
              </a:rPr>
              <a:t> to</a:t>
            </a:r>
            <a:r>
              <a:rPr sz="2000" spc="2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2000" spc="15" dirty="0">
                <a:solidFill>
                  <a:srgbClr val="1C1A1A"/>
                </a:solidFill>
                <a:latin typeface="Arial"/>
                <a:cs typeface="Arial"/>
              </a:rPr>
              <a:t>auto-generate</a:t>
            </a:r>
            <a:r>
              <a:rPr sz="200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2000" spc="-114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2000" spc="-30" dirty="0">
                <a:solidFill>
                  <a:srgbClr val="1C1A1A"/>
                </a:solidFill>
                <a:latin typeface="Arial"/>
                <a:cs typeface="Arial"/>
              </a:rPr>
              <a:t>Excel</a:t>
            </a:r>
            <a:r>
              <a:rPr sz="2000" spc="-2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2000" spc="5" dirty="0">
                <a:solidFill>
                  <a:srgbClr val="1C1A1A"/>
                </a:solidFill>
                <a:latin typeface="Arial"/>
                <a:cs typeface="Arial"/>
              </a:rPr>
              <a:t>dashboards</a:t>
            </a:r>
            <a:r>
              <a:rPr sz="2000" spc="7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2000" spc="20" dirty="0">
                <a:solidFill>
                  <a:srgbClr val="1C1A1A"/>
                </a:solidFill>
                <a:latin typeface="Arial"/>
                <a:cs typeface="Arial"/>
              </a:rPr>
              <a:t>with</a:t>
            </a:r>
            <a:r>
              <a:rPr sz="2000" spc="1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1C1A1A"/>
                </a:solidFill>
                <a:latin typeface="Arial"/>
                <a:cs typeface="Arial"/>
              </a:rPr>
              <a:t>summary</a:t>
            </a:r>
            <a:r>
              <a:rPr sz="2000" spc="6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1C1A1A"/>
                </a:solidFill>
                <a:latin typeface="Arial"/>
                <a:cs typeface="Arial"/>
              </a:rPr>
              <a:t>tables</a:t>
            </a:r>
            <a:r>
              <a:rPr sz="2000" spc="4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2000" spc="10" dirty="0">
                <a:solidFill>
                  <a:srgbClr val="1C1A1A"/>
                </a:solidFill>
                <a:latin typeface="Arial"/>
                <a:cs typeface="Arial"/>
              </a:rPr>
              <a:t>and</a:t>
            </a:r>
            <a:r>
              <a:rPr sz="2000" spc="2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1C1A1A"/>
                </a:solidFill>
                <a:latin typeface="Arial"/>
                <a:cs typeface="Arial"/>
              </a:rPr>
              <a:t>pie</a:t>
            </a:r>
            <a:r>
              <a:rPr sz="2000" spc="-3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2000" spc="20" dirty="0">
                <a:solidFill>
                  <a:srgbClr val="1C1A1A"/>
                </a:solidFill>
                <a:latin typeface="Arial"/>
                <a:cs typeface="Arial"/>
              </a:rPr>
              <a:t>charts</a:t>
            </a:r>
            <a:r>
              <a:rPr sz="2000" spc="-1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2000" spc="20" dirty="0">
                <a:solidFill>
                  <a:srgbClr val="1C1A1A"/>
                </a:solidFill>
                <a:latin typeface="Arial"/>
                <a:cs typeface="Arial"/>
              </a:rPr>
              <a:t>for</a:t>
            </a:r>
            <a:r>
              <a:rPr sz="2000" spc="9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1C1A1A"/>
                </a:solidFill>
                <a:latin typeface="Arial"/>
                <a:cs typeface="Arial"/>
              </a:rPr>
              <a:t>immediate</a:t>
            </a:r>
            <a:r>
              <a:rPr sz="2000" spc="9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2000" spc="-20" dirty="0">
                <a:solidFill>
                  <a:srgbClr val="1C1A1A"/>
                </a:solidFill>
                <a:latin typeface="Arial"/>
                <a:cs typeface="Arial"/>
              </a:rPr>
              <a:t>user</a:t>
            </a:r>
            <a:r>
              <a:rPr sz="2000" spc="1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2000" spc="5" dirty="0">
                <a:solidFill>
                  <a:srgbClr val="1C1A1A"/>
                </a:solidFill>
                <a:latin typeface="Arial"/>
                <a:cs typeface="Arial"/>
              </a:rPr>
              <a:t>feedback.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60412" y="4572000"/>
            <a:ext cx="5425440" cy="14203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935" marR="5080" indent="-229870">
              <a:lnSpc>
                <a:spcPct val="118400"/>
              </a:lnSpc>
            </a:pPr>
            <a:r>
              <a:rPr sz="2000" spc="-30" dirty="0">
                <a:solidFill>
                  <a:srgbClr val="1C1A1A"/>
                </a:solidFill>
                <a:latin typeface="Arial"/>
                <a:cs typeface="Arial"/>
              </a:rPr>
              <a:t>3.  </a:t>
            </a:r>
            <a:r>
              <a:rPr sz="2000" spc="6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2000" b="1" spc="-25" dirty="0">
                <a:solidFill>
                  <a:srgbClr val="1C1A1A"/>
                </a:solidFill>
                <a:latin typeface="Arial"/>
                <a:cs typeface="Arial"/>
              </a:rPr>
              <a:t>Ensure</a:t>
            </a:r>
            <a:r>
              <a:rPr sz="2000" b="1" spc="6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2000" b="1" spc="20" dirty="0">
                <a:solidFill>
                  <a:srgbClr val="1C1A1A"/>
                </a:solidFill>
                <a:latin typeface="Arial"/>
                <a:cs typeface="Arial"/>
              </a:rPr>
              <a:t>Data</a:t>
            </a:r>
            <a:r>
              <a:rPr sz="2000" b="1" spc="1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1C1A1A"/>
                </a:solidFill>
                <a:latin typeface="Arial"/>
                <a:cs typeface="Arial"/>
              </a:rPr>
              <a:t>Sovereignty:</a:t>
            </a:r>
            <a:r>
              <a:rPr sz="2000" b="1" spc="6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2000" spc="-5" dirty="0">
                <a:solidFill>
                  <a:srgbClr val="1C1A1A"/>
                </a:solidFill>
                <a:latin typeface="Arial"/>
                <a:cs typeface="Arial"/>
              </a:rPr>
              <a:t>Validate</a:t>
            </a:r>
            <a:r>
              <a:rPr sz="2000" spc="8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2000" spc="-65" dirty="0">
                <a:solidFill>
                  <a:srgbClr val="1C1A1A"/>
                </a:solidFill>
                <a:latin typeface="Arial"/>
                <a:cs typeface="Arial"/>
              </a:rPr>
              <a:t>a</a:t>
            </a:r>
            <a:r>
              <a:rPr sz="2000" spc="6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2000" spc="10" dirty="0">
                <a:solidFill>
                  <a:srgbClr val="1C1A1A"/>
                </a:solidFill>
                <a:latin typeface="Arial"/>
                <a:cs typeface="Arial"/>
              </a:rPr>
              <a:t>local-execution</a:t>
            </a:r>
            <a:r>
              <a:rPr sz="2000" spc="8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2000" spc="10" dirty="0">
                <a:solidFill>
                  <a:srgbClr val="1C1A1A"/>
                </a:solidFill>
                <a:latin typeface="Arial"/>
                <a:cs typeface="Arial"/>
              </a:rPr>
              <a:t>model</a:t>
            </a:r>
            <a:r>
              <a:rPr sz="2000" spc="-4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1C1A1A"/>
                </a:solidFill>
                <a:latin typeface="Arial"/>
                <a:cs typeface="Arial"/>
              </a:rPr>
              <a:t>where</a:t>
            </a:r>
            <a:r>
              <a:rPr sz="2000" spc="8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2000" spc="-5" dirty="0">
                <a:solidFill>
                  <a:srgbClr val="1C1A1A"/>
                </a:solidFill>
                <a:latin typeface="Arial"/>
                <a:cs typeface="Arial"/>
              </a:rPr>
              <a:t>all</a:t>
            </a:r>
            <a:r>
              <a:rPr sz="2000" spc="1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2000" spc="5" dirty="0">
                <a:solidFill>
                  <a:srgbClr val="1C1A1A"/>
                </a:solidFill>
                <a:latin typeface="Arial"/>
                <a:cs typeface="Arial"/>
              </a:rPr>
              <a:t>processing</a:t>
            </a:r>
            <a:r>
              <a:rPr sz="200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2000" spc="15" dirty="0">
                <a:solidFill>
                  <a:srgbClr val="1C1A1A"/>
                </a:solidFill>
                <a:latin typeface="Arial"/>
                <a:cs typeface="Arial"/>
              </a:rPr>
              <a:t>occurs</a:t>
            </a:r>
            <a:r>
              <a:rPr sz="2000" spc="3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2000" spc="5" dirty="0">
                <a:solidFill>
                  <a:srgbClr val="1C1A1A"/>
                </a:solidFill>
                <a:latin typeface="Arial"/>
                <a:cs typeface="Arial"/>
              </a:rPr>
              <a:t>on</a:t>
            </a:r>
            <a:r>
              <a:rPr sz="200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2000" spc="20" dirty="0">
                <a:solidFill>
                  <a:srgbClr val="1C1A1A"/>
                </a:solidFill>
                <a:latin typeface="Arial"/>
                <a:cs typeface="Arial"/>
              </a:rPr>
              <a:t>the</a:t>
            </a:r>
            <a:r>
              <a:rPr sz="2000" spc="2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1C1A1A"/>
                </a:solidFill>
                <a:latin typeface="Arial"/>
                <a:cs typeface="Arial"/>
              </a:rPr>
              <a:t>client</a:t>
            </a:r>
            <a:r>
              <a:rPr sz="2000" spc="9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1C1A1A"/>
                </a:solidFill>
                <a:latin typeface="Arial"/>
                <a:cs typeface="Arial"/>
              </a:rPr>
              <a:t>machine,</a:t>
            </a:r>
            <a:r>
              <a:rPr sz="2000" spc="1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1C1A1A"/>
                </a:solidFill>
                <a:latin typeface="Arial"/>
                <a:cs typeface="Arial"/>
              </a:rPr>
              <a:t>eliminating</a:t>
            </a:r>
            <a:r>
              <a:rPr sz="2000" spc="8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2000" spc="35" dirty="0">
                <a:solidFill>
                  <a:srgbClr val="1C1A1A"/>
                </a:solidFill>
                <a:latin typeface="Arial"/>
                <a:cs typeface="Arial"/>
              </a:rPr>
              <a:t>third-party</a:t>
            </a:r>
            <a:r>
              <a:rPr sz="2000" spc="9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2000" spc="5" dirty="0">
                <a:solidFill>
                  <a:srgbClr val="1C1A1A"/>
                </a:solidFill>
                <a:latin typeface="Arial"/>
                <a:cs typeface="Arial"/>
              </a:rPr>
              <a:t>data</a:t>
            </a:r>
            <a:r>
              <a:rPr sz="2000" spc="6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1C1A1A"/>
                </a:solidFill>
                <a:latin typeface="Arial"/>
                <a:cs typeface="Arial"/>
              </a:rPr>
              <a:t>risks.</a:t>
            </a:r>
            <a:endParaRPr sz="20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249485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1812" y="685801"/>
            <a:ext cx="10744200" cy="27942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spc="55" dirty="0">
                <a:solidFill>
                  <a:srgbClr val="1C1A1A"/>
                </a:solidFill>
                <a:latin typeface="Arial"/>
                <a:cs typeface="Arial"/>
              </a:rPr>
              <a:t>VI.</a:t>
            </a:r>
            <a:r>
              <a:rPr sz="3200" b="1" spc="8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1C1A1A"/>
                </a:solidFill>
                <a:latin typeface="Arial"/>
                <a:cs typeface="Arial"/>
              </a:rPr>
              <a:t>Plann</a:t>
            </a:r>
            <a:r>
              <a:rPr sz="3200" b="1" spc="5" dirty="0">
                <a:solidFill>
                  <a:srgbClr val="1C1A1A"/>
                </a:solidFill>
                <a:latin typeface="Arial"/>
                <a:cs typeface="Arial"/>
              </a:rPr>
              <a:t>i</a:t>
            </a:r>
            <a:r>
              <a:rPr sz="3200" b="1" spc="40" dirty="0">
                <a:solidFill>
                  <a:srgbClr val="1C1A1A"/>
                </a:solidFill>
                <a:latin typeface="Arial"/>
                <a:cs typeface="Arial"/>
              </a:rPr>
              <a:t>ng</a:t>
            </a:r>
            <a:r>
              <a:rPr sz="3200" b="1" spc="-7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3200" b="1" spc="55" dirty="0">
                <a:solidFill>
                  <a:srgbClr val="1C1A1A"/>
                </a:solidFill>
                <a:latin typeface="Arial"/>
                <a:cs typeface="Arial"/>
              </a:rPr>
              <a:t>of</a:t>
            </a:r>
            <a:r>
              <a:rPr sz="3200" b="1" spc="-2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3200" b="1" spc="60" dirty="0">
                <a:solidFill>
                  <a:srgbClr val="1C1A1A"/>
                </a:solidFill>
                <a:latin typeface="Arial"/>
                <a:cs typeface="Arial"/>
              </a:rPr>
              <a:t>Work</a:t>
            </a:r>
            <a:r>
              <a:rPr sz="3200" b="1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3200" b="1" i="1" spc="75" dirty="0">
                <a:solidFill>
                  <a:srgbClr val="1C1A1A"/>
                </a:solidFill>
                <a:latin typeface="Arial"/>
                <a:cs typeface="Arial"/>
              </a:rPr>
              <a:t>I</a:t>
            </a:r>
            <a:r>
              <a:rPr sz="3200" b="1" i="1" spc="13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3200" b="1" spc="15" dirty="0">
                <a:solidFill>
                  <a:srgbClr val="1C1A1A"/>
                </a:solidFill>
                <a:latin typeface="Arial"/>
                <a:cs typeface="Arial"/>
              </a:rPr>
              <a:t>Proposed</a:t>
            </a:r>
            <a:r>
              <a:rPr sz="3200" b="1" spc="6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3200" b="1" spc="15" dirty="0">
                <a:solidFill>
                  <a:srgbClr val="1C1A1A"/>
                </a:solidFill>
                <a:latin typeface="Arial"/>
                <a:cs typeface="Arial"/>
              </a:rPr>
              <a:t>Solut</a:t>
            </a:r>
            <a:r>
              <a:rPr sz="3200" b="1" spc="55" dirty="0">
                <a:solidFill>
                  <a:srgbClr val="1C1A1A"/>
                </a:solidFill>
                <a:latin typeface="Arial"/>
                <a:cs typeface="Arial"/>
              </a:rPr>
              <a:t>i</a:t>
            </a:r>
            <a:r>
              <a:rPr sz="3200" b="1" spc="30" dirty="0">
                <a:solidFill>
                  <a:srgbClr val="1C1A1A"/>
                </a:solidFill>
                <a:latin typeface="Arial"/>
                <a:cs typeface="Arial"/>
              </a:rPr>
              <a:t>on</a:t>
            </a:r>
            <a:endParaRPr sz="3200" dirty="0">
              <a:latin typeface="Arial"/>
              <a:cs typeface="Arial"/>
            </a:endParaRPr>
          </a:p>
          <a:p>
            <a:pPr marL="294640" lvl="1" indent="-276860">
              <a:lnSpc>
                <a:spcPct val="100000"/>
              </a:lnSpc>
              <a:spcBef>
                <a:spcPts val="1095"/>
              </a:spcBef>
              <a:buClr>
                <a:srgbClr val="1C1A1A"/>
              </a:buClr>
              <a:buFont typeface="Arial"/>
              <a:buAutoNum type="arabicPeriod"/>
              <a:tabLst>
                <a:tab pos="295275" algn="l"/>
              </a:tabLst>
            </a:pPr>
            <a:r>
              <a:rPr sz="1600" b="1" spc="30" dirty="0">
                <a:solidFill>
                  <a:srgbClr val="1C1A1A"/>
                </a:solidFill>
                <a:latin typeface="Arial"/>
                <a:cs typeface="Arial"/>
              </a:rPr>
              <a:t>Current</a:t>
            </a:r>
            <a:r>
              <a:rPr sz="1600" b="1" spc="114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600" b="1" spc="40" dirty="0">
                <a:solidFill>
                  <a:srgbClr val="1C1A1A"/>
                </a:solidFill>
                <a:latin typeface="Arial"/>
                <a:cs typeface="Arial"/>
              </a:rPr>
              <a:t>Implementat</a:t>
            </a:r>
            <a:r>
              <a:rPr sz="1600" b="1" spc="30" dirty="0">
                <a:solidFill>
                  <a:srgbClr val="1C1A1A"/>
                </a:solidFill>
                <a:latin typeface="Arial"/>
                <a:cs typeface="Arial"/>
              </a:rPr>
              <a:t>i</a:t>
            </a:r>
            <a:r>
              <a:rPr sz="1600" b="1" spc="5" dirty="0">
                <a:solidFill>
                  <a:srgbClr val="1C1A1A"/>
                </a:solidFill>
                <a:latin typeface="Arial"/>
                <a:cs typeface="Arial"/>
              </a:rPr>
              <a:t>on</a:t>
            </a:r>
            <a:r>
              <a:rPr sz="1600" b="1" spc="1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600" b="1" spc="20" dirty="0">
                <a:solidFill>
                  <a:srgbClr val="1C1A1A"/>
                </a:solidFill>
                <a:latin typeface="Arial"/>
                <a:cs typeface="Arial"/>
              </a:rPr>
              <a:t>(</a:t>
            </a:r>
            <a:r>
              <a:rPr sz="1600" b="1" spc="30" dirty="0">
                <a:solidFill>
                  <a:srgbClr val="1C1A1A"/>
                </a:solidFill>
                <a:latin typeface="Arial"/>
                <a:cs typeface="Arial"/>
              </a:rPr>
              <a:t>Methodology</a:t>
            </a:r>
            <a:r>
              <a:rPr sz="1600" b="1" spc="20" dirty="0">
                <a:solidFill>
                  <a:srgbClr val="1C1A1A"/>
                </a:solidFill>
                <a:latin typeface="Arial"/>
                <a:cs typeface="Arial"/>
              </a:rPr>
              <a:t>)</a:t>
            </a:r>
            <a:endParaRPr sz="16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1400" spc="-30" dirty="0">
                <a:solidFill>
                  <a:srgbClr val="1C1A1A"/>
                </a:solidFill>
                <a:latin typeface="Arial"/>
                <a:cs typeface="Arial"/>
              </a:rPr>
              <a:t>The</a:t>
            </a:r>
            <a:r>
              <a:rPr sz="1400" spc="3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1C1A1A"/>
                </a:solidFill>
                <a:latin typeface="Arial"/>
                <a:cs typeface="Arial"/>
              </a:rPr>
              <a:t>current</a:t>
            </a:r>
            <a:r>
              <a:rPr sz="1400" spc="7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1C1A1A"/>
                </a:solidFill>
                <a:latin typeface="Arial"/>
                <a:cs typeface="Arial"/>
              </a:rPr>
              <a:t>system</a:t>
            </a:r>
            <a:r>
              <a:rPr sz="1400" spc="8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spc="-20" dirty="0">
                <a:solidFill>
                  <a:srgbClr val="1C1A1A"/>
                </a:solidFill>
                <a:latin typeface="Arial"/>
                <a:cs typeface="Arial"/>
              </a:rPr>
              <a:t>is</a:t>
            </a:r>
            <a:r>
              <a:rPr sz="1400" spc="-5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spc="-65" dirty="0">
                <a:solidFill>
                  <a:srgbClr val="1C1A1A"/>
                </a:solidFill>
                <a:latin typeface="Arial"/>
                <a:cs typeface="Arial"/>
              </a:rPr>
              <a:t>a</a:t>
            </a:r>
            <a:r>
              <a:rPr sz="1400" spc="2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1C1A1A"/>
                </a:solidFill>
                <a:latin typeface="Arial"/>
                <a:cs typeface="Arial"/>
              </a:rPr>
              <a:t>functional</a:t>
            </a:r>
            <a:r>
              <a:rPr sz="1400" spc="12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C1A1A"/>
                </a:solidFill>
                <a:latin typeface="Arial"/>
                <a:cs typeface="Arial"/>
              </a:rPr>
              <a:t>Python</a:t>
            </a:r>
            <a:r>
              <a:rPr sz="1400" spc="-2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spc="15" dirty="0">
                <a:solidFill>
                  <a:srgbClr val="1C1A1A"/>
                </a:solidFill>
                <a:latin typeface="Arial"/>
                <a:cs typeface="Arial"/>
              </a:rPr>
              <a:t>script</a:t>
            </a:r>
            <a:r>
              <a:rPr sz="1400" spc="4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1C1A1A"/>
                </a:solidFill>
                <a:latin typeface="Arial"/>
                <a:cs typeface="Arial"/>
              </a:rPr>
              <a:t>executing</a:t>
            </a:r>
            <a:r>
              <a:rPr sz="1400" spc="4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spc="-65" dirty="0">
                <a:solidFill>
                  <a:srgbClr val="1C1A1A"/>
                </a:solidFill>
                <a:latin typeface="Arial"/>
                <a:cs typeface="Arial"/>
              </a:rPr>
              <a:t>a</a:t>
            </a:r>
            <a:r>
              <a:rPr sz="1400" spc="4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1C1A1A"/>
                </a:solidFill>
                <a:latin typeface="Arial"/>
                <a:cs typeface="Arial"/>
              </a:rPr>
              <a:t>linear</a:t>
            </a:r>
            <a:r>
              <a:rPr sz="1400" spc="4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spc="5" dirty="0">
                <a:solidFill>
                  <a:srgbClr val="1C1A1A"/>
                </a:solidFill>
                <a:latin typeface="Arial"/>
                <a:cs typeface="Arial"/>
              </a:rPr>
              <a:t>data</a:t>
            </a:r>
            <a:r>
              <a:rPr sz="1400" spc="6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C1A1A"/>
                </a:solidFill>
                <a:latin typeface="Arial"/>
                <a:cs typeface="Arial"/>
              </a:rPr>
              <a:t>pipeline:</a:t>
            </a:r>
            <a:endParaRPr sz="1400" dirty="0">
              <a:latin typeface="Arial"/>
              <a:cs typeface="Arial"/>
            </a:endParaRPr>
          </a:p>
          <a:p>
            <a:pPr marL="320040" lvl="2" indent="-220979">
              <a:lnSpc>
                <a:spcPct val="100000"/>
              </a:lnSpc>
              <a:spcBef>
                <a:spcPts val="835"/>
              </a:spcBef>
              <a:buClr>
                <a:srgbClr val="1C1A1A"/>
              </a:buClr>
              <a:buFont typeface="Arial"/>
              <a:buAutoNum type="arabicPeriod"/>
              <a:tabLst>
                <a:tab pos="326390" algn="l"/>
              </a:tabLst>
            </a:pPr>
            <a:r>
              <a:rPr sz="1400" b="1" spc="5" dirty="0">
                <a:solidFill>
                  <a:srgbClr val="1C1A1A"/>
                </a:solidFill>
                <a:latin typeface="Arial"/>
                <a:cs typeface="Arial"/>
              </a:rPr>
              <a:t>Input</a:t>
            </a:r>
            <a:r>
              <a:rPr sz="1400" b="1" spc="6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spc="240" dirty="0">
                <a:solidFill>
                  <a:srgbClr val="1C1A1A"/>
                </a:solidFill>
                <a:latin typeface="Arial"/>
                <a:cs typeface="Arial"/>
              </a:rPr>
              <a:t>:</a:t>
            </a:r>
            <a:r>
              <a:rPr sz="1400" spc="-30" dirty="0">
                <a:solidFill>
                  <a:srgbClr val="1C1A1A"/>
                </a:solidFill>
                <a:latin typeface="Arial"/>
                <a:cs typeface="Arial"/>
              </a:rPr>
              <a:t>The</a:t>
            </a:r>
            <a:r>
              <a:rPr sz="1400" spc="3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spc="15" dirty="0">
                <a:solidFill>
                  <a:srgbClr val="1C1A1A"/>
                </a:solidFill>
                <a:latin typeface="Arial"/>
                <a:cs typeface="Arial"/>
              </a:rPr>
              <a:t>script</a:t>
            </a:r>
            <a:r>
              <a:rPr sz="1400" spc="6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1C1A1A"/>
                </a:solidFill>
                <a:latin typeface="Arial"/>
                <a:cs typeface="Arial"/>
              </a:rPr>
              <a:t>accepts</a:t>
            </a:r>
            <a:r>
              <a:rPr sz="1400" spc="4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spc="-65" dirty="0">
                <a:solidFill>
                  <a:srgbClr val="1C1A1A"/>
                </a:solidFill>
                <a:latin typeface="Arial"/>
                <a:cs typeface="Arial"/>
              </a:rPr>
              <a:t>a</a:t>
            </a:r>
            <a:r>
              <a:rPr sz="1400" spc="6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spc="5" dirty="0">
                <a:solidFill>
                  <a:srgbClr val="1C1A1A"/>
                </a:solidFill>
                <a:latin typeface="Arial"/>
                <a:cs typeface="Arial"/>
              </a:rPr>
              <a:t>raw</a:t>
            </a:r>
            <a:r>
              <a:rPr sz="1400" spc="-3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spc="-80" dirty="0">
                <a:solidFill>
                  <a:srgbClr val="1C1A1A"/>
                </a:solidFill>
                <a:latin typeface="Arial"/>
                <a:cs typeface="Arial"/>
              </a:rPr>
              <a:t>CSV</a:t>
            </a:r>
            <a:r>
              <a:rPr sz="1400" spc="6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1C1A1A"/>
                </a:solidFill>
                <a:latin typeface="Arial"/>
                <a:cs typeface="Arial"/>
              </a:rPr>
              <a:t>bank</a:t>
            </a:r>
            <a:r>
              <a:rPr sz="1400" spc="-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spc="15" dirty="0">
                <a:solidFill>
                  <a:srgbClr val="1C1A1A"/>
                </a:solidFill>
                <a:latin typeface="Arial"/>
                <a:cs typeface="Arial"/>
              </a:rPr>
              <a:t>statement.</a:t>
            </a:r>
            <a:endParaRPr sz="1400" dirty="0">
              <a:latin typeface="Arial"/>
              <a:cs typeface="Arial"/>
            </a:endParaRPr>
          </a:p>
          <a:p>
            <a:pPr marL="320040" marR="136525" lvl="2" indent="-232410">
              <a:lnSpc>
                <a:spcPct val="120100"/>
              </a:lnSpc>
              <a:buClr>
                <a:srgbClr val="1C1A1A"/>
              </a:buClr>
              <a:buFont typeface="Arial"/>
              <a:buAutoNum type="arabicPeriod"/>
              <a:tabLst>
                <a:tab pos="323215" algn="l"/>
              </a:tabLst>
            </a:pPr>
            <a:r>
              <a:rPr sz="1400" b="1" spc="-10" dirty="0">
                <a:solidFill>
                  <a:srgbClr val="1C1A1A"/>
                </a:solidFill>
                <a:latin typeface="Arial"/>
                <a:cs typeface="Arial"/>
              </a:rPr>
              <a:t>Cleaning:</a:t>
            </a:r>
            <a:r>
              <a:rPr sz="1400" b="1" spc="1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spc="-35" dirty="0">
                <a:solidFill>
                  <a:srgbClr val="1C1A1A"/>
                </a:solidFill>
                <a:latin typeface="Arial"/>
                <a:cs typeface="Arial"/>
              </a:rPr>
              <a:t>The</a:t>
            </a:r>
            <a:r>
              <a:rPr sz="1400" spc="3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spc="-15" dirty="0">
                <a:solidFill>
                  <a:srgbClr val="1C1A1A"/>
                </a:solidFill>
                <a:latin typeface="Arial"/>
                <a:cs typeface="Arial"/>
              </a:rPr>
              <a:t>clean_amount_column</a:t>
            </a:r>
            <a:r>
              <a:rPr sz="140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spc="-12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spc="15" dirty="0">
                <a:solidFill>
                  <a:srgbClr val="1C1A1A"/>
                </a:solidFill>
                <a:latin typeface="Arial"/>
                <a:cs typeface="Arial"/>
              </a:rPr>
              <a:t>function</a:t>
            </a:r>
            <a:r>
              <a:rPr sz="1400" spc="7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1C1A1A"/>
                </a:solidFill>
                <a:latin typeface="Arial"/>
                <a:cs typeface="Arial"/>
              </a:rPr>
              <a:t>sanitizes</a:t>
            </a:r>
            <a:r>
              <a:rPr sz="1400" spc="4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spc="15" dirty="0">
                <a:solidFill>
                  <a:srgbClr val="1C1A1A"/>
                </a:solidFill>
                <a:latin typeface="Arial"/>
                <a:cs typeface="Arial"/>
              </a:rPr>
              <a:t>currency</a:t>
            </a:r>
            <a:r>
              <a:rPr sz="1400" spc="4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spc="5" dirty="0">
                <a:solidFill>
                  <a:srgbClr val="1C1A1A"/>
                </a:solidFill>
                <a:latin typeface="Arial"/>
                <a:cs typeface="Arial"/>
              </a:rPr>
              <a:t>strings</a:t>
            </a:r>
            <a:r>
              <a:rPr sz="1400" spc="5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spc="5" dirty="0">
                <a:solidFill>
                  <a:srgbClr val="1C1A1A"/>
                </a:solidFill>
                <a:latin typeface="Arial"/>
                <a:cs typeface="Arial"/>
              </a:rPr>
              <a:t>(removing</a:t>
            </a:r>
            <a:r>
              <a:rPr sz="1400" spc="8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spc="555" dirty="0">
                <a:solidFill>
                  <a:srgbClr val="1C1A1A"/>
                </a:solidFill>
                <a:latin typeface="Arial"/>
                <a:cs typeface="Arial"/>
              </a:rPr>
              <a:t>·</a:t>
            </a:r>
            <a:r>
              <a:rPr sz="1400" spc="-85" dirty="0">
                <a:solidFill>
                  <a:srgbClr val="1C1A1A"/>
                </a:solidFill>
                <a:latin typeface="Arial"/>
                <a:cs typeface="Arial"/>
              </a:rPr>
              <a:t>·,</a:t>
            </a:r>
            <a:r>
              <a:rPr sz="1400" spc="-7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1C1A1A"/>
                </a:solidFill>
                <a:latin typeface="Arial"/>
                <a:cs typeface="Arial"/>
              </a:rPr>
              <a:t>commas)</a:t>
            </a:r>
            <a:r>
              <a:rPr sz="1400" spc="10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spc="5" dirty="0">
                <a:solidFill>
                  <a:srgbClr val="1C1A1A"/>
                </a:solidFill>
                <a:latin typeface="Arial"/>
                <a:cs typeface="Arial"/>
              </a:rPr>
              <a:t>and</a:t>
            </a:r>
            <a:r>
              <a:rPr sz="1400" spc="-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C1A1A"/>
                </a:solidFill>
                <a:latin typeface="Arial"/>
                <a:cs typeface="Arial"/>
              </a:rPr>
              <a:t>standardizes</a:t>
            </a:r>
            <a:r>
              <a:rPr sz="1400" spc="9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spc="5" dirty="0">
                <a:solidFill>
                  <a:srgbClr val="1C1A1A"/>
                </a:solidFill>
                <a:latin typeface="Arial"/>
                <a:cs typeface="Arial"/>
              </a:rPr>
              <a:t>data</a:t>
            </a:r>
            <a:r>
              <a:rPr sz="1400" spc="4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spc="5" dirty="0">
                <a:solidFill>
                  <a:srgbClr val="1C1A1A"/>
                </a:solidFill>
                <a:latin typeface="Arial"/>
                <a:cs typeface="Arial"/>
              </a:rPr>
              <a:t>types.</a:t>
            </a:r>
            <a:endParaRPr sz="1400" dirty="0">
              <a:latin typeface="Arial"/>
              <a:cs typeface="Arial"/>
            </a:endParaRPr>
          </a:p>
          <a:p>
            <a:pPr marL="320040" marR="450215" lvl="2" indent="-229235">
              <a:lnSpc>
                <a:spcPct val="118400"/>
              </a:lnSpc>
              <a:spcBef>
                <a:spcPts val="20"/>
              </a:spcBef>
              <a:buClr>
                <a:srgbClr val="1C1A1A"/>
              </a:buClr>
              <a:buFont typeface="Arial"/>
              <a:buAutoNum type="arabicPeriod"/>
              <a:tabLst>
                <a:tab pos="323215" algn="l"/>
              </a:tabLst>
            </a:pPr>
            <a:r>
              <a:rPr sz="1400" b="1" spc="5" dirty="0">
                <a:solidFill>
                  <a:srgbClr val="1C1A1A"/>
                </a:solidFill>
                <a:latin typeface="Arial"/>
                <a:cs typeface="Arial"/>
              </a:rPr>
              <a:t>Categorization:</a:t>
            </a:r>
            <a:r>
              <a:rPr sz="1400" b="1" spc="10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spc="-100" dirty="0">
                <a:solidFill>
                  <a:srgbClr val="1C1A1A"/>
                </a:solidFill>
                <a:latin typeface="Arial"/>
                <a:cs typeface="Arial"/>
              </a:rPr>
              <a:t>A</a:t>
            </a:r>
            <a:r>
              <a:rPr sz="1400" spc="6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spc="15" dirty="0">
                <a:solidFill>
                  <a:srgbClr val="1C1A1A"/>
                </a:solidFill>
                <a:latin typeface="Arial"/>
                <a:cs typeface="Arial"/>
              </a:rPr>
              <a:t>keyword-matching</a:t>
            </a:r>
            <a:r>
              <a:rPr sz="1400" spc="8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spc="15" dirty="0">
                <a:solidFill>
                  <a:srgbClr val="1C1A1A"/>
                </a:solidFill>
                <a:latin typeface="Arial"/>
                <a:cs typeface="Arial"/>
              </a:rPr>
              <a:t>algorithm</a:t>
            </a:r>
            <a:r>
              <a:rPr sz="1400" spc="5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spc="5" dirty="0">
                <a:solidFill>
                  <a:srgbClr val="1C1A1A"/>
                </a:solidFill>
                <a:latin typeface="Arial"/>
                <a:cs typeface="Arial"/>
              </a:rPr>
              <a:t>maps</a:t>
            </a:r>
            <a:r>
              <a:rPr sz="1400" spc="-5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spc="5" dirty="0">
                <a:solidFill>
                  <a:srgbClr val="1C1A1A"/>
                </a:solidFill>
                <a:latin typeface="Arial"/>
                <a:cs typeface="Arial"/>
              </a:rPr>
              <a:t>transaction</a:t>
            </a:r>
            <a:r>
              <a:rPr sz="1400" spc="12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spc="5" dirty="0">
                <a:solidFill>
                  <a:srgbClr val="1C1A1A"/>
                </a:solidFill>
                <a:latin typeface="Arial"/>
                <a:cs typeface="Arial"/>
              </a:rPr>
              <a:t>descriptions</a:t>
            </a:r>
            <a:r>
              <a:rPr sz="1400" spc="5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spc="45" dirty="0">
                <a:solidFill>
                  <a:srgbClr val="1C1A1A"/>
                </a:solidFill>
                <a:latin typeface="Arial"/>
                <a:cs typeface="Arial"/>
              </a:rPr>
              <a:t>to</a:t>
            </a:r>
            <a:r>
              <a:rPr sz="1400" spc="3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1C1A1A"/>
                </a:solidFill>
                <a:latin typeface="Arial"/>
                <a:cs typeface="Arial"/>
              </a:rPr>
              <a:t>categories</a:t>
            </a:r>
            <a:r>
              <a:rPr sz="1400" spc="10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C1A1A"/>
                </a:solidFill>
                <a:latin typeface="Arial"/>
                <a:cs typeface="Arial"/>
              </a:rPr>
              <a:t>(</a:t>
            </a:r>
            <a:r>
              <a:rPr sz="1400" spc="-5" dirty="0">
                <a:solidFill>
                  <a:srgbClr val="1C1A1A"/>
                </a:solidFill>
                <a:latin typeface="Arial"/>
                <a:cs typeface="Arial"/>
              </a:rPr>
              <a:t>e.g</a:t>
            </a:r>
            <a:r>
              <a:rPr sz="1400" spc="-50" dirty="0">
                <a:solidFill>
                  <a:srgbClr val="1C1A1A"/>
                </a:solidFill>
                <a:latin typeface="Arial"/>
                <a:cs typeface="Arial"/>
              </a:rPr>
              <a:t>.</a:t>
            </a:r>
            <a:r>
              <a:rPr sz="1400" spc="145" dirty="0">
                <a:solidFill>
                  <a:srgbClr val="1C1A1A"/>
                </a:solidFill>
                <a:latin typeface="Arial"/>
                <a:cs typeface="Arial"/>
              </a:rPr>
              <a:t>,</a:t>
            </a:r>
            <a:r>
              <a:rPr sz="1400" spc="-12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1C1A1A"/>
                </a:solidFill>
                <a:latin typeface="Arial"/>
                <a:cs typeface="Arial"/>
              </a:rPr>
              <a:t>"Swiggy"</a:t>
            </a:r>
            <a:r>
              <a:rPr sz="1400" spc="10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spc="-170" dirty="0">
                <a:solidFill>
                  <a:srgbClr val="1C1A1A"/>
                </a:solidFill>
                <a:latin typeface="Arial"/>
                <a:cs typeface="Arial"/>
              </a:rPr>
              <a:t>---+</a:t>
            </a:r>
            <a:r>
              <a:rPr sz="1400" spc="9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spc="5" dirty="0">
                <a:solidFill>
                  <a:srgbClr val="1C1A1A"/>
                </a:solidFill>
                <a:latin typeface="Arial"/>
                <a:cs typeface="Arial"/>
              </a:rPr>
              <a:t>"Food")</a:t>
            </a:r>
            <a:r>
              <a:rPr sz="1400" spc="8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C1A1A"/>
                </a:solidFill>
                <a:latin typeface="Arial"/>
                <a:cs typeface="Arial"/>
              </a:rPr>
              <a:t>using</a:t>
            </a:r>
            <a:r>
              <a:rPr sz="1400" spc="-1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spc="-65" dirty="0">
                <a:solidFill>
                  <a:srgbClr val="1C1A1A"/>
                </a:solidFill>
                <a:latin typeface="Arial"/>
                <a:cs typeface="Arial"/>
              </a:rPr>
              <a:t>a</a:t>
            </a:r>
            <a:r>
              <a:rPr sz="1400" spc="4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spc="20" dirty="0">
                <a:solidFill>
                  <a:srgbClr val="1C1A1A"/>
                </a:solidFill>
                <a:latin typeface="Arial"/>
                <a:cs typeface="Arial"/>
              </a:rPr>
              <a:t>predefined</a:t>
            </a:r>
            <a:r>
              <a:rPr sz="1400" spc="-2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1C1A1A"/>
                </a:solidFill>
                <a:latin typeface="Arial"/>
                <a:cs typeface="Arial"/>
              </a:rPr>
              <a:t>dictionary.</a:t>
            </a:r>
            <a:endParaRPr sz="1400" dirty="0">
              <a:latin typeface="Arial"/>
              <a:cs typeface="Arial"/>
            </a:endParaRPr>
          </a:p>
          <a:p>
            <a:pPr marL="322580" marR="5080" lvl="2" indent="-234950">
              <a:lnSpc>
                <a:spcPct val="118400"/>
              </a:lnSpc>
              <a:spcBef>
                <a:spcPts val="20"/>
              </a:spcBef>
              <a:buClr>
                <a:srgbClr val="1C1A1A"/>
              </a:buClr>
              <a:buFont typeface="Arial"/>
              <a:buAutoNum type="arabicPeriod"/>
              <a:tabLst>
                <a:tab pos="326390" algn="l"/>
              </a:tabLst>
            </a:pPr>
            <a:r>
              <a:rPr sz="1400" b="1" dirty="0">
                <a:solidFill>
                  <a:srgbClr val="1C1A1A"/>
                </a:solidFill>
                <a:latin typeface="Arial"/>
                <a:cs typeface="Arial"/>
              </a:rPr>
              <a:t>Reporting:</a:t>
            </a:r>
            <a:r>
              <a:rPr sz="1400" b="1" spc="-6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spc="-30" dirty="0">
                <a:solidFill>
                  <a:srgbClr val="1C1A1A"/>
                </a:solidFill>
                <a:latin typeface="Arial"/>
                <a:cs typeface="Arial"/>
              </a:rPr>
              <a:t>The</a:t>
            </a:r>
            <a:r>
              <a:rPr sz="1400" spc="3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spc="5" dirty="0">
                <a:solidFill>
                  <a:srgbClr val="1C1A1A"/>
                </a:solidFill>
                <a:latin typeface="Arial"/>
                <a:cs typeface="Arial"/>
              </a:rPr>
              <a:t>openpyxl</a:t>
            </a:r>
            <a:r>
              <a:rPr sz="1400" spc="9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1C1A1A"/>
                </a:solidFill>
                <a:latin typeface="Arial"/>
                <a:cs typeface="Arial"/>
              </a:rPr>
              <a:t>library</a:t>
            </a:r>
            <a:r>
              <a:rPr sz="1400" dirty="0">
                <a:solidFill>
                  <a:srgbClr val="1C1A1A"/>
                </a:solidFill>
                <a:latin typeface="Arial"/>
                <a:cs typeface="Arial"/>
              </a:rPr>
              <a:t> generates</a:t>
            </a:r>
            <a:r>
              <a:rPr sz="1400" spc="8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spc="-65" dirty="0">
                <a:solidFill>
                  <a:srgbClr val="1C1A1A"/>
                </a:solidFill>
                <a:latin typeface="Arial"/>
                <a:cs typeface="Arial"/>
              </a:rPr>
              <a:t>a</a:t>
            </a:r>
            <a:r>
              <a:rPr sz="1400" spc="20" dirty="0">
                <a:solidFill>
                  <a:srgbClr val="1C1A1A"/>
                </a:solidFill>
                <a:latin typeface="Arial"/>
                <a:cs typeface="Arial"/>
              </a:rPr>
              <a:t> structured</a:t>
            </a:r>
            <a:r>
              <a:rPr sz="1400" spc="6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spc="-25" dirty="0">
                <a:solidFill>
                  <a:srgbClr val="1C1A1A"/>
                </a:solidFill>
                <a:latin typeface="Arial"/>
                <a:cs typeface="Arial"/>
              </a:rPr>
              <a:t>.xlsx</a:t>
            </a:r>
            <a:r>
              <a:rPr sz="1400" spc="-4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spc="15" dirty="0">
                <a:solidFill>
                  <a:srgbClr val="1C1A1A"/>
                </a:solidFill>
                <a:latin typeface="Arial"/>
                <a:cs typeface="Arial"/>
              </a:rPr>
              <a:t>file</a:t>
            </a:r>
            <a:r>
              <a:rPr sz="1400" spc="1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spc="25" dirty="0">
                <a:solidFill>
                  <a:srgbClr val="1C1A1A"/>
                </a:solidFill>
                <a:latin typeface="Arial"/>
                <a:cs typeface="Arial"/>
              </a:rPr>
              <a:t>contai</a:t>
            </a:r>
            <a:r>
              <a:rPr sz="1400" spc="10" dirty="0">
                <a:solidFill>
                  <a:srgbClr val="1C1A1A"/>
                </a:solidFill>
                <a:latin typeface="Arial"/>
                <a:cs typeface="Arial"/>
              </a:rPr>
              <a:t>ning</a:t>
            </a:r>
            <a:r>
              <a:rPr sz="1400" spc="-3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spc="-65" dirty="0">
                <a:solidFill>
                  <a:srgbClr val="1C1A1A"/>
                </a:solidFill>
                <a:latin typeface="Arial"/>
                <a:cs typeface="Arial"/>
              </a:rPr>
              <a:t>a</a:t>
            </a:r>
            <a:r>
              <a:rPr sz="1400" spc="2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spc="5" dirty="0">
                <a:solidFill>
                  <a:srgbClr val="1C1A1A"/>
                </a:solidFill>
                <a:latin typeface="Arial"/>
                <a:cs typeface="Arial"/>
              </a:rPr>
              <a:t>transaction </a:t>
            </a:r>
            <a:r>
              <a:rPr sz="1400" dirty="0">
                <a:solidFill>
                  <a:srgbClr val="1C1A1A"/>
                </a:solidFill>
                <a:latin typeface="Arial"/>
                <a:cs typeface="Arial"/>
              </a:rPr>
              <a:t>log,</a:t>
            </a:r>
            <a:r>
              <a:rPr sz="1400" spc="-2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spc="-65" dirty="0">
                <a:solidFill>
                  <a:srgbClr val="1C1A1A"/>
                </a:solidFill>
                <a:latin typeface="Arial"/>
                <a:cs typeface="Arial"/>
              </a:rPr>
              <a:t>a</a:t>
            </a:r>
            <a:r>
              <a:rPr sz="1400" spc="2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spc="15" dirty="0">
                <a:solidFill>
                  <a:srgbClr val="1C1A1A"/>
                </a:solidFill>
                <a:latin typeface="Arial"/>
                <a:cs typeface="Arial"/>
              </a:rPr>
              <a:t>category</a:t>
            </a:r>
            <a:r>
              <a:rPr sz="1400" spc="6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spc="-15" dirty="0">
                <a:solidFill>
                  <a:srgbClr val="1C1A1A"/>
                </a:solidFill>
                <a:latin typeface="Arial"/>
                <a:cs typeface="Arial"/>
              </a:rPr>
              <a:t>summary</a:t>
            </a:r>
            <a:r>
              <a:rPr sz="1400" spc="8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C1A1A"/>
                </a:solidFill>
                <a:latin typeface="Arial"/>
                <a:cs typeface="Arial"/>
              </a:rPr>
              <a:t>table,</a:t>
            </a:r>
            <a:r>
              <a:rPr sz="1400" spc="5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spc="5" dirty="0">
                <a:solidFill>
                  <a:srgbClr val="1C1A1A"/>
                </a:solidFill>
                <a:latin typeface="Arial"/>
                <a:cs typeface="Arial"/>
              </a:rPr>
              <a:t>and</a:t>
            </a:r>
            <a:r>
              <a:rPr sz="1400" spc="-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spc="-20" dirty="0">
                <a:solidFill>
                  <a:srgbClr val="1C1A1A"/>
                </a:solidFill>
                <a:latin typeface="Arial"/>
                <a:cs typeface="Arial"/>
              </a:rPr>
              <a:t>an</a:t>
            </a:r>
            <a:r>
              <a:rPr sz="1400" spc="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1C1A1A"/>
                </a:solidFill>
                <a:latin typeface="Arial"/>
                <a:cs typeface="Arial"/>
              </a:rPr>
              <a:t>embedded</a:t>
            </a:r>
            <a:r>
              <a:rPr sz="1400" spc="114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spc="-45" dirty="0">
                <a:solidFill>
                  <a:srgbClr val="1C1A1A"/>
                </a:solidFill>
                <a:latin typeface="Arial"/>
                <a:cs typeface="Arial"/>
              </a:rPr>
              <a:t>Pie</a:t>
            </a:r>
            <a:r>
              <a:rPr sz="140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1C1A1A"/>
                </a:solidFill>
                <a:latin typeface="Arial"/>
                <a:cs typeface="Arial"/>
              </a:rPr>
              <a:t>Chart.</a:t>
            </a:r>
            <a:endParaRPr sz="14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1812" y="3620940"/>
            <a:ext cx="11277600" cy="15140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7630">
              <a:lnSpc>
                <a:spcPct val="100000"/>
              </a:lnSpc>
            </a:pPr>
            <a:r>
              <a:rPr sz="1950" b="1" spc="20" dirty="0">
                <a:solidFill>
                  <a:srgbClr val="1C1A1A"/>
                </a:solidFill>
                <a:latin typeface="Arial"/>
                <a:cs typeface="Arial"/>
              </a:rPr>
              <a:t>Future</a:t>
            </a:r>
            <a:r>
              <a:rPr sz="1950" b="1" spc="8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950" b="1" dirty="0">
                <a:solidFill>
                  <a:srgbClr val="1C1A1A"/>
                </a:solidFill>
                <a:latin typeface="Arial"/>
                <a:cs typeface="Arial"/>
              </a:rPr>
              <a:t>Enhancements</a:t>
            </a:r>
            <a:endParaRPr lang="en-US" sz="1950" b="1" dirty="0">
              <a:solidFill>
                <a:srgbClr val="1C1A1A"/>
              </a:solidFill>
              <a:latin typeface="Arial"/>
              <a:cs typeface="Arial"/>
            </a:endParaRPr>
          </a:p>
          <a:p>
            <a:pPr marL="87630">
              <a:lnSpc>
                <a:spcPct val="100000"/>
              </a:lnSpc>
            </a:pPr>
            <a:endParaRPr lang="en-US" sz="1400" dirty="0">
              <a:latin typeface="Arial"/>
              <a:cs typeface="Arial"/>
            </a:endParaRPr>
          </a:p>
          <a:p>
            <a:pPr marL="314325" marR="124460" indent="-226695">
              <a:lnSpc>
                <a:spcPct val="119300"/>
              </a:lnSpc>
              <a:spcBef>
                <a:spcPts val="10"/>
              </a:spcBef>
              <a:buClr>
                <a:srgbClr val="1C1A1A"/>
              </a:buClr>
              <a:buFont typeface="Arial"/>
              <a:buChar char="•"/>
              <a:tabLst>
                <a:tab pos="317500" algn="l"/>
              </a:tabLst>
            </a:pPr>
            <a:r>
              <a:rPr lang="en-US" sz="1400" b="1" spc="5" dirty="0">
                <a:solidFill>
                  <a:srgbClr val="1C1A1A"/>
                </a:solidFill>
                <a:latin typeface="Arial"/>
                <a:cs typeface="Arial"/>
              </a:rPr>
              <a:t>Intelligent</a:t>
            </a:r>
            <a:r>
              <a:rPr lang="en-US" sz="1400" b="1" spc="9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lang="en-US" sz="1400" b="1" spc="-20" dirty="0">
                <a:solidFill>
                  <a:srgbClr val="1C1A1A"/>
                </a:solidFill>
                <a:latin typeface="Arial"/>
                <a:cs typeface="Arial"/>
              </a:rPr>
              <a:t>ML</a:t>
            </a:r>
            <a:r>
              <a:rPr lang="en-US" sz="1400" b="1" spc="-1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lang="en-US" sz="1400" b="1" spc="5" dirty="0">
                <a:solidFill>
                  <a:srgbClr val="1C1A1A"/>
                </a:solidFill>
                <a:latin typeface="Arial"/>
                <a:cs typeface="Arial"/>
              </a:rPr>
              <a:t>Categorization:</a:t>
            </a:r>
            <a:r>
              <a:rPr lang="en-US" sz="1400" b="1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lang="en-US" sz="1400" b="1" spc="-14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lang="en-US" sz="1400" spc="-20" dirty="0">
                <a:solidFill>
                  <a:srgbClr val="1C1A1A"/>
                </a:solidFill>
                <a:latin typeface="Arial"/>
                <a:cs typeface="Arial"/>
              </a:rPr>
              <a:t>Replace</a:t>
            </a:r>
            <a:r>
              <a:rPr lang="en-US" sz="1400" spc="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lang="en-US" sz="1400" spc="15" dirty="0">
                <a:solidFill>
                  <a:srgbClr val="1C1A1A"/>
                </a:solidFill>
                <a:latin typeface="Arial"/>
                <a:cs typeface="Arial"/>
              </a:rPr>
              <a:t>static</a:t>
            </a:r>
            <a:r>
              <a:rPr lang="en-US" sz="1400" spc="8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lang="en-US" sz="1400" spc="5" dirty="0">
                <a:solidFill>
                  <a:srgbClr val="1C1A1A"/>
                </a:solidFill>
                <a:latin typeface="Arial"/>
                <a:cs typeface="Arial"/>
              </a:rPr>
              <a:t>keywords</a:t>
            </a:r>
            <a:r>
              <a:rPr lang="en-US" sz="1400" spc="2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lang="en-US" sz="1400" spc="10" dirty="0">
                <a:solidFill>
                  <a:srgbClr val="1C1A1A"/>
                </a:solidFill>
                <a:latin typeface="Arial"/>
                <a:cs typeface="Arial"/>
              </a:rPr>
              <a:t>with</a:t>
            </a:r>
            <a:r>
              <a:rPr lang="en-US" sz="1400" spc="3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lang="en-US" sz="1400" spc="-65" dirty="0">
                <a:solidFill>
                  <a:srgbClr val="1C1A1A"/>
                </a:solidFill>
                <a:latin typeface="Arial"/>
                <a:cs typeface="Arial"/>
              </a:rPr>
              <a:t>a</a:t>
            </a:r>
            <a:r>
              <a:rPr lang="en-US" sz="1400" spc="2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lang="en-US" sz="1400" spc="15" dirty="0">
                <a:solidFill>
                  <a:srgbClr val="1C1A1A"/>
                </a:solidFill>
                <a:latin typeface="Arial"/>
                <a:cs typeface="Arial"/>
              </a:rPr>
              <a:t>scikit-learn</a:t>
            </a:r>
            <a:r>
              <a:rPr lang="en-US" sz="1400" spc="1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lang="en-US" sz="1400" spc="-20" dirty="0">
                <a:solidFill>
                  <a:srgbClr val="1C1A1A"/>
                </a:solidFill>
                <a:latin typeface="Arial"/>
                <a:cs typeface="Arial"/>
              </a:rPr>
              <a:t>Naive</a:t>
            </a:r>
            <a:r>
              <a:rPr lang="en-US" sz="1400" spc="2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lang="en-US" sz="1400" spc="-35" dirty="0">
                <a:solidFill>
                  <a:srgbClr val="1C1A1A"/>
                </a:solidFill>
                <a:latin typeface="Arial"/>
                <a:cs typeface="Arial"/>
              </a:rPr>
              <a:t>Bayes</a:t>
            </a:r>
            <a:r>
              <a:rPr lang="en-US" sz="1400" spc="-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lang="en-US" sz="1400" dirty="0">
                <a:solidFill>
                  <a:srgbClr val="1C1A1A"/>
                </a:solidFill>
                <a:latin typeface="Arial"/>
                <a:cs typeface="Arial"/>
              </a:rPr>
              <a:t>classifier.</a:t>
            </a:r>
            <a:r>
              <a:rPr lang="en-US" sz="1400" spc="-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lang="en-US" sz="1400" spc="-30" dirty="0">
                <a:solidFill>
                  <a:srgbClr val="1C1A1A"/>
                </a:solidFill>
                <a:latin typeface="Arial"/>
                <a:cs typeface="Arial"/>
              </a:rPr>
              <a:t>The</a:t>
            </a:r>
            <a:r>
              <a:rPr lang="en-US" sz="1400" spc="3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lang="en-US" sz="1400" spc="-10" dirty="0">
                <a:solidFill>
                  <a:srgbClr val="1C1A1A"/>
                </a:solidFill>
                <a:latin typeface="Arial"/>
                <a:cs typeface="Arial"/>
              </a:rPr>
              <a:t>system</a:t>
            </a:r>
            <a:r>
              <a:rPr lang="en-US" sz="1400" spc="2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lang="en-US" sz="1400" dirty="0">
                <a:solidFill>
                  <a:srgbClr val="1C1A1A"/>
                </a:solidFill>
                <a:latin typeface="Arial"/>
                <a:cs typeface="Arial"/>
              </a:rPr>
              <a:t>will</a:t>
            </a:r>
            <a:r>
              <a:rPr lang="en-US" sz="1400" spc="6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lang="en-US" sz="1400" dirty="0">
                <a:solidFill>
                  <a:srgbClr val="1C1A1A"/>
                </a:solidFill>
                <a:latin typeface="Arial"/>
                <a:cs typeface="Arial"/>
              </a:rPr>
              <a:t>learn</a:t>
            </a:r>
            <a:r>
              <a:rPr lang="en-US" sz="1400" spc="-2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lang="en-US" sz="1400" spc="20" dirty="0">
                <a:solidFill>
                  <a:srgbClr val="1C1A1A"/>
                </a:solidFill>
                <a:latin typeface="Arial"/>
                <a:cs typeface="Arial"/>
              </a:rPr>
              <a:t>from</a:t>
            </a:r>
            <a:r>
              <a:rPr lang="en-US" sz="1400" spc="7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lang="en-US" sz="1400" spc="-15" dirty="0">
                <a:solidFill>
                  <a:srgbClr val="1C1A1A"/>
                </a:solidFill>
                <a:latin typeface="Arial"/>
                <a:cs typeface="Arial"/>
              </a:rPr>
              <a:t>user</a:t>
            </a:r>
            <a:r>
              <a:rPr lang="en-US" sz="1400" spc="4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lang="en-US" sz="1400" spc="5" dirty="0">
                <a:solidFill>
                  <a:srgbClr val="1C1A1A"/>
                </a:solidFill>
                <a:latin typeface="Arial"/>
                <a:cs typeface="Arial"/>
              </a:rPr>
              <a:t>corrections,</a:t>
            </a:r>
            <a:r>
              <a:rPr lang="en-US" sz="1400" spc="9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lang="en-US" sz="1400" spc="10" dirty="0">
                <a:solidFill>
                  <a:srgbClr val="1C1A1A"/>
                </a:solidFill>
                <a:latin typeface="Arial"/>
                <a:cs typeface="Arial"/>
              </a:rPr>
              <a:t>creating</a:t>
            </a:r>
            <a:r>
              <a:rPr lang="en-US" sz="1400" spc="2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lang="en-US" sz="1400" spc="-65" dirty="0">
                <a:solidFill>
                  <a:srgbClr val="1C1A1A"/>
                </a:solidFill>
                <a:latin typeface="Arial"/>
                <a:cs typeface="Arial"/>
              </a:rPr>
              <a:t>a</a:t>
            </a:r>
            <a:r>
              <a:rPr lang="en-US" sz="1400" spc="-3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lang="en-US" sz="1400" dirty="0">
                <a:solidFill>
                  <a:srgbClr val="1C1A1A"/>
                </a:solidFill>
                <a:latin typeface="Arial"/>
                <a:cs typeface="Arial"/>
              </a:rPr>
              <a:t>personalized</a:t>
            </a:r>
            <a:r>
              <a:rPr lang="en-US" sz="1400" spc="12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lang="en-US" sz="1400" spc="10" dirty="0">
                <a:solidFill>
                  <a:srgbClr val="1C1A1A"/>
                </a:solidFill>
                <a:latin typeface="Arial"/>
                <a:cs typeface="Arial"/>
              </a:rPr>
              <a:t>model</a:t>
            </a:r>
            <a:r>
              <a:rPr lang="en-US" sz="1400" spc="-4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lang="en-US" sz="1400" spc="20" dirty="0">
                <a:solidFill>
                  <a:srgbClr val="1C1A1A"/>
                </a:solidFill>
                <a:latin typeface="Arial"/>
                <a:cs typeface="Arial"/>
              </a:rPr>
              <a:t>that</a:t>
            </a:r>
            <a:r>
              <a:rPr lang="en-US" sz="1400" spc="8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lang="en-US" sz="1400" spc="5" dirty="0">
                <a:solidFill>
                  <a:srgbClr val="1C1A1A"/>
                </a:solidFill>
                <a:latin typeface="Arial"/>
                <a:cs typeface="Arial"/>
              </a:rPr>
              <a:t>improves</a:t>
            </a:r>
            <a:r>
              <a:rPr lang="en-US" sz="1400" spc="1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lang="en-US" sz="1400" spc="-10" dirty="0">
                <a:solidFill>
                  <a:srgbClr val="1C1A1A"/>
                </a:solidFill>
                <a:latin typeface="Arial"/>
                <a:cs typeface="Arial"/>
              </a:rPr>
              <a:t>over</a:t>
            </a:r>
            <a:r>
              <a:rPr lang="en-US" sz="1400" spc="6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lang="en-US" sz="1400" spc="10" dirty="0">
                <a:solidFill>
                  <a:srgbClr val="1C1A1A"/>
                </a:solidFill>
                <a:latin typeface="Arial"/>
                <a:cs typeface="Arial"/>
              </a:rPr>
              <a:t>time</a:t>
            </a:r>
            <a:r>
              <a:rPr lang="en-US" sz="1400" spc="-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lang="en-US" sz="1400" spc="15" dirty="0">
                <a:solidFill>
                  <a:srgbClr val="1C1A1A"/>
                </a:solidFill>
                <a:latin typeface="Arial"/>
                <a:cs typeface="Arial"/>
              </a:rPr>
              <a:t>without</a:t>
            </a:r>
            <a:r>
              <a:rPr lang="en-US" sz="1400" spc="12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lang="en-US" sz="1400" spc="5" dirty="0">
                <a:solidFill>
                  <a:srgbClr val="1C1A1A"/>
                </a:solidFill>
                <a:latin typeface="Arial"/>
                <a:cs typeface="Arial"/>
              </a:rPr>
              <a:t>sharing</a:t>
            </a:r>
            <a:r>
              <a:rPr lang="en-US" sz="1400" spc="3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lang="en-US" sz="1400" spc="5" dirty="0">
                <a:solidFill>
                  <a:srgbClr val="1C1A1A"/>
                </a:solidFill>
                <a:latin typeface="Arial"/>
                <a:cs typeface="Arial"/>
              </a:rPr>
              <a:t>data.</a:t>
            </a:r>
            <a:endParaRPr lang="en-US" sz="1400" dirty="0">
              <a:latin typeface="Arial"/>
              <a:cs typeface="Arial"/>
            </a:endParaRPr>
          </a:p>
          <a:p>
            <a:pPr marL="311785" marR="5080" indent="-224154">
              <a:lnSpc>
                <a:spcPct val="118400"/>
              </a:lnSpc>
              <a:spcBef>
                <a:spcPts val="20"/>
              </a:spcBef>
              <a:buClr>
                <a:srgbClr val="1C1A1A"/>
              </a:buClr>
              <a:buFont typeface="Arial"/>
              <a:buChar char="•"/>
              <a:tabLst>
                <a:tab pos="317500" algn="l"/>
              </a:tabLst>
            </a:pPr>
            <a:r>
              <a:rPr sz="1400" b="1" spc="10" dirty="0">
                <a:solidFill>
                  <a:srgbClr val="1C1A1A"/>
                </a:solidFill>
                <a:latin typeface="Arial"/>
                <a:cs typeface="Arial"/>
              </a:rPr>
              <a:t>Predictive</a:t>
            </a:r>
            <a:r>
              <a:rPr sz="1400" b="1" spc="5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1C1A1A"/>
                </a:solidFill>
                <a:latin typeface="Arial"/>
                <a:cs typeface="Arial"/>
              </a:rPr>
              <a:t>Forecasting:</a:t>
            </a:r>
            <a:r>
              <a:rPr sz="1400" b="1" spc="10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1C1A1A"/>
                </a:solidFill>
                <a:latin typeface="Arial"/>
                <a:cs typeface="Arial"/>
              </a:rPr>
              <a:t>Implement</a:t>
            </a:r>
            <a:r>
              <a:rPr sz="1400" spc="4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spc="5" dirty="0">
                <a:solidFill>
                  <a:srgbClr val="1C1A1A"/>
                </a:solidFill>
                <a:latin typeface="Arial"/>
                <a:cs typeface="Arial"/>
              </a:rPr>
              <a:t>time-series</a:t>
            </a:r>
            <a:r>
              <a:rPr sz="1400" spc="7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1C1A1A"/>
                </a:solidFill>
                <a:latin typeface="Arial"/>
                <a:cs typeface="Arial"/>
              </a:rPr>
              <a:t>forecasting</a:t>
            </a:r>
            <a:r>
              <a:rPr sz="1400" spc="9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spc="30" dirty="0">
                <a:solidFill>
                  <a:srgbClr val="1C1A1A"/>
                </a:solidFill>
                <a:latin typeface="Arial"/>
                <a:cs typeface="Arial"/>
              </a:rPr>
              <a:t>to</a:t>
            </a:r>
            <a:r>
              <a:rPr sz="1400" spc="6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spc="15" dirty="0">
                <a:solidFill>
                  <a:srgbClr val="1C1A1A"/>
                </a:solidFill>
                <a:latin typeface="Arial"/>
                <a:cs typeface="Arial"/>
              </a:rPr>
              <a:t>predict</a:t>
            </a:r>
            <a:r>
              <a:rPr sz="1400" spc="3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spc="20" dirty="0">
                <a:solidFill>
                  <a:srgbClr val="1C1A1A"/>
                </a:solidFill>
                <a:latin typeface="Arial"/>
                <a:cs typeface="Arial"/>
              </a:rPr>
              <a:t>future</a:t>
            </a:r>
            <a:r>
              <a:rPr sz="1400" spc="1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spc="5" dirty="0">
                <a:solidFill>
                  <a:srgbClr val="1C1A1A"/>
                </a:solidFill>
                <a:latin typeface="Arial"/>
                <a:cs typeface="Arial"/>
              </a:rPr>
              <a:t>spending</a:t>
            </a:r>
            <a:r>
              <a:rPr sz="1400" spc="5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spc="20" dirty="0">
                <a:solidFill>
                  <a:srgbClr val="1C1A1A"/>
                </a:solidFill>
                <a:latin typeface="Arial"/>
                <a:cs typeface="Arial"/>
              </a:rPr>
              <a:t>trends</a:t>
            </a:r>
            <a:r>
              <a:rPr sz="1400" spc="5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C1A1A"/>
                </a:solidFill>
                <a:latin typeface="Arial"/>
                <a:cs typeface="Arial"/>
              </a:rPr>
              <a:t>based</a:t>
            </a:r>
            <a:r>
              <a:rPr sz="1400" spc="2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spc="5" dirty="0">
                <a:solidFill>
                  <a:srgbClr val="1C1A1A"/>
                </a:solidFill>
                <a:latin typeface="Arial"/>
                <a:cs typeface="Arial"/>
              </a:rPr>
              <a:t>on</a:t>
            </a:r>
            <a:r>
              <a:rPr sz="1400" spc="2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1C1A1A"/>
                </a:solidFill>
                <a:latin typeface="Arial"/>
                <a:cs typeface="Arial"/>
              </a:rPr>
              <a:t>historical</a:t>
            </a:r>
            <a:r>
              <a:rPr sz="140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spc="5" dirty="0">
                <a:solidFill>
                  <a:srgbClr val="1C1A1A"/>
                </a:solidFill>
                <a:latin typeface="Arial"/>
                <a:cs typeface="Arial"/>
              </a:rPr>
              <a:t>data,</a:t>
            </a:r>
            <a:r>
              <a:rPr sz="1400" spc="-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spc="5" dirty="0">
                <a:solidFill>
                  <a:srgbClr val="1C1A1A"/>
                </a:solidFill>
                <a:latin typeface="Arial"/>
                <a:cs typeface="Arial"/>
              </a:rPr>
              <a:t>alerting</a:t>
            </a:r>
            <a:r>
              <a:rPr sz="1400" spc="7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1C1A1A"/>
                </a:solidFill>
                <a:latin typeface="Arial"/>
                <a:cs typeface="Arial"/>
              </a:rPr>
              <a:t>users</a:t>
            </a:r>
            <a:r>
              <a:rPr sz="1400" spc="-20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spc="30" dirty="0">
                <a:solidFill>
                  <a:srgbClr val="1C1A1A"/>
                </a:solidFill>
                <a:latin typeface="Arial"/>
                <a:cs typeface="Arial"/>
              </a:rPr>
              <a:t>to</a:t>
            </a:r>
            <a:r>
              <a:rPr sz="1400" spc="6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spc="15" dirty="0">
                <a:solidFill>
                  <a:srgbClr val="1C1A1A"/>
                </a:solidFill>
                <a:latin typeface="Arial"/>
                <a:cs typeface="Arial"/>
              </a:rPr>
              <a:t>potential</a:t>
            </a:r>
            <a:r>
              <a:rPr sz="1400" spc="20" dirty="0">
                <a:solidFill>
                  <a:srgbClr val="1C1A1A"/>
                </a:solidFill>
                <a:latin typeface="Arial"/>
                <a:cs typeface="Arial"/>
              </a:rPr>
              <a:t> budget</a:t>
            </a:r>
            <a:r>
              <a:rPr sz="1400" spc="15" dirty="0">
                <a:solidFill>
                  <a:srgbClr val="1C1A1A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C1A1A"/>
                </a:solidFill>
                <a:latin typeface="Arial"/>
                <a:cs typeface="Arial"/>
              </a:rPr>
              <a:t>overruns.</a:t>
            </a:r>
            <a:endParaRPr sz="14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7FD19-7AB2-55D6-333B-E1C7BE091F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7A8349CF-DE4E-B6FE-DB09-B9D0EA7F6BFF}"/>
              </a:ext>
            </a:extLst>
          </p:cNvPr>
          <p:cNvSpPr txBox="1"/>
          <p:nvPr/>
        </p:nvSpPr>
        <p:spPr>
          <a:xfrm>
            <a:off x="531812" y="685801"/>
            <a:ext cx="10744200" cy="54476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z="3200" b="1" spc="55" dirty="0">
                <a:solidFill>
                  <a:srgbClr val="1C1A1A"/>
                </a:solidFill>
                <a:latin typeface="Arial"/>
                <a:cs typeface="Arial"/>
              </a:rPr>
              <a:t>Improvements in PBL 2</a:t>
            </a:r>
          </a:p>
          <a:p>
            <a:pPr marL="12700">
              <a:lnSpc>
                <a:spcPct val="100000"/>
              </a:lnSpc>
            </a:pPr>
            <a:endParaRPr lang="en-US" sz="3200" b="1" spc="55" dirty="0">
              <a:solidFill>
                <a:srgbClr val="1C1A1A"/>
              </a:solidFill>
              <a:latin typeface="Arial"/>
              <a:cs typeface="Arial"/>
            </a:endParaRPr>
          </a:p>
          <a:p>
            <a:r>
              <a:rPr lang="en-US" b="1" dirty="0"/>
              <a:t>Categorization using a ML model</a:t>
            </a:r>
            <a:r>
              <a:rPr lang="en-US" dirty="0"/>
              <a:t>: Uses an NLP Machine Learning model (scikit-learn) to intelligently categorize transactions based on description.</a:t>
            </a:r>
          </a:p>
          <a:p>
            <a:endParaRPr lang="en-US" dirty="0"/>
          </a:p>
          <a:p>
            <a:r>
              <a:rPr lang="en-US" b="1" dirty="0"/>
              <a:t>Robust Fallback Logic</a:t>
            </a:r>
            <a:r>
              <a:rPr lang="en-US" dirty="0"/>
              <a:t>: Automatically falls back to keyword-matching if the ML model is not available.</a:t>
            </a:r>
          </a:p>
          <a:p>
            <a:endParaRPr lang="en-US" dirty="0"/>
          </a:p>
          <a:p>
            <a:r>
              <a:rPr lang="en-US" b="1" dirty="0"/>
              <a:t>Data Generation</a:t>
            </a:r>
            <a:r>
              <a:rPr lang="en-US" dirty="0"/>
              <a:t>: Includes a script (generate_large_csv.py) that uses Faker to generate synthetic transaction data for testing.</a:t>
            </a:r>
          </a:p>
          <a:p>
            <a:endParaRPr lang="en-US" dirty="0"/>
          </a:p>
          <a:p>
            <a:r>
              <a:rPr lang="en-US" b="1" dirty="0"/>
              <a:t>Smart Data Cleaning</a:t>
            </a:r>
            <a:r>
              <a:rPr lang="en-US" dirty="0"/>
              <a:t>: Handles various currency formats, extracts negative/positive balances correctly, and tracks Income vs. Expenses.</a:t>
            </a:r>
          </a:p>
          <a:p>
            <a:endParaRPr lang="en-US" dirty="0"/>
          </a:p>
          <a:p>
            <a:r>
              <a:rPr lang="en-US" b="1" dirty="0"/>
              <a:t>Visual Excel Reporting</a:t>
            </a:r>
            <a:r>
              <a:rPr lang="en-US" dirty="0"/>
              <a:t>: Generates a beautiful Excel workbook using </a:t>
            </a:r>
            <a:r>
              <a:rPr lang="en-US" dirty="0" err="1"/>
              <a:t>openpyxl</a:t>
            </a:r>
            <a:r>
              <a:rPr lang="en-US" dirty="0"/>
              <a:t> with:</a:t>
            </a:r>
          </a:p>
          <a:p>
            <a:pPr lvl="1"/>
            <a:r>
              <a:rPr lang="en-US" b="1" dirty="0"/>
              <a:t>Transactions Sheet</a:t>
            </a:r>
            <a:r>
              <a:rPr lang="en-US" dirty="0"/>
              <a:t>: Cleaned raw data, color-coded for income (green) and expenses (red).</a:t>
            </a:r>
          </a:p>
          <a:p>
            <a:pPr lvl="1"/>
            <a:r>
              <a:rPr lang="en-US" b="1" dirty="0"/>
              <a:t>Summary Sheet</a:t>
            </a:r>
            <a:r>
              <a:rPr lang="en-US" dirty="0"/>
              <a:t>: Financial overview and aggregated spending.</a:t>
            </a:r>
          </a:p>
          <a:p>
            <a:pPr lvl="1"/>
            <a:r>
              <a:rPr lang="en-US" b="1" dirty="0"/>
              <a:t>Visualization</a:t>
            </a:r>
            <a:r>
              <a:rPr lang="en-US" dirty="0"/>
              <a:t>: A built-in Pie Chart showing spending distribution based on categories.</a:t>
            </a:r>
          </a:p>
          <a:p>
            <a:pPr marL="12700">
              <a:lnSpc>
                <a:spcPct val="100000"/>
              </a:lnSpc>
            </a:pPr>
            <a:endParaRPr lang="en-US" sz="2000" b="1" spc="55" dirty="0">
              <a:solidFill>
                <a:srgbClr val="1C1A1A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855093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89012" y="914400"/>
            <a:ext cx="9982200" cy="548709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49262" y="228600"/>
            <a:ext cx="3975100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29259" indent="-416559">
              <a:lnSpc>
                <a:spcPct val="100000"/>
              </a:lnSpc>
              <a:buClr>
                <a:srgbClr val="1C1A1A"/>
              </a:buClr>
              <a:buFont typeface="Arial"/>
              <a:buAutoNum type="romanUcPeriod" startAt="7"/>
              <a:tabLst>
                <a:tab pos="429895" algn="l"/>
              </a:tabLst>
            </a:pPr>
            <a:r>
              <a:rPr sz="3200" b="1" dirty="0">
                <a:solidFill>
                  <a:srgbClr val="1C1A1A"/>
                </a:solidFill>
                <a:latin typeface="Arial"/>
                <a:cs typeface="Arial"/>
              </a:rPr>
              <a:t>Screenshots</a:t>
            </a:r>
            <a:endParaRPr sz="32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A34A5C96-B8CB-9ED5-7FF6-F5577A1E8F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93"/>
            <a:ext cx="12188825" cy="6856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40624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omputer screen shot of a computer screen&#10;&#10;AI-generated content may be incorrect.">
            <a:extLst>
              <a:ext uri="{FF2B5EF4-FFF2-40B4-BE49-F238E27FC236}">
                <a16:creationId xmlns:a16="http://schemas.microsoft.com/office/drawing/2014/main" id="{C01849A3-AB44-A476-BD22-9AD98D19B4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93"/>
            <a:ext cx="12188825" cy="6856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93189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793EEEC0-8E85-FD55-A367-4050D844D5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93"/>
            <a:ext cx="12188825" cy="6856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44785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2DD7D43C-2791-7579-8377-E7B8789D51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93"/>
            <a:ext cx="12188825" cy="6856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48330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E32E166-826D-4F8C-D6AF-7FCEDE5E22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3253"/>
            <a:ext cx="12188825" cy="6551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13829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C52FE90-5868-CF2B-5638-0CD27E1F7F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3253"/>
            <a:ext cx="12188825" cy="6551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09929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4496" y="1347985"/>
            <a:ext cx="1878964" cy="2476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50" b="1" spc="30" dirty="0">
                <a:solidFill>
                  <a:srgbClr val="1C1A1C"/>
                </a:solidFill>
                <a:latin typeface="Arial"/>
                <a:cs typeface="Arial"/>
              </a:rPr>
              <a:t>VIII.</a:t>
            </a:r>
            <a:r>
              <a:rPr sz="1750" b="1" spc="9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750" b="1" spc="-105" dirty="0">
                <a:solidFill>
                  <a:srgbClr val="1C1A1C"/>
                </a:solidFill>
                <a:latin typeface="Arial"/>
                <a:cs typeface="Arial"/>
              </a:rPr>
              <a:t>B</a:t>
            </a:r>
            <a:r>
              <a:rPr sz="1750" b="1" spc="-60" dirty="0">
                <a:solidFill>
                  <a:srgbClr val="1C1A1C"/>
                </a:solidFill>
                <a:latin typeface="Arial"/>
                <a:cs typeface="Arial"/>
              </a:rPr>
              <a:t>i</a:t>
            </a:r>
            <a:r>
              <a:rPr sz="1750" b="1" spc="5" dirty="0">
                <a:solidFill>
                  <a:srgbClr val="1C1A1C"/>
                </a:solidFill>
                <a:latin typeface="Arial"/>
                <a:cs typeface="Arial"/>
              </a:rPr>
              <a:t>bliography</a:t>
            </a:r>
            <a:endParaRPr sz="17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79997" y="1730861"/>
            <a:ext cx="5885815" cy="17703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36220" indent="-212725">
              <a:lnSpc>
                <a:spcPct val="100000"/>
              </a:lnSpc>
              <a:buClr>
                <a:srgbClr val="1C1A1C"/>
              </a:buClr>
              <a:buSzPct val="104761"/>
              <a:buFont typeface="Arial"/>
              <a:buAutoNum type="arabicPeriod"/>
              <a:tabLst>
                <a:tab pos="250825" algn="l"/>
              </a:tabLst>
            </a:pPr>
            <a:r>
              <a:rPr sz="1050" b="1" spc="20" dirty="0">
                <a:solidFill>
                  <a:srgbClr val="1C1A1C"/>
                </a:solidFill>
                <a:latin typeface="Arial"/>
                <a:cs typeface="Arial"/>
              </a:rPr>
              <a:t>Pandas</a:t>
            </a:r>
            <a:r>
              <a:rPr sz="1050" b="1" spc="3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050" b="1" spc="30" dirty="0">
                <a:solidFill>
                  <a:srgbClr val="1C1A1C"/>
                </a:solidFill>
                <a:latin typeface="Arial"/>
                <a:cs typeface="Arial"/>
              </a:rPr>
              <a:t>Development</a:t>
            </a:r>
            <a:r>
              <a:rPr sz="1050" b="1" spc="10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050" b="1" spc="35" dirty="0">
                <a:solidFill>
                  <a:srgbClr val="1C1A1C"/>
                </a:solidFill>
                <a:latin typeface="Arial"/>
                <a:cs typeface="Arial"/>
              </a:rPr>
              <a:t>Team.</a:t>
            </a:r>
            <a:r>
              <a:rPr sz="1050" b="1" spc="114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5" dirty="0">
                <a:solidFill>
                  <a:srgbClr val="1C1A1C"/>
                </a:solidFill>
                <a:latin typeface="Arial"/>
                <a:cs typeface="Arial"/>
              </a:rPr>
              <a:t>(2024)</a:t>
            </a:r>
            <a:r>
              <a:rPr sz="1100" dirty="0">
                <a:solidFill>
                  <a:srgbClr val="1C1A1C"/>
                </a:solidFill>
                <a:latin typeface="Arial"/>
                <a:cs typeface="Arial"/>
              </a:rPr>
              <a:t>.</a:t>
            </a:r>
            <a:r>
              <a:rPr sz="1100" spc="-6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i="1" spc="-15" dirty="0">
                <a:solidFill>
                  <a:srgbClr val="1C1A1C"/>
                </a:solidFill>
                <a:latin typeface="Arial"/>
                <a:cs typeface="Arial"/>
              </a:rPr>
              <a:t>pandas:</a:t>
            </a:r>
            <a:r>
              <a:rPr sz="1100" i="1" spc="4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i="1" spc="15" dirty="0">
                <a:solidFill>
                  <a:srgbClr val="1C1A1C"/>
                </a:solidFill>
                <a:latin typeface="Arial"/>
                <a:cs typeface="Arial"/>
              </a:rPr>
              <a:t>powerful</a:t>
            </a:r>
            <a:r>
              <a:rPr sz="1100" i="1" spc="12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i="1" spc="-10" dirty="0">
                <a:solidFill>
                  <a:srgbClr val="1C1A1C"/>
                </a:solidFill>
                <a:latin typeface="Arial"/>
                <a:cs typeface="Arial"/>
              </a:rPr>
              <a:t>Python</a:t>
            </a:r>
            <a:r>
              <a:rPr sz="1100" i="1" spc="8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i="1" spc="10" dirty="0">
                <a:solidFill>
                  <a:srgbClr val="1C1A1C"/>
                </a:solidFill>
                <a:latin typeface="Arial"/>
                <a:cs typeface="Arial"/>
              </a:rPr>
              <a:t>data</a:t>
            </a:r>
            <a:r>
              <a:rPr sz="1100" i="1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i="1" spc="-10" dirty="0">
                <a:solidFill>
                  <a:srgbClr val="1C1A1C"/>
                </a:solidFill>
                <a:latin typeface="Arial"/>
                <a:cs typeface="Arial"/>
              </a:rPr>
              <a:t>analysis</a:t>
            </a:r>
            <a:r>
              <a:rPr sz="1100" i="1" spc="9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i="1" spc="25" dirty="0">
                <a:solidFill>
                  <a:srgbClr val="1C1A1C"/>
                </a:solidFill>
                <a:latin typeface="Arial"/>
                <a:cs typeface="Arial"/>
              </a:rPr>
              <a:t>toolkit.</a:t>
            </a:r>
            <a:endParaRPr sz="1100">
              <a:latin typeface="Arial"/>
              <a:cs typeface="Arial"/>
            </a:endParaRPr>
          </a:p>
          <a:p>
            <a:pPr marL="241935">
              <a:lnSpc>
                <a:spcPct val="100000"/>
              </a:lnSpc>
              <a:spcBef>
                <a:spcPts val="265"/>
              </a:spcBef>
            </a:pPr>
            <a:r>
              <a:rPr sz="1100" spc="-15" dirty="0">
                <a:solidFill>
                  <a:srgbClr val="1C1A1C"/>
                </a:solidFill>
                <a:latin typeface="Arial"/>
                <a:cs typeface="Arial"/>
              </a:rPr>
              <a:t>Available:</a:t>
            </a:r>
            <a:r>
              <a:rPr sz="1100" spc="10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10" dirty="0">
                <a:solidFill>
                  <a:srgbClr val="1C1A1C"/>
                </a:solidFill>
                <a:latin typeface="Arial"/>
                <a:cs typeface="Arial"/>
              </a:rPr>
              <a:t>https://pandas</a:t>
            </a:r>
            <a:r>
              <a:rPr sz="1100" spc="80" dirty="0">
                <a:solidFill>
                  <a:srgbClr val="1C1A1C"/>
                </a:solidFill>
                <a:latin typeface="Arial"/>
                <a:cs typeface="Arial"/>
              </a:rPr>
              <a:t>.</a:t>
            </a:r>
            <a:r>
              <a:rPr sz="1100" spc="10" dirty="0">
                <a:solidFill>
                  <a:srgbClr val="1C1A1C"/>
                </a:solidFill>
                <a:latin typeface="Arial"/>
                <a:cs typeface="Arial"/>
              </a:rPr>
              <a:t>pydata.org</a:t>
            </a:r>
            <a:endParaRPr sz="1100">
              <a:latin typeface="Arial"/>
              <a:cs typeface="Arial"/>
            </a:endParaRPr>
          </a:p>
          <a:p>
            <a:pPr marL="236220" marR="447040" indent="-223520">
              <a:lnSpc>
                <a:spcPts val="1590"/>
              </a:lnSpc>
              <a:spcBef>
                <a:spcPts val="90"/>
              </a:spcBef>
              <a:buClr>
                <a:srgbClr val="1C1A1C"/>
              </a:buClr>
              <a:buSzPct val="104761"/>
              <a:buFont typeface="Arial"/>
              <a:buAutoNum type="arabicPeriod" startAt="2"/>
              <a:tabLst>
                <a:tab pos="247650" algn="l"/>
              </a:tabLst>
            </a:pPr>
            <a:r>
              <a:rPr sz="1050" b="1" spc="20" dirty="0">
                <a:solidFill>
                  <a:srgbClr val="1C1A1C"/>
                </a:solidFill>
                <a:latin typeface="Arial"/>
                <a:cs typeface="Arial"/>
              </a:rPr>
              <a:t>Gazoni,</a:t>
            </a:r>
            <a:r>
              <a:rPr sz="1050" b="1" spc="9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050" b="1" spc="-20" dirty="0">
                <a:solidFill>
                  <a:srgbClr val="1C1A1C"/>
                </a:solidFill>
                <a:latin typeface="Arial"/>
                <a:cs typeface="Arial"/>
              </a:rPr>
              <a:t>E.</a:t>
            </a:r>
            <a:r>
              <a:rPr sz="1050" b="1" spc="-4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50" b="1" spc="-175" dirty="0">
                <a:solidFill>
                  <a:srgbClr val="1C1A1C"/>
                </a:solidFill>
                <a:latin typeface="Times New Roman"/>
                <a:cs typeface="Times New Roman"/>
              </a:rPr>
              <a:t>&amp;</a:t>
            </a:r>
            <a:r>
              <a:rPr sz="1150" b="1" spc="50" dirty="0">
                <a:solidFill>
                  <a:srgbClr val="1C1A1C"/>
                </a:solidFill>
                <a:latin typeface="Times New Roman"/>
                <a:cs typeface="Times New Roman"/>
              </a:rPr>
              <a:t> </a:t>
            </a:r>
            <a:r>
              <a:rPr sz="1050" b="1" spc="25" dirty="0">
                <a:solidFill>
                  <a:srgbClr val="1C1A1C"/>
                </a:solidFill>
                <a:latin typeface="Arial"/>
                <a:cs typeface="Arial"/>
              </a:rPr>
              <a:t>Clark,</a:t>
            </a:r>
            <a:r>
              <a:rPr sz="1050" b="1" spc="2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050" b="1" spc="30" dirty="0">
                <a:solidFill>
                  <a:srgbClr val="1C1A1C"/>
                </a:solidFill>
                <a:latin typeface="Arial"/>
                <a:cs typeface="Arial"/>
              </a:rPr>
              <a:t>C.</a:t>
            </a:r>
            <a:r>
              <a:rPr sz="1050" b="1" spc="3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5" dirty="0">
                <a:solidFill>
                  <a:srgbClr val="1C1A1C"/>
                </a:solidFill>
                <a:latin typeface="Arial"/>
                <a:cs typeface="Arial"/>
              </a:rPr>
              <a:t>(2024)</a:t>
            </a:r>
            <a:r>
              <a:rPr sz="1100" dirty="0">
                <a:solidFill>
                  <a:srgbClr val="1C1A1C"/>
                </a:solidFill>
                <a:latin typeface="Arial"/>
                <a:cs typeface="Arial"/>
              </a:rPr>
              <a:t>.</a:t>
            </a:r>
            <a:r>
              <a:rPr sz="1100" spc="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1C1A1C"/>
                </a:solidFill>
                <a:latin typeface="Arial"/>
                <a:cs typeface="Arial"/>
              </a:rPr>
              <a:t>openpyxl:</a:t>
            </a:r>
            <a:r>
              <a:rPr sz="1100" i="1" spc="-4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i="1" spc="-70" dirty="0">
                <a:solidFill>
                  <a:srgbClr val="1C1A1C"/>
                </a:solidFill>
                <a:latin typeface="Arial"/>
                <a:cs typeface="Arial"/>
              </a:rPr>
              <a:t>A</a:t>
            </a:r>
            <a:r>
              <a:rPr sz="1100" i="1" spc="7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i="1" spc="-10" dirty="0">
                <a:solidFill>
                  <a:srgbClr val="1C1A1C"/>
                </a:solidFill>
                <a:latin typeface="Arial"/>
                <a:cs typeface="Arial"/>
              </a:rPr>
              <a:t>Python</a:t>
            </a:r>
            <a:r>
              <a:rPr sz="1100" i="1" spc="3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i="1" spc="10" dirty="0">
                <a:solidFill>
                  <a:srgbClr val="1C1A1C"/>
                </a:solidFill>
                <a:latin typeface="Arial"/>
                <a:cs typeface="Arial"/>
              </a:rPr>
              <a:t>library</a:t>
            </a:r>
            <a:r>
              <a:rPr sz="1100" i="1" spc="8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i="1" spc="45" dirty="0">
                <a:solidFill>
                  <a:srgbClr val="1C1A1C"/>
                </a:solidFill>
                <a:latin typeface="Arial"/>
                <a:cs typeface="Arial"/>
              </a:rPr>
              <a:t>to</a:t>
            </a:r>
            <a:r>
              <a:rPr sz="1100" i="1" spc="-5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i="1" spc="15" dirty="0">
                <a:solidFill>
                  <a:srgbClr val="1C1A1C"/>
                </a:solidFill>
                <a:latin typeface="Arial"/>
                <a:cs typeface="Arial"/>
              </a:rPr>
              <a:t>read/write</a:t>
            </a:r>
            <a:r>
              <a:rPr sz="1100" i="1" spc="4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i="1" spc="-35" dirty="0">
                <a:solidFill>
                  <a:srgbClr val="1C1A1C"/>
                </a:solidFill>
                <a:latin typeface="Arial"/>
                <a:cs typeface="Arial"/>
              </a:rPr>
              <a:t>Excel</a:t>
            </a:r>
            <a:r>
              <a:rPr sz="1100" i="1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i="1" spc="15" dirty="0">
                <a:solidFill>
                  <a:srgbClr val="1C1A1C"/>
                </a:solidFill>
                <a:latin typeface="Arial"/>
                <a:cs typeface="Arial"/>
              </a:rPr>
              <a:t>2010</a:t>
            </a:r>
            <a:r>
              <a:rPr sz="1100" i="1" spc="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1C1A1C"/>
                </a:solidFill>
                <a:latin typeface="Arial"/>
                <a:cs typeface="Arial"/>
              </a:rPr>
              <a:t>xlsxlxlsm</a:t>
            </a:r>
            <a:r>
              <a:rPr sz="1100" i="1" spc="114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i="1" spc="5" dirty="0">
                <a:solidFill>
                  <a:srgbClr val="1C1A1C"/>
                </a:solidFill>
                <a:latin typeface="Arial"/>
                <a:cs typeface="Arial"/>
              </a:rPr>
              <a:t>files.</a:t>
            </a:r>
            <a:r>
              <a:rPr sz="1100" i="1" spc="-6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-15" dirty="0">
                <a:solidFill>
                  <a:srgbClr val="1C1A1C"/>
                </a:solidFill>
                <a:latin typeface="Arial"/>
                <a:cs typeface="Arial"/>
              </a:rPr>
              <a:t>Available:</a:t>
            </a:r>
            <a:r>
              <a:rPr sz="1100" spc="10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5" dirty="0">
                <a:solidFill>
                  <a:srgbClr val="1C1A1C"/>
                </a:solidFill>
                <a:latin typeface="Arial"/>
                <a:cs typeface="Arial"/>
              </a:rPr>
              <a:t>https://openpyxl.readthedocs.io</a:t>
            </a:r>
            <a:endParaRPr sz="1100">
              <a:latin typeface="Arial"/>
              <a:cs typeface="Arial"/>
            </a:endParaRPr>
          </a:p>
          <a:p>
            <a:pPr marL="250190" indent="-234950">
              <a:lnSpc>
                <a:spcPct val="100000"/>
              </a:lnSpc>
              <a:spcBef>
                <a:spcPts val="145"/>
              </a:spcBef>
              <a:buClr>
                <a:srgbClr val="1C1A1C"/>
              </a:buClr>
              <a:buSzPct val="104761"/>
              <a:buFont typeface="Arial"/>
              <a:buAutoNum type="arabicPeriod" startAt="2"/>
              <a:tabLst>
                <a:tab pos="250825" algn="l"/>
              </a:tabLst>
            </a:pPr>
            <a:r>
              <a:rPr sz="1050" b="1" spc="25" dirty="0">
                <a:solidFill>
                  <a:srgbClr val="1C1A1C"/>
                </a:solidFill>
                <a:latin typeface="Arial"/>
                <a:cs typeface="Arial"/>
              </a:rPr>
              <a:t>Pedregosa,</a:t>
            </a:r>
            <a:r>
              <a:rPr sz="1050" b="1" spc="5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050" b="1" dirty="0">
                <a:solidFill>
                  <a:srgbClr val="1C1A1C"/>
                </a:solidFill>
                <a:latin typeface="Arial"/>
                <a:cs typeface="Arial"/>
              </a:rPr>
              <a:t>F.</a:t>
            </a:r>
            <a:r>
              <a:rPr sz="1050" b="1" spc="-3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050" b="1" spc="55" dirty="0">
                <a:solidFill>
                  <a:srgbClr val="1C1A1C"/>
                </a:solidFill>
                <a:latin typeface="Arial"/>
                <a:cs typeface="Arial"/>
              </a:rPr>
              <a:t>et</a:t>
            </a:r>
            <a:r>
              <a:rPr sz="1050" b="1" spc="2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050" b="1" spc="30" dirty="0">
                <a:solidFill>
                  <a:srgbClr val="1C1A1C"/>
                </a:solidFill>
                <a:latin typeface="Arial"/>
                <a:cs typeface="Arial"/>
              </a:rPr>
              <a:t>al.</a:t>
            </a:r>
            <a:r>
              <a:rPr sz="1050" b="1" spc="4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-40" dirty="0">
                <a:solidFill>
                  <a:srgbClr val="1C1A1C"/>
                </a:solidFill>
                <a:latin typeface="Arial"/>
                <a:cs typeface="Arial"/>
              </a:rPr>
              <a:t>(2011)</a:t>
            </a:r>
            <a:r>
              <a:rPr sz="1100" spc="-25" dirty="0">
                <a:solidFill>
                  <a:srgbClr val="1C1A1C"/>
                </a:solidFill>
                <a:latin typeface="Arial"/>
                <a:cs typeface="Arial"/>
              </a:rPr>
              <a:t>. </a:t>
            </a:r>
            <a:r>
              <a:rPr sz="1100" spc="5" dirty="0">
                <a:solidFill>
                  <a:srgbClr val="1C1A1C"/>
                </a:solidFill>
                <a:latin typeface="Arial"/>
                <a:cs typeface="Arial"/>
              </a:rPr>
              <a:t>Scikit-learn:</a:t>
            </a:r>
            <a:r>
              <a:rPr sz="1100" spc="7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C1A1C"/>
                </a:solidFill>
                <a:latin typeface="Arial"/>
                <a:cs typeface="Arial"/>
              </a:rPr>
              <a:t>Machine</a:t>
            </a:r>
            <a:r>
              <a:rPr sz="1100" spc="7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C1A1C"/>
                </a:solidFill>
                <a:latin typeface="Arial"/>
                <a:cs typeface="Arial"/>
              </a:rPr>
              <a:t>Learning</a:t>
            </a:r>
            <a:r>
              <a:rPr sz="1100" spc="3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C1A1C"/>
                </a:solidFill>
                <a:latin typeface="Arial"/>
                <a:cs typeface="Arial"/>
              </a:rPr>
              <a:t>in</a:t>
            </a:r>
            <a:r>
              <a:rPr sz="1100" spc="-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C1A1C"/>
                </a:solidFill>
                <a:latin typeface="Arial"/>
                <a:cs typeface="Arial"/>
              </a:rPr>
              <a:t>Python.</a:t>
            </a:r>
            <a:r>
              <a:rPr sz="1100" spc="-4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i="1" spc="5" dirty="0">
                <a:solidFill>
                  <a:srgbClr val="1C1A1C"/>
                </a:solidFill>
                <a:latin typeface="Arial"/>
                <a:cs typeface="Arial"/>
              </a:rPr>
              <a:t>Journal</a:t>
            </a:r>
            <a:r>
              <a:rPr sz="1100" i="1" spc="10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i="1" spc="15" dirty="0">
                <a:solidFill>
                  <a:srgbClr val="1C1A1C"/>
                </a:solidFill>
                <a:latin typeface="Arial"/>
                <a:cs typeface="Arial"/>
              </a:rPr>
              <a:t>of</a:t>
            </a:r>
            <a:r>
              <a:rPr sz="1100" i="1" spc="5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i="1" spc="5" dirty="0">
                <a:solidFill>
                  <a:srgbClr val="1C1A1C"/>
                </a:solidFill>
                <a:latin typeface="Arial"/>
                <a:cs typeface="Arial"/>
              </a:rPr>
              <a:t>Machine</a:t>
            </a:r>
            <a:endParaRPr sz="1100">
              <a:latin typeface="Arial"/>
              <a:cs typeface="Arial"/>
            </a:endParaRPr>
          </a:p>
          <a:p>
            <a:pPr marL="244475">
              <a:lnSpc>
                <a:spcPct val="100000"/>
              </a:lnSpc>
              <a:spcBef>
                <a:spcPts val="265"/>
              </a:spcBef>
            </a:pPr>
            <a:r>
              <a:rPr sz="1100" i="1" dirty="0">
                <a:solidFill>
                  <a:srgbClr val="1C1A1C"/>
                </a:solidFill>
                <a:latin typeface="Arial"/>
                <a:cs typeface="Arial"/>
              </a:rPr>
              <a:t>Learning</a:t>
            </a:r>
            <a:r>
              <a:rPr sz="1100" i="1" spc="8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i="1" spc="-25" dirty="0">
                <a:solidFill>
                  <a:srgbClr val="1C1A1C"/>
                </a:solidFill>
                <a:latin typeface="Arial"/>
                <a:cs typeface="Arial"/>
              </a:rPr>
              <a:t>Research,</a:t>
            </a:r>
            <a:r>
              <a:rPr sz="1100" i="1" spc="9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-75" dirty="0">
                <a:solidFill>
                  <a:srgbClr val="1C1A1C"/>
                </a:solidFill>
                <a:latin typeface="Arial"/>
                <a:cs typeface="Arial"/>
              </a:rPr>
              <a:t>12, </a:t>
            </a:r>
            <a:r>
              <a:rPr sz="1100" spc="-10" dirty="0">
                <a:solidFill>
                  <a:srgbClr val="1C1A1C"/>
                </a:solidFill>
                <a:latin typeface="Arial"/>
                <a:cs typeface="Arial"/>
              </a:rPr>
              <a:t>2825-2830.</a:t>
            </a:r>
            <a:endParaRPr sz="1100">
              <a:latin typeface="Arial"/>
              <a:cs typeface="Arial"/>
            </a:endParaRPr>
          </a:p>
          <a:p>
            <a:pPr marL="250190" indent="-237490">
              <a:lnSpc>
                <a:spcPct val="100000"/>
              </a:lnSpc>
              <a:spcBef>
                <a:spcPts val="240"/>
              </a:spcBef>
              <a:buClr>
                <a:srgbClr val="1C1A1C"/>
              </a:buClr>
              <a:buSzPct val="104761"/>
              <a:buFont typeface="Arial"/>
              <a:buAutoNum type="arabicPeriod" startAt="4"/>
              <a:tabLst>
                <a:tab pos="250825" algn="l"/>
              </a:tabLst>
            </a:pPr>
            <a:r>
              <a:rPr sz="1050" b="1" spc="15" dirty="0">
                <a:solidFill>
                  <a:srgbClr val="1C1A1C"/>
                </a:solidFill>
                <a:latin typeface="Arial"/>
                <a:cs typeface="Arial"/>
              </a:rPr>
              <a:t>Plaid</a:t>
            </a:r>
            <a:r>
              <a:rPr sz="1050" b="1" spc="7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050" b="1" spc="25" dirty="0">
                <a:solidFill>
                  <a:srgbClr val="1C1A1C"/>
                </a:solidFill>
                <a:latin typeface="Arial"/>
                <a:cs typeface="Arial"/>
              </a:rPr>
              <a:t>Inc.</a:t>
            </a:r>
            <a:r>
              <a:rPr sz="1050" b="1" spc="2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5" dirty="0">
                <a:solidFill>
                  <a:srgbClr val="1C1A1C"/>
                </a:solidFill>
                <a:latin typeface="Arial"/>
                <a:cs typeface="Arial"/>
              </a:rPr>
              <a:t>(2024)</a:t>
            </a:r>
            <a:r>
              <a:rPr sz="1100" dirty="0">
                <a:solidFill>
                  <a:srgbClr val="1C1A1C"/>
                </a:solidFill>
                <a:latin typeface="Arial"/>
                <a:cs typeface="Arial"/>
              </a:rPr>
              <a:t>.</a:t>
            </a:r>
            <a:r>
              <a:rPr sz="1100" spc="-2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i="1" spc="-20" dirty="0">
                <a:solidFill>
                  <a:srgbClr val="1C1A1C"/>
                </a:solidFill>
                <a:latin typeface="Arial"/>
                <a:cs typeface="Arial"/>
              </a:rPr>
              <a:t>Plaid</a:t>
            </a:r>
            <a:r>
              <a:rPr sz="1100" i="1" spc="-3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i="1" spc="-75" dirty="0">
                <a:solidFill>
                  <a:srgbClr val="1C1A1C"/>
                </a:solidFill>
                <a:latin typeface="Arial"/>
                <a:cs typeface="Arial"/>
              </a:rPr>
              <a:t>A</a:t>
            </a:r>
            <a:r>
              <a:rPr sz="1100" i="1" spc="40" dirty="0">
                <a:solidFill>
                  <a:srgbClr val="1C1A1C"/>
                </a:solidFill>
                <a:latin typeface="Arial"/>
                <a:cs typeface="Arial"/>
              </a:rPr>
              <a:t>P</a:t>
            </a:r>
            <a:r>
              <a:rPr sz="1100" i="1" spc="-185" dirty="0">
                <a:solidFill>
                  <a:srgbClr val="1C1A1C"/>
                </a:solidFill>
                <a:latin typeface="Arial"/>
                <a:cs typeface="Arial"/>
              </a:rPr>
              <a:t>/</a:t>
            </a:r>
            <a:r>
              <a:rPr sz="1100" i="1" spc="114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i="1" spc="5" dirty="0">
                <a:solidFill>
                  <a:srgbClr val="1C1A1C"/>
                </a:solidFill>
                <a:latin typeface="Arial"/>
                <a:cs typeface="Arial"/>
              </a:rPr>
              <a:t>Documentation.</a:t>
            </a:r>
            <a:r>
              <a:rPr sz="1100" i="1" spc="9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-15" dirty="0">
                <a:solidFill>
                  <a:srgbClr val="1C1A1C"/>
                </a:solidFill>
                <a:latin typeface="Arial"/>
                <a:cs typeface="Arial"/>
              </a:rPr>
              <a:t>Available:</a:t>
            </a:r>
            <a:r>
              <a:rPr sz="1100" spc="8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15" dirty="0">
                <a:solidFill>
                  <a:srgbClr val="1C1A1C"/>
                </a:solidFill>
                <a:latin typeface="Arial"/>
                <a:cs typeface="Arial"/>
              </a:rPr>
              <a:t>https://plaid</a:t>
            </a:r>
            <a:r>
              <a:rPr sz="1100" spc="60" dirty="0">
                <a:solidFill>
                  <a:srgbClr val="1C1A1C"/>
                </a:solidFill>
                <a:latin typeface="Arial"/>
                <a:cs typeface="Arial"/>
              </a:rPr>
              <a:t>.</a:t>
            </a:r>
            <a:r>
              <a:rPr sz="1100" spc="15" dirty="0">
                <a:solidFill>
                  <a:srgbClr val="1C1A1C"/>
                </a:solidFill>
                <a:latin typeface="Arial"/>
                <a:cs typeface="Arial"/>
              </a:rPr>
              <a:t>com/docs/</a:t>
            </a:r>
            <a:endParaRPr sz="1100">
              <a:latin typeface="Arial"/>
              <a:cs typeface="Arial"/>
            </a:endParaRPr>
          </a:p>
          <a:p>
            <a:pPr marL="247015" marR="761365" indent="-231775">
              <a:lnSpc>
                <a:spcPct val="118400"/>
              </a:lnSpc>
              <a:spcBef>
                <a:spcPts val="45"/>
              </a:spcBef>
              <a:buClr>
                <a:srgbClr val="1C1A1C"/>
              </a:buClr>
              <a:buSzPct val="104761"/>
              <a:buFont typeface="Arial"/>
              <a:buAutoNum type="arabicPeriod" startAt="4"/>
              <a:tabLst>
                <a:tab pos="242570" algn="l"/>
              </a:tabLst>
            </a:pPr>
            <a:r>
              <a:rPr sz="1050" b="1" spc="-15" dirty="0">
                <a:solidFill>
                  <a:srgbClr val="1C1A1C"/>
                </a:solidFill>
                <a:latin typeface="Arial"/>
                <a:cs typeface="Arial"/>
              </a:rPr>
              <a:t>You</a:t>
            </a:r>
            <a:r>
              <a:rPr sz="1050" b="1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050" b="1" spc="-14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050" b="1" spc="35" dirty="0">
                <a:solidFill>
                  <a:srgbClr val="1C1A1C"/>
                </a:solidFill>
                <a:latin typeface="Arial"/>
                <a:cs typeface="Arial"/>
              </a:rPr>
              <a:t>Need</a:t>
            </a:r>
            <a:r>
              <a:rPr sz="1050" b="1" spc="-2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050" b="1" spc="-50" dirty="0">
                <a:solidFill>
                  <a:srgbClr val="1C1A1C"/>
                </a:solidFill>
                <a:latin typeface="Arial"/>
                <a:cs typeface="Arial"/>
              </a:rPr>
              <a:t>A</a:t>
            </a:r>
            <a:r>
              <a:rPr sz="1050" b="1" spc="14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050" b="1" spc="20" dirty="0">
                <a:solidFill>
                  <a:srgbClr val="1C1A1C"/>
                </a:solidFill>
                <a:latin typeface="Arial"/>
                <a:cs typeface="Arial"/>
              </a:rPr>
              <a:t>Budget</a:t>
            </a:r>
            <a:r>
              <a:rPr sz="1050" b="1" spc="7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050" b="1" spc="10" dirty="0">
                <a:solidFill>
                  <a:srgbClr val="1C1A1C"/>
                </a:solidFill>
                <a:latin typeface="Arial"/>
                <a:cs typeface="Arial"/>
              </a:rPr>
              <a:t>(</a:t>
            </a:r>
            <a:r>
              <a:rPr sz="1050" b="1" spc="20" dirty="0">
                <a:solidFill>
                  <a:srgbClr val="1C1A1C"/>
                </a:solidFill>
                <a:latin typeface="Arial"/>
                <a:cs typeface="Arial"/>
              </a:rPr>
              <a:t>YNAB</a:t>
            </a:r>
            <a:r>
              <a:rPr sz="1050" b="1" spc="10" dirty="0">
                <a:solidFill>
                  <a:srgbClr val="1C1A1C"/>
                </a:solidFill>
                <a:latin typeface="Arial"/>
                <a:cs typeface="Arial"/>
              </a:rPr>
              <a:t>)</a:t>
            </a:r>
            <a:r>
              <a:rPr sz="1050" b="1" spc="5" dirty="0">
                <a:solidFill>
                  <a:srgbClr val="1C1A1C"/>
                </a:solidFill>
                <a:latin typeface="Arial"/>
                <a:cs typeface="Arial"/>
              </a:rPr>
              <a:t>.</a:t>
            </a:r>
            <a:r>
              <a:rPr sz="1050" b="1" spc="7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5" dirty="0">
                <a:solidFill>
                  <a:srgbClr val="1C1A1C"/>
                </a:solidFill>
                <a:latin typeface="Arial"/>
                <a:cs typeface="Arial"/>
              </a:rPr>
              <a:t>(2024)</a:t>
            </a:r>
            <a:r>
              <a:rPr sz="1100" dirty="0">
                <a:solidFill>
                  <a:srgbClr val="1C1A1C"/>
                </a:solidFill>
                <a:latin typeface="Arial"/>
                <a:cs typeface="Arial"/>
              </a:rPr>
              <a:t>.</a:t>
            </a:r>
            <a:r>
              <a:rPr sz="1100" spc="5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i="1" spc="-20" dirty="0">
                <a:solidFill>
                  <a:srgbClr val="1C1A1C"/>
                </a:solidFill>
                <a:latin typeface="Arial"/>
                <a:cs typeface="Arial"/>
              </a:rPr>
              <a:t>The</a:t>
            </a:r>
            <a:r>
              <a:rPr sz="1100" i="1" spc="-7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i="1" spc="-35" dirty="0">
                <a:solidFill>
                  <a:srgbClr val="1C1A1C"/>
                </a:solidFill>
                <a:latin typeface="Arial"/>
                <a:cs typeface="Arial"/>
              </a:rPr>
              <a:t>Four</a:t>
            </a:r>
            <a:r>
              <a:rPr sz="1100" i="1" spc="10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i="1" spc="-45" dirty="0">
                <a:solidFill>
                  <a:srgbClr val="1C1A1C"/>
                </a:solidFill>
                <a:latin typeface="Arial"/>
                <a:cs typeface="Arial"/>
              </a:rPr>
              <a:t>Rules</a:t>
            </a:r>
            <a:r>
              <a:rPr sz="1100" i="1" spc="5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i="1" spc="30" dirty="0">
                <a:solidFill>
                  <a:srgbClr val="1C1A1C"/>
                </a:solidFill>
                <a:latin typeface="Arial"/>
                <a:cs typeface="Arial"/>
              </a:rPr>
              <a:t>of</a:t>
            </a:r>
            <a:r>
              <a:rPr sz="1100" i="1" spc="2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i="1" spc="10" dirty="0">
                <a:solidFill>
                  <a:srgbClr val="1C1A1C"/>
                </a:solidFill>
                <a:latin typeface="Arial"/>
                <a:cs typeface="Arial"/>
              </a:rPr>
              <a:t>Budgeting.</a:t>
            </a:r>
            <a:r>
              <a:rPr sz="1100" i="1" spc="-2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-15" dirty="0">
                <a:solidFill>
                  <a:srgbClr val="1C1A1C"/>
                </a:solidFill>
                <a:latin typeface="Arial"/>
                <a:cs typeface="Arial"/>
              </a:rPr>
              <a:t>Available:</a:t>
            </a:r>
            <a:r>
              <a:rPr sz="1100" spc="-1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00" spc="15" dirty="0">
                <a:solidFill>
                  <a:srgbClr val="1C1A1C"/>
                </a:solidFill>
                <a:latin typeface="Arial"/>
                <a:cs typeface="Arial"/>
                <a:hlinkClick r:id="rId3"/>
              </a:rPr>
              <a:t>https://www.ynab.com/the-fou</a:t>
            </a:r>
            <a:r>
              <a:rPr sz="1100" spc="5" dirty="0">
                <a:solidFill>
                  <a:srgbClr val="1C1A1C"/>
                </a:solidFill>
                <a:latin typeface="Arial"/>
                <a:cs typeface="Arial"/>
                <a:hlinkClick r:id="rId3"/>
              </a:rPr>
              <a:t> </a:t>
            </a:r>
            <a:r>
              <a:rPr sz="1100" spc="25" dirty="0">
                <a:solidFill>
                  <a:srgbClr val="1C1A1C"/>
                </a:solidFill>
                <a:latin typeface="Arial"/>
                <a:cs typeface="Arial"/>
              </a:rPr>
              <a:t>r-rules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1C1A1C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</TotalTime>
  <Words>1313</Words>
  <Application>Microsoft Office PowerPoint</Application>
  <PresentationFormat>Custom</PresentationFormat>
  <Paragraphs>180</Paragraphs>
  <Slides>16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Arial Black</vt:lpstr>
      <vt:lpstr>Calibri</vt:lpstr>
      <vt:lpstr>Courier New</vt:lpstr>
      <vt:lpstr>Times New Roman</vt:lpstr>
      <vt:lpstr>Office Theme</vt:lpstr>
      <vt:lpstr>Personal Finance  Tracker </vt:lpstr>
      <vt:lpstr>I. Introduction to Problem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Online2PDF.com</dc:creator>
  <cp:lastModifiedBy>Piyush Prakash Sharma [CSE - 2024]</cp:lastModifiedBy>
  <cp:revision>6</cp:revision>
  <dcterms:created xsi:type="dcterms:W3CDTF">2025-11-18T21:21:43Z</dcterms:created>
  <dcterms:modified xsi:type="dcterms:W3CDTF">2026-02-26T10:20:52Z</dcterms:modified>
</cp:coreProperties>
</file>