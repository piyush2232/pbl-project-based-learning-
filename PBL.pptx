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7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72" r:id="rId10"/>
    <p:sldId id="269" r:id="rId11"/>
    <p:sldId id="270" r:id="rId12"/>
    <p:sldId id="271" r:id="rId13"/>
    <p:sldId id="273" r:id="rId14"/>
    <p:sldId id="274" r:id="rId15"/>
    <p:sldId id="266" r:id="rId16"/>
  </p:sldIdLst>
  <p:sldSz cx="12188825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27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3406" y="3118104"/>
            <a:ext cx="6611937" cy="2112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6812" y="5632704"/>
            <a:ext cx="5445124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43574" y="5078135"/>
            <a:ext cx="782972" cy="693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427215" y="5134062"/>
            <a:ext cx="3679971" cy="492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990986" y="7628388"/>
            <a:ext cx="3792220" cy="0"/>
          </a:xfrm>
          <a:custGeom>
            <a:avLst/>
            <a:gdLst/>
            <a:ahLst/>
            <a:cxnLst/>
            <a:rect l="l" t="t" r="r" b="b"/>
            <a:pathLst>
              <a:path w="3792220">
                <a:moveTo>
                  <a:pt x="0" y="0"/>
                </a:moveTo>
                <a:lnTo>
                  <a:pt x="3791825" y="0"/>
                </a:lnTo>
              </a:path>
            </a:pathLst>
          </a:custGeom>
          <a:ln w="11185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937" y="2313432"/>
            <a:ext cx="3383756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6056" y="2313432"/>
            <a:ext cx="3383756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5255" y="1596913"/>
            <a:ext cx="5908238" cy="40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496" y="3387518"/>
            <a:ext cx="5969757" cy="511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4775" y="9354312"/>
            <a:ext cx="2489199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937" y="9354312"/>
            <a:ext cx="178911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00700" y="9354312"/>
            <a:ext cx="178911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nab.com/the-fo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7D73-1DF0-B2D1-6A47-FF96E25C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12" y="2310422"/>
            <a:ext cx="11353800" cy="3323987"/>
          </a:xfrm>
        </p:spPr>
        <p:txBody>
          <a:bodyPr/>
          <a:lstStyle/>
          <a:p>
            <a:pPr algn="ctr"/>
            <a:r>
              <a:rPr lang="en-IN" sz="7200" spc="75" dirty="0">
                <a:solidFill>
                  <a:srgbClr val="231F1F"/>
                </a:solidFill>
                <a:latin typeface="Times New Roman"/>
                <a:cs typeface="Times New Roman"/>
              </a:rPr>
              <a:t>Personal</a:t>
            </a:r>
            <a:r>
              <a:rPr lang="en-IN" sz="7200" spc="330" dirty="0">
                <a:solidFill>
                  <a:srgbClr val="231F1F"/>
                </a:solidFill>
                <a:latin typeface="Times New Roman"/>
                <a:cs typeface="Times New Roman"/>
              </a:rPr>
              <a:t> </a:t>
            </a:r>
            <a:r>
              <a:rPr lang="en-IN" sz="7200" spc="10" dirty="0">
                <a:solidFill>
                  <a:srgbClr val="231F1F"/>
                </a:solidFill>
                <a:latin typeface="Times New Roman"/>
                <a:cs typeface="Times New Roman"/>
              </a:rPr>
              <a:t>F</a:t>
            </a:r>
            <a:r>
              <a:rPr lang="en-IN" sz="7200" spc="100" dirty="0">
                <a:solidFill>
                  <a:srgbClr val="231F1F"/>
                </a:solidFill>
                <a:latin typeface="Times New Roman"/>
                <a:cs typeface="Times New Roman"/>
              </a:rPr>
              <a:t>in</a:t>
            </a:r>
            <a:r>
              <a:rPr lang="en-IN" sz="7200" spc="275" dirty="0">
                <a:solidFill>
                  <a:srgbClr val="231F1F"/>
                </a:solidFill>
                <a:latin typeface="Times New Roman"/>
                <a:cs typeface="Times New Roman"/>
              </a:rPr>
              <a:t>a</a:t>
            </a:r>
            <a:r>
              <a:rPr lang="en-IN" sz="7200" spc="90" dirty="0">
                <a:solidFill>
                  <a:srgbClr val="231F1F"/>
                </a:solidFill>
                <a:latin typeface="Times New Roman"/>
                <a:cs typeface="Times New Roman"/>
              </a:rPr>
              <a:t>n</a:t>
            </a:r>
            <a:r>
              <a:rPr lang="en-IN" sz="7200" spc="145" dirty="0">
                <a:solidFill>
                  <a:srgbClr val="231F1F"/>
                </a:solidFill>
                <a:latin typeface="Times New Roman"/>
                <a:cs typeface="Times New Roman"/>
              </a:rPr>
              <a:t>c</a:t>
            </a:r>
            <a:r>
              <a:rPr lang="en-IN" sz="7200" spc="95" dirty="0">
                <a:solidFill>
                  <a:srgbClr val="231F1F"/>
                </a:solidFill>
                <a:latin typeface="Times New Roman"/>
                <a:cs typeface="Times New Roman"/>
              </a:rPr>
              <a:t>e</a:t>
            </a:r>
            <a:r>
              <a:rPr lang="en-IN" sz="7200" spc="-170" dirty="0">
                <a:solidFill>
                  <a:srgbClr val="231F1F"/>
                </a:solidFill>
                <a:latin typeface="Times New Roman"/>
                <a:cs typeface="Times New Roman"/>
              </a:rPr>
              <a:t> </a:t>
            </a:r>
            <a:br>
              <a:rPr lang="en-IN" sz="7200" spc="-170" dirty="0">
                <a:solidFill>
                  <a:srgbClr val="231F1F"/>
                </a:solidFill>
                <a:latin typeface="Times New Roman"/>
                <a:cs typeface="Times New Roman"/>
              </a:rPr>
            </a:br>
            <a:r>
              <a:rPr lang="en-IN" sz="7200" spc="100" dirty="0">
                <a:solidFill>
                  <a:srgbClr val="231F1F"/>
                </a:solidFill>
                <a:latin typeface="Times New Roman"/>
                <a:cs typeface="Times New Roman"/>
              </a:rPr>
              <a:t>Tra</a:t>
            </a:r>
            <a:r>
              <a:rPr lang="en-IN" sz="7200" spc="-15" dirty="0">
                <a:solidFill>
                  <a:srgbClr val="231F1F"/>
                </a:solidFill>
                <a:latin typeface="Times New Roman"/>
                <a:cs typeface="Times New Roman"/>
              </a:rPr>
              <a:t>c</a:t>
            </a:r>
            <a:r>
              <a:rPr lang="en-IN" sz="7200" spc="75" dirty="0">
                <a:solidFill>
                  <a:srgbClr val="231F1F"/>
                </a:solidFill>
                <a:latin typeface="Times New Roman"/>
                <a:cs typeface="Times New Roman"/>
              </a:rPr>
              <a:t>ker</a:t>
            </a:r>
            <a:br>
              <a:rPr lang="en-IN" sz="7200" dirty="0">
                <a:latin typeface="Times New Roman"/>
                <a:cs typeface="Times New Roman"/>
              </a:rPr>
            </a:b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41403-AF5C-059E-3B11-45D81E8A3C9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75012" y="5634409"/>
            <a:ext cx="5445124" cy="1082348"/>
          </a:xfrm>
        </p:spPr>
        <p:txBody>
          <a:bodyPr/>
          <a:lstStyle/>
          <a:p>
            <a:pPr marL="12700" algn="ctr">
              <a:lnSpc>
                <a:spcPct val="100000"/>
              </a:lnSpc>
            </a:pPr>
            <a:r>
              <a:rPr lang="en-IN" sz="1800" b="0" spc="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Submitted By : P</a:t>
            </a:r>
            <a:r>
              <a:rPr lang="en-IN" sz="1800" b="0" spc="-7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en-IN" sz="1800" b="0" spc="5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yush</a:t>
            </a:r>
            <a:r>
              <a:rPr lang="en-IN" sz="1800" b="0" spc="114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IN" sz="1800" b="0" spc="2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Prakash</a:t>
            </a:r>
            <a:r>
              <a:rPr lang="en-IN" sz="1800" b="0" spc="2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Sharma</a:t>
            </a:r>
            <a:endParaRPr lang="en-IN" sz="1800" b="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</a:pPr>
            <a:r>
              <a:rPr lang="en-IN" sz="1800" b="0" spc="-13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Registration No. = 2</a:t>
            </a:r>
            <a:r>
              <a:rPr lang="en-IN" sz="1800" b="0" spc="-4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lang="en-IN" sz="1800" b="0" spc="-15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  <a:r>
              <a:rPr lang="en-IN" sz="1800" b="0" spc="-4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lang="en-IN" sz="1800" b="0" spc="-2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22</a:t>
            </a: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  <a:p>
            <a:pPr marL="43815" algn="ctr">
              <a:lnSpc>
                <a:spcPct val="100000"/>
              </a:lnSpc>
              <a:spcBef>
                <a:spcPts val="125"/>
              </a:spcBef>
            </a:pP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Supervised By : </a:t>
            </a:r>
            <a:r>
              <a:rPr lang="en-IN" sz="1800" b="0" spc="4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Ms</a:t>
            </a:r>
            <a:r>
              <a:rPr lang="en-IN" sz="1800" b="0" spc="1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.</a:t>
            </a:r>
            <a:r>
              <a:rPr lang="en-IN" sz="1800" b="0" spc="5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Harsh</a:t>
            </a:r>
            <a:r>
              <a:rPr lang="en-IN" sz="1800" b="0" spc="55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en-IN" sz="1800" b="0" spc="25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ka</a:t>
            </a: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IN" sz="1800" b="0" spc="5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Mathur</a:t>
            </a:r>
            <a:endParaRPr lang="en-IN" sz="1800" b="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0D9139A1-770D-9D55-FFF7-1B172FF82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750" y="914400"/>
            <a:ext cx="53633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2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012" y="381000"/>
            <a:ext cx="5908238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50"/>
              </a:lnSpc>
            </a:pPr>
            <a:r>
              <a:rPr spc="75" dirty="0"/>
              <a:t>I.</a:t>
            </a:r>
            <a:r>
              <a:rPr spc="-110" dirty="0"/>
              <a:t> </a:t>
            </a:r>
            <a:r>
              <a:rPr spc="105" dirty="0"/>
              <a:t>Introduct</a:t>
            </a:r>
            <a:r>
              <a:rPr spc="110" dirty="0"/>
              <a:t>i</a:t>
            </a:r>
            <a:r>
              <a:rPr spc="35" dirty="0"/>
              <a:t>on</a:t>
            </a:r>
            <a:r>
              <a:rPr spc="-100" dirty="0"/>
              <a:t> </a:t>
            </a:r>
            <a:r>
              <a:rPr spc="145" dirty="0"/>
              <a:t>to</a:t>
            </a:r>
            <a:r>
              <a:rPr spc="160" dirty="0"/>
              <a:t> </a:t>
            </a:r>
            <a:r>
              <a:rPr spc="3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999" y="942975"/>
            <a:ext cx="362839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50"/>
              </a:lnSpc>
            </a:pPr>
            <a:r>
              <a:rPr sz="3150" b="1" spc="8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3150" b="1" spc="120" dirty="0">
                <a:solidFill>
                  <a:srgbClr val="1C1A1A"/>
                </a:solidFill>
                <a:latin typeface="Arial"/>
                <a:cs typeface="Arial"/>
              </a:rPr>
              <a:t>What,</a:t>
            </a:r>
            <a:r>
              <a:rPr sz="3150" b="1" spc="-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150" b="1" spc="90" dirty="0">
                <a:solidFill>
                  <a:srgbClr val="1C1A1A"/>
                </a:solidFill>
                <a:latin typeface="Arial"/>
                <a:cs typeface="Arial"/>
              </a:rPr>
              <a:t>Why,</a:t>
            </a:r>
            <a:r>
              <a:rPr sz="3150" b="1" spc="2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150" b="1" spc="110" dirty="0">
                <a:solidFill>
                  <a:srgbClr val="1C1A1A"/>
                </a:solidFill>
                <a:latin typeface="Arial"/>
                <a:cs typeface="Arial"/>
              </a:rPr>
              <a:t>How</a:t>
            </a:r>
            <a:r>
              <a:rPr sz="3150" b="1" spc="60" dirty="0">
                <a:solidFill>
                  <a:srgbClr val="1C1A1A"/>
                </a:solidFill>
                <a:latin typeface="Arial"/>
                <a:cs typeface="Arial"/>
              </a:rPr>
              <a:t>)</a:t>
            </a:r>
            <a:endParaRPr sz="31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03212" y="1905000"/>
            <a:ext cx="11734800" cy="3566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5"/>
              </a:lnSpc>
            </a:pPr>
            <a:r>
              <a:rPr dirty="0"/>
              <a:t>The</a:t>
            </a:r>
            <a:r>
              <a:rPr spc="45" dirty="0"/>
              <a:t> </a:t>
            </a:r>
            <a:r>
              <a:rPr sz="750" spc="15" baseline="83333" dirty="0"/>
              <a:t>1</a:t>
            </a:r>
            <a:r>
              <a:rPr sz="750" baseline="83333" dirty="0"/>
              <a:t>1</a:t>
            </a:r>
            <a:r>
              <a:rPr sz="1550" spc="35" dirty="0"/>
              <a:t>What</a:t>
            </a:r>
            <a:r>
              <a:rPr sz="1550" spc="-245" dirty="0"/>
              <a:t> </a:t>
            </a:r>
            <a:r>
              <a:rPr sz="750" spc="15" baseline="83333" dirty="0"/>
              <a:t>11</a:t>
            </a:r>
            <a:r>
              <a:rPr sz="750" baseline="83333" dirty="0"/>
              <a:t>     </a:t>
            </a:r>
            <a:r>
              <a:rPr sz="750" spc="-37" baseline="83333" dirty="0"/>
              <a:t> </a:t>
            </a:r>
            <a:r>
              <a:rPr sz="1550" dirty="0"/>
              <a:t>The</a:t>
            </a:r>
            <a:r>
              <a:rPr sz="1550" spc="90" dirty="0"/>
              <a:t> </a:t>
            </a:r>
            <a:r>
              <a:rPr sz="1550" spc="5" dirty="0"/>
              <a:t>Problem</a:t>
            </a:r>
            <a:r>
              <a:rPr sz="1550" spc="-35" dirty="0"/>
              <a:t> </a:t>
            </a:r>
            <a:r>
              <a:rPr sz="1550" spc="20" dirty="0"/>
              <a:t>of</a:t>
            </a:r>
            <a:r>
              <a:rPr sz="1550" spc="114" dirty="0"/>
              <a:t> </a:t>
            </a:r>
            <a:r>
              <a:rPr sz="1550" spc="-20" dirty="0"/>
              <a:t>Personal</a:t>
            </a:r>
            <a:r>
              <a:rPr sz="1550" spc="95" dirty="0"/>
              <a:t> </a:t>
            </a:r>
            <a:r>
              <a:rPr sz="1550" spc="-60" dirty="0"/>
              <a:t>Fi</a:t>
            </a:r>
            <a:r>
              <a:rPr sz="1550" dirty="0"/>
              <a:t>nanc</a:t>
            </a:r>
            <a:r>
              <a:rPr sz="1550" spc="-15" dirty="0"/>
              <a:t>i</a:t>
            </a:r>
            <a:r>
              <a:rPr sz="1550" dirty="0"/>
              <a:t>al</a:t>
            </a:r>
            <a:r>
              <a:rPr sz="1550" spc="45" dirty="0"/>
              <a:t> </a:t>
            </a:r>
            <a:r>
              <a:rPr sz="1550" spc="25" dirty="0"/>
              <a:t>Management</a:t>
            </a:r>
            <a:endParaRPr sz="1550" dirty="0"/>
          </a:p>
          <a:p>
            <a:pPr marL="1105535">
              <a:lnSpc>
                <a:spcPts val="305"/>
              </a:lnSpc>
            </a:pPr>
            <a:r>
              <a:rPr sz="500" spc="525" dirty="0"/>
              <a:t>:</a:t>
            </a:r>
            <a:endParaRPr sz="500" dirty="0"/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 marL="12700" marR="112395">
              <a:lnSpc>
                <a:spcPct val="119400"/>
              </a:lnSpc>
              <a:spcBef>
                <a:spcPts val="409"/>
              </a:spcBef>
            </a:pPr>
            <a:r>
              <a:rPr sz="1100" b="0" spc="-25" dirty="0">
                <a:latin typeface="Arial"/>
                <a:cs typeface="Arial"/>
              </a:rPr>
              <a:t>When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6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person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tries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manage</a:t>
            </a:r>
            <a:r>
              <a:rPr sz="1100" b="0" spc="5" dirty="0">
                <a:latin typeface="Arial"/>
                <a:cs typeface="Arial"/>
              </a:rPr>
              <a:t> their</a:t>
            </a:r>
            <a:r>
              <a:rPr sz="1100" b="0" spc="6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finances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with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help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some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web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or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mobile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app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they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met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with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possibilities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data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leaks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and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enormous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paywalls</a:t>
            </a:r>
            <a:r>
              <a:rPr sz="1100" b="0" spc="10" dirty="0">
                <a:latin typeface="Arial"/>
                <a:cs typeface="Arial"/>
              </a:rPr>
              <a:t> and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-50" dirty="0">
                <a:latin typeface="Arial"/>
                <a:cs typeface="Arial"/>
              </a:rPr>
              <a:t>NO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normal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Person</a:t>
            </a:r>
            <a:r>
              <a:rPr sz="1100" b="0" spc="-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wants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go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through</a:t>
            </a:r>
            <a:r>
              <a:rPr sz="1100" b="0" spc="25" dirty="0">
                <a:latin typeface="Arial"/>
                <a:cs typeface="Arial"/>
              </a:rPr>
              <a:t> the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hassle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dirty="0">
                <a:latin typeface="Arial"/>
                <a:cs typeface="Arial"/>
              </a:rPr>
              <a:t>  </a:t>
            </a:r>
            <a:r>
              <a:rPr sz="1100" b="0" spc="10" dirty="0">
                <a:latin typeface="Arial"/>
                <a:cs typeface="Arial"/>
              </a:rPr>
              <a:t>transforming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-15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raw,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unstructured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financial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transaction</a:t>
            </a:r>
            <a:r>
              <a:rPr sz="1100" b="0" spc="9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data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provided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by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banks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usually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70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form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80" dirty="0">
                <a:latin typeface="Arial"/>
                <a:cs typeface="Arial"/>
              </a:rPr>
              <a:t>CSV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files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into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useful,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categorized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,,high-level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financial</a:t>
            </a:r>
            <a:r>
              <a:rPr sz="1100" b="0" spc="114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insights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.</a:t>
            </a:r>
            <a:r>
              <a:rPr sz="1100" b="0" spc="10" dirty="0">
                <a:latin typeface="Arial"/>
                <a:cs typeface="Arial"/>
              </a:rPr>
              <a:t>Information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which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would</a:t>
            </a:r>
            <a:r>
              <a:rPr sz="1100" b="0" spc="9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provide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invaluable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information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on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their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spending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habits</a:t>
            </a:r>
            <a:r>
              <a:rPr sz="1100" b="0" spc="-3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,financial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spending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flow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 </a:t>
            </a:r>
            <a:r>
              <a:rPr sz="1100" b="0" spc="5" dirty="0">
                <a:latin typeface="Arial"/>
                <a:cs typeface="Arial"/>
              </a:rPr>
              <a:t>their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earnings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etc.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dirty="0"/>
              <a:t>The</a:t>
            </a:r>
            <a:r>
              <a:rPr spc="45" dirty="0"/>
              <a:t> </a:t>
            </a:r>
            <a:r>
              <a:rPr sz="750" spc="15" baseline="83333" dirty="0"/>
              <a:t>1</a:t>
            </a:r>
            <a:r>
              <a:rPr sz="750" baseline="83333" dirty="0"/>
              <a:t>1</a:t>
            </a:r>
            <a:r>
              <a:rPr sz="1550" spc="20" dirty="0"/>
              <a:t>Wh</a:t>
            </a:r>
            <a:r>
              <a:rPr sz="1550" spc="145" dirty="0"/>
              <a:t>y</a:t>
            </a:r>
            <a:r>
              <a:rPr sz="750" spc="15" baseline="83333" dirty="0"/>
              <a:t>11</a:t>
            </a:r>
            <a:r>
              <a:rPr sz="750" baseline="83333" dirty="0"/>
              <a:t>     </a:t>
            </a:r>
            <a:r>
              <a:rPr sz="750" spc="-7" baseline="83333" dirty="0"/>
              <a:t> </a:t>
            </a:r>
            <a:r>
              <a:rPr sz="1550" dirty="0"/>
              <a:t>The</a:t>
            </a:r>
            <a:r>
              <a:rPr sz="1550" spc="90" dirty="0"/>
              <a:t> </a:t>
            </a:r>
            <a:r>
              <a:rPr sz="1550" spc="-30" dirty="0"/>
              <a:t>Fa</a:t>
            </a:r>
            <a:r>
              <a:rPr sz="1550" spc="-50" dirty="0"/>
              <a:t>i</a:t>
            </a:r>
            <a:r>
              <a:rPr sz="1550" spc="20" dirty="0"/>
              <a:t>lure</a:t>
            </a:r>
            <a:r>
              <a:rPr sz="1550" spc="-85" dirty="0"/>
              <a:t> </a:t>
            </a:r>
            <a:r>
              <a:rPr sz="1550" spc="20" dirty="0"/>
              <a:t>of</a:t>
            </a:r>
            <a:r>
              <a:rPr sz="1550" spc="114" dirty="0"/>
              <a:t> </a:t>
            </a:r>
            <a:r>
              <a:rPr sz="1550" spc="5" dirty="0"/>
              <a:t>Manual</a:t>
            </a:r>
            <a:r>
              <a:rPr sz="1550" spc="50" dirty="0"/>
              <a:t> </a:t>
            </a:r>
            <a:r>
              <a:rPr sz="1550" spc="35" dirty="0"/>
              <a:t>Methods</a:t>
            </a:r>
            <a:endParaRPr sz="1550" dirty="0"/>
          </a:p>
          <a:p>
            <a:pPr marL="1024890">
              <a:lnSpc>
                <a:spcPts val="305"/>
              </a:lnSpc>
            </a:pPr>
            <a:r>
              <a:rPr sz="500" spc="525" dirty="0"/>
              <a:t>:</a:t>
            </a:r>
            <a:endParaRPr sz="500" dirty="0"/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0" spc="-100" dirty="0">
                <a:latin typeface="Arial"/>
                <a:cs typeface="Arial"/>
              </a:rPr>
              <a:t>A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significant</a:t>
            </a:r>
            <a:r>
              <a:rPr sz="1100" b="0" spc="114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gap</a:t>
            </a:r>
            <a:r>
              <a:rPr sz="1100" b="0" dirty="0">
                <a:latin typeface="Arial"/>
                <a:cs typeface="Arial"/>
              </a:rPr>
              <a:t> exists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current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software</a:t>
            </a:r>
            <a:r>
              <a:rPr sz="1100" b="0" spc="10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market.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473709" marR="5080" indent="-226695">
              <a:lnSpc>
                <a:spcPct val="120100"/>
              </a:lnSpc>
              <a:tabLst>
                <a:tab pos="476250" algn="l"/>
              </a:tabLst>
            </a:pPr>
            <a:r>
              <a:rPr sz="1050" b="0" spc="-50" dirty="0">
                <a:latin typeface="Arial"/>
                <a:cs typeface="Arial"/>
              </a:rPr>
              <a:t>1.		</a:t>
            </a:r>
            <a:r>
              <a:rPr sz="1050" spc="20" dirty="0"/>
              <a:t>Commercial</a:t>
            </a:r>
            <a:r>
              <a:rPr sz="1050" spc="90" dirty="0"/>
              <a:t> </a:t>
            </a:r>
            <a:r>
              <a:rPr sz="1050" spc="35" dirty="0"/>
              <a:t>Saas</a:t>
            </a:r>
            <a:r>
              <a:rPr sz="1050" spc="80" dirty="0"/>
              <a:t> </a:t>
            </a:r>
            <a:r>
              <a:rPr sz="1050" spc="30" dirty="0"/>
              <a:t>(e.g.,</a:t>
            </a:r>
            <a:r>
              <a:rPr sz="1050" spc="-35" dirty="0"/>
              <a:t> </a:t>
            </a:r>
            <a:r>
              <a:rPr sz="1050" dirty="0"/>
              <a:t>YNAB,</a:t>
            </a:r>
            <a:r>
              <a:rPr sz="1050" spc="85" dirty="0"/>
              <a:t> </a:t>
            </a:r>
            <a:r>
              <a:rPr sz="1050" spc="25" dirty="0"/>
              <a:t>Quicken</a:t>
            </a:r>
            <a:r>
              <a:rPr sz="1050" spc="20" dirty="0"/>
              <a:t>):</a:t>
            </a:r>
            <a:r>
              <a:rPr sz="1050" spc="-5" dirty="0"/>
              <a:t> </a:t>
            </a:r>
            <a:r>
              <a:rPr sz="1100" b="0" spc="-25" dirty="0">
                <a:latin typeface="Arial"/>
                <a:cs typeface="Arial"/>
              </a:rPr>
              <a:t>These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tools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easy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use</a:t>
            </a:r>
            <a:r>
              <a:rPr sz="1100" b="0" spc="-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but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require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recurring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subscription</a:t>
            </a:r>
            <a:r>
              <a:rPr sz="1100" b="0" spc="8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fees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significant</a:t>
            </a:r>
            <a:r>
              <a:rPr sz="1100" b="0" spc="9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data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privacy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compromises</a:t>
            </a:r>
            <a:r>
              <a:rPr sz="1100" b="0" spc="13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(linking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live </a:t>
            </a:r>
            <a:r>
              <a:rPr sz="1100" b="0" dirty="0">
                <a:latin typeface="Arial"/>
                <a:cs typeface="Arial"/>
              </a:rPr>
              <a:t>bank </a:t>
            </a:r>
            <a:r>
              <a:rPr sz="1100" b="0" spc="10" dirty="0">
                <a:latin typeface="Arial"/>
                <a:cs typeface="Arial"/>
              </a:rPr>
              <a:t>accounts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cloud)</a:t>
            </a:r>
            <a:r>
              <a:rPr sz="1100" b="0" spc="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471170" marR="118110" indent="-226695">
              <a:lnSpc>
                <a:spcPct val="119300"/>
              </a:lnSpc>
              <a:spcBef>
                <a:spcPts val="10"/>
              </a:spcBef>
            </a:pPr>
            <a:r>
              <a:rPr sz="1100" b="0" spc="-30" dirty="0">
                <a:latin typeface="Arial"/>
                <a:cs typeface="Arial"/>
              </a:rPr>
              <a:t>2.  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050" spc="35" dirty="0"/>
              <a:t>Open-Source</a:t>
            </a:r>
            <a:r>
              <a:rPr sz="1050" dirty="0"/>
              <a:t> </a:t>
            </a:r>
            <a:r>
              <a:rPr sz="1050" spc="-125" dirty="0"/>
              <a:t> </a:t>
            </a:r>
            <a:r>
              <a:rPr sz="1050" spc="30" dirty="0"/>
              <a:t>(e.g.,</a:t>
            </a:r>
            <a:r>
              <a:rPr sz="1050" spc="35" dirty="0"/>
              <a:t> </a:t>
            </a:r>
            <a:r>
              <a:rPr sz="1050" spc="20" dirty="0"/>
              <a:t>Firefly</a:t>
            </a:r>
            <a:r>
              <a:rPr sz="1050" spc="70" dirty="0"/>
              <a:t> </a:t>
            </a:r>
            <a:r>
              <a:rPr sz="1100" b="0" spc="60" dirty="0">
                <a:latin typeface="Arial"/>
                <a:cs typeface="Arial"/>
              </a:rPr>
              <a:t>Ill</a:t>
            </a:r>
            <a:r>
              <a:rPr sz="1100" b="0" spc="90" dirty="0">
                <a:latin typeface="Arial"/>
                <a:cs typeface="Arial"/>
              </a:rPr>
              <a:t>)</a:t>
            </a:r>
            <a:r>
              <a:rPr sz="1100" b="0" spc="70" dirty="0">
                <a:latin typeface="Arial"/>
                <a:cs typeface="Arial"/>
              </a:rPr>
              <a:t>:</a:t>
            </a:r>
            <a:r>
              <a:rPr sz="1100" b="0" spc="-155" dirty="0">
                <a:latin typeface="Arial"/>
                <a:cs typeface="Arial"/>
              </a:rPr>
              <a:t> </a:t>
            </a:r>
            <a:r>
              <a:rPr sz="1100" b="0" spc="-35" dirty="0">
                <a:latin typeface="Arial"/>
                <a:cs typeface="Arial"/>
              </a:rPr>
              <a:t>These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solutions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free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private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but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are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built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for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technical</a:t>
            </a:r>
            <a:r>
              <a:rPr sz="1100" b="0" spc="11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users,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requiring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skills</a:t>
            </a:r>
            <a:r>
              <a:rPr sz="1100" b="0" spc="7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server</a:t>
            </a:r>
            <a:r>
              <a:rPr sz="1100" b="0" spc="90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self-hosting,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database</a:t>
            </a:r>
            <a:r>
              <a:rPr sz="1100" b="0" spc="12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management,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and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scripting.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2700">
              <a:lnSpc>
                <a:spcPts val="1170"/>
              </a:lnSpc>
            </a:pPr>
            <a:r>
              <a:rPr sz="1350" spc="5" dirty="0"/>
              <a:t>The</a:t>
            </a:r>
            <a:r>
              <a:rPr sz="1350" spc="15" dirty="0"/>
              <a:t> </a:t>
            </a:r>
            <a:r>
              <a:rPr sz="675" spc="15" baseline="86419" dirty="0">
                <a:latin typeface="Times New Roman"/>
                <a:cs typeface="Times New Roman"/>
              </a:rPr>
              <a:t>11</a:t>
            </a:r>
            <a:r>
              <a:rPr sz="675" spc="7" baseline="86419" dirty="0">
                <a:latin typeface="Times New Roman"/>
                <a:cs typeface="Times New Roman"/>
              </a:rPr>
              <a:t> </a:t>
            </a:r>
            <a:r>
              <a:rPr sz="1350" spc="35" dirty="0"/>
              <a:t>Ho</a:t>
            </a:r>
            <a:r>
              <a:rPr sz="1350" spc="65" dirty="0"/>
              <a:t>w</a:t>
            </a:r>
            <a:r>
              <a:rPr sz="675" spc="15" baseline="86419" dirty="0">
                <a:latin typeface="Times New Roman"/>
                <a:cs typeface="Times New Roman"/>
              </a:rPr>
              <a:t>11</a:t>
            </a:r>
            <a:r>
              <a:rPr sz="675" baseline="86419" dirty="0">
                <a:latin typeface="Times New Roman"/>
                <a:cs typeface="Times New Roman"/>
              </a:rPr>
              <a:t>       </a:t>
            </a:r>
            <a:r>
              <a:rPr sz="675" spc="-89" baseline="86419" dirty="0">
                <a:latin typeface="Times New Roman"/>
                <a:cs typeface="Times New Roman"/>
              </a:rPr>
              <a:t> </a:t>
            </a:r>
            <a:r>
              <a:rPr sz="1350" spc="35" dirty="0"/>
              <a:t>Fragmentat</a:t>
            </a:r>
            <a:r>
              <a:rPr sz="1350" spc="20" dirty="0"/>
              <a:t>i</a:t>
            </a:r>
            <a:r>
              <a:rPr sz="1350" spc="5" dirty="0"/>
              <a:t>on</a:t>
            </a:r>
            <a:r>
              <a:rPr sz="1350" spc="-30" dirty="0"/>
              <a:t> </a:t>
            </a:r>
            <a:r>
              <a:rPr sz="1350" spc="40" dirty="0"/>
              <a:t>of</a:t>
            </a:r>
            <a:r>
              <a:rPr sz="1350" spc="-35" dirty="0"/>
              <a:t> </a:t>
            </a:r>
            <a:r>
              <a:rPr sz="1350" spc="60" dirty="0"/>
              <a:t>the</a:t>
            </a:r>
            <a:r>
              <a:rPr sz="1350" spc="40" dirty="0"/>
              <a:t> Modern</a:t>
            </a:r>
            <a:r>
              <a:rPr sz="1350" spc="50" dirty="0"/>
              <a:t> </a:t>
            </a:r>
            <a:r>
              <a:rPr sz="1350" spc="-30" dirty="0"/>
              <a:t>PFM</a:t>
            </a:r>
            <a:r>
              <a:rPr sz="1350" spc="45" dirty="0"/>
              <a:t> </a:t>
            </a:r>
            <a:r>
              <a:rPr sz="1350" spc="55" dirty="0"/>
              <a:t>Market</a:t>
            </a:r>
            <a:endParaRPr sz="1350" dirty="0">
              <a:latin typeface="Times New Roman"/>
              <a:cs typeface="Times New Roman"/>
            </a:endParaRPr>
          </a:p>
          <a:p>
            <a:pPr marL="901700">
              <a:lnSpc>
                <a:spcPts val="270"/>
              </a:lnSpc>
            </a:pPr>
            <a:r>
              <a:rPr sz="450" spc="385" dirty="0">
                <a:latin typeface="Times New Roman"/>
                <a:cs typeface="Times New Roman"/>
              </a:rPr>
              <a:t>:</a:t>
            </a:r>
            <a:endParaRPr sz="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12700" marR="153670" algn="just">
              <a:lnSpc>
                <a:spcPct val="119500"/>
              </a:lnSpc>
            </a:pPr>
            <a:r>
              <a:rPr sz="1100" b="0" spc="-40" dirty="0">
                <a:latin typeface="Arial"/>
                <a:cs typeface="Arial"/>
              </a:rPr>
              <a:t>The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proposed</a:t>
            </a:r>
            <a:r>
              <a:rPr sz="1100" b="0" spc="-5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solution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is</a:t>
            </a:r>
            <a:r>
              <a:rPr sz="1100" b="0" spc="-114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050" spc="-15" dirty="0"/>
              <a:t>F</a:t>
            </a:r>
            <a:r>
              <a:rPr sz="1050" spc="-55" dirty="0"/>
              <a:t>i</a:t>
            </a:r>
            <a:r>
              <a:rPr sz="1050" spc="15" dirty="0"/>
              <a:t>nance</a:t>
            </a:r>
            <a:r>
              <a:rPr sz="1050" spc="-15" dirty="0"/>
              <a:t> </a:t>
            </a:r>
            <a:r>
              <a:rPr sz="1050" spc="15" dirty="0"/>
              <a:t>Tracker,</a:t>
            </a:r>
            <a:r>
              <a:rPr sz="1050" spc="40" dirty="0"/>
              <a:t> </a:t>
            </a:r>
            <a:r>
              <a:rPr sz="1050" spc="-40" dirty="0"/>
              <a:t>an</a:t>
            </a:r>
            <a:r>
              <a:rPr sz="1050" spc="-50" dirty="0"/>
              <a:t> </a:t>
            </a:r>
            <a:r>
              <a:rPr sz="1050" spc="15" dirty="0"/>
              <a:t>Application</a:t>
            </a:r>
            <a:r>
              <a:rPr sz="1050" spc="130" dirty="0"/>
              <a:t> </a:t>
            </a:r>
            <a:r>
              <a:rPr sz="1050" spc="15" dirty="0"/>
              <a:t>based</a:t>
            </a:r>
            <a:r>
              <a:rPr sz="1050" spc="-35" dirty="0"/>
              <a:t> </a:t>
            </a:r>
            <a:r>
              <a:rPr sz="1100" b="0" spc="20" dirty="0">
                <a:latin typeface="Arial"/>
                <a:cs typeface="Arial"/>
              </a:rPr>
              <a:t>tool.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It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is</a:t>
            </a:r>
            <a:r>
              <a:rPr sz="1100" b="0" spc="-95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lightweight,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offline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Python</a:t>
            </a:r>
            <a:r>
              <a:rPr sz="1100" b="0" spc="-6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application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that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operates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050" b="0" i="1" spc="20" dirty="0">
                <a:latin typeface="Arial"/>
                <a:cs typeface="Arial"/>
              </a:rPr>
              <a:t>only </a:t>
            </a:r>
            <a:r>
              <a:rPr sz="1100" b="0" spc="15" dirty="0">
                <a:latin typeface="Arial"/>
                <a:cs typeface="Arial"/>
              </a:rPr>
              <a:t>on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local,</a:t>
            </a:r>
            <a:r>
              <a:rPr sz="1100" b="0" spc="-5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user-provided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80" dirty="0">
                <a:latin typeface="Arial"/>
                <a:cs typeface="Arial"/>
              </a:rPr>
              <a:t>CSV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file.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It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automates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most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laborious</a:t>
            </a:r>
            <a:r>
              <a:rPr sz="1100" b="0" spc="-15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tasks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(data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cleansing,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categorization,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2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report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generation)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outputs</a:t>
            </a:r>
            <a:r>
              <a:rPr sz="1100" b="0" spc="15" dirty="0">
                <a:latin typeface="Arial"/>
                <a:cs typeface="Arial"/>
              </a:rPr>
              <a:t> the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final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-25" dirty="0">
                <a:latin typeface="Arial"/>
                <a:cs typeface="Arial"/>
              </a:rPr>
              <a:t>analysis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into</a:t>
            </a:r>
            <a:r>
              <a:rPr sz="1100" b="0" spc="-45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universally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familiar</a:t>
            </a:r>
            <a:r>
              <a:rPr sz="1100" b="0" spc="12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Microsoft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spc="-50" dirty="0">
                <a:latin typeface="Arial"/>
                <a:cs typeface="Arial"/>
              </a:rPr>
              <a:t>Excel </a:t>
            </a:r>
            <a:r>
              <a:rPr sz="1100" b="0" dirty="0">
                <a:latin typeface="Arial"/>
                <a:cs typeface="Arial"/>
              </a:rPr>
              <a:t>file.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612" y="304800"/>
            <a:ext cx="4925695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2600" b="1" spc="55" dirty="0">
                <a:solidFill>
                  <a:srgbClr val="1C1A1C"/>
                </a:solidFill>
                <a:latin typeface="Arial"/>
                <a:cs typeface="Arial"/>
              </a:rPr>
              <a:t>II.</a:t>
            </a:r>
            <a:r>
              <a:rPr sz="2600" b="1" spc="-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2600" b="1" spc="-130" dirty="0">
                <a:solidFill>
                  <a:srgbClr val="1C1A1C"/>
                </a:solidFill>
                <a:latin typeface="Arial"/>
                <a:cs typeface="Arial"/>
              </a:rPr>
              <a:t>L</a:t>
            </a:r>
            <a:r>
              <a:rPr sz="2600" b="1" spc="-204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2600" b="1" spc="95" dirty="0">
                <a:solidFill>
                  <a:srgbClr val="1C1A1C"/>
                </a:solidFill>
                <a:latin typeface="Arial"/>
                <a:cs typeface="Arial"/>
              </a:rPr>
              <a:t>terature</a:t>
            </a:r>
            <a:r>
              <a:rPr sz="2600" b="1" spc="1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2600" b="1" spc="10" dirty="0">
                <a:solidFill>
                  <a:srgbClr val="1C1A1C"/>
                </a:solidFill>
                <a:latin typeface="Arial"/>
                <a:cs typeface="Arial"/>
              </a:rPr>
              <a:t>Survey</a:t>
            </a: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5"/>
              </a:spcBef>
            </a:pPr>
            <a:r>
              <a:rPr sz="1000" spc="-9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0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C1A1C"/>
                </a:solidFill>
                <a:latin typeface="Arial"/>
                <a:cs typeface="Arial"/>
              </a:rPr>
              <a:t>survey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1C1A1C"/>
                </a:solidFill>
                <a:latin typeface="Arial"/>
                <a:cs typeface="Arial"/>
              </a:rPr>
              <a:t>10</a:t>
            </a:r>
            <a:r>
              <a:rPr sz="1000" spc="-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existing</a:t>
            </a:r>
            <a:r>
              <a:rPr sz="10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solutions</a:t>
            </a:r>
            <a:r>
              <a:rPr sz="10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reveals</a:t>
            </a:r>
            <a:r>
              <a:rPr sz="1000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0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1C1A1C"/>
                </a:solidFill>
                <a:latin typeface="Arial"/>
                <a:cs typeface="Arial"/>
              </a:rPr>
              <a:t>specific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35" dirty="0">
                <a:solidFill>
                  <a:srgbClr val="1C1A1C"/>
                </a:solidFill>
                <a:latin typeface="Arial"/>
                <a:cs typeface="Arial"/>
              </a:rPr>
              <a:t>trade-offs</a:t>
            </a:r>
            <a:r>
              <a:rPr sz="10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000" spc="-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000" spc="10" dirty="0">
                <a:solidFill>
                  <a:srgbClr val="1C1A1C"/>
                </a:solidFill>
                <a:latin typeface="Arial"/>
                <a:cs typeface="Arial"/>
              </a:rPr>
              <a:t> current</a:t>
            </a:r>
            <a:r>
              <a:rPr sz="10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market.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5612" y="1371600"/>
            <a:ext cx="5596255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10" dirty="0">
                <a:solidFill>
                  <a:srgbClr val="1C1A1C"/>
                </a:solidFill>
                <a:latin typeface="Arial"/>
                <a:cs typeface="Arial"/>
              </a:rPr>
              <a:t>A.</a:t>
            </a:r>
            <a:r>
              <a:rPr sz="115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Cloud-Based</a:t>
            </a:r>
            <a:r>
              <a:rPr sz="1100" b="1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Subscr</a:t>
            </a:r>
            <a:r>
              <a:rPr sz="1100" b="1" spc="7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ption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Platforms</a:t>
            </a:r>
            <a:endParaRPr sz="1100" dirty="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530"/>
              </a:spcBef>
            </a:pPr>
            <a:r>
              <a:rPr sz="1100" b="1" spc="90" dirty="0">
                <a:solidFill>
                  <a:srgbClr val="1C1A1C"/>
                </a:solidFill>
                <a:latin typeface="Arial"/>
                <a:cs typeface="Arial"/>
              </a:rPr>
              <a:t>e  </a:t>
            </a:r>
            <a:r>
              <a:rPr sz="1100" b="1" spc="-1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YNAB</a:t>
            </a:r>
            <a:r>
              <a:rPr sz="1100" b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5" dirty="0">
                <a:solidFill>
                  <a:srgbClr val="1C1A1C"/>
                </a:solidFill>
                <a:latin typeface="Arial"/>
                <a:cs typeface="Arial"/>
              </a:rPr>
              <a:t>{You</a:t>
            </a:r>
            <a:r>
              <a:rPr sz="1100" b="1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Need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b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Budget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8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Excellent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zero-based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budgeting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system.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High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cost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($109/yr)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steep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 curve.</a:t>
            </a:r>
            <a:endParaRPr sz="1100" dirty="0">
              <a:latin typeface="Arial"/>
              <a:cs typeface="Arial"/>
            </a:endParaRPr>
          </a:p>
          <a:p>
            <a:pPr marL="479425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80059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Monarch</a:t>
            </a:r>
            <a:r>
              <a:rPr sz="1100" b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Comprehensive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dashboard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net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worth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investments.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Expensive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$99/yr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fully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cloud-dependent.</a:t>
            </a:r>
            <a:endParaRPr sz="1100" dirty="0">
              <a:latin typeface="Arial"/>
              <a:cs typeface="Arial"/>
            </a:endParaRPr>
          </a:p>
          <a:p>
            <a:pPr marL="473709" indent="-229235">
              <a:lnSpc>
                <a:spcPct val="100000"/>
              </a:lnSpc>
              <a:spcBef>
                <a:spcPts val="325"/>
              </a:spcBef>
              <a:buClr>
                <a:srgbClr val="1C1A1C"/>
              </a:buClr>
              <a:buFont typeface="Arial"/>
              <a:buChar char="•"/>
              <a:tabLst>
                <a:tab pos="474345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Quicken</a:t>
            </a:r>
            <a:r>
              <a:rPr sz="110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Simplifi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User-friendly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interface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good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reporting.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Requires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recurring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subscription;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less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powerful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than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desktop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predecessors.</a:t>
            </a:r>
            <a:endParaRPr sz="1100" dirty="0">
              <a:latin typeface="Arial"/>
              <a:cs typeface="Arial"/>
            </a:endParaRPr>
          </a:p>
          <a:p>
            <a:pPr marL="473709" indent="-229235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74345" algn="l"/>
              </a:tabLst>
            </a:pP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Copilot</a:t>
            </a:r>
            <a:r>
              <a:rPr sz="1100" b="1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Uses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auto-categorization;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excellent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UI.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Exclusive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Apple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iOS/Mac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ecosystem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1C1A1C"/>
                </a:solidFill>
                <a:latin typeface="Arial"/>
                <a:cs typeface="Arial"/>
              </a:rPr>
              <a:t>US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banks.</a:t>
            </a:r>
            <a:endParaRPr sz="1100" dirty="0">
              <a:latin typeface="Arial"/>
              <a:cs typeface="Arial"/>
            </a:endParaRPr>
          </a:p>
          <a:p>
            <a:pPr marL="479425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80059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Rocket</a:t>
            </a:r>
            <a:r>
              <a:rPr sz="1100" b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Specializes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100" spc="-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identifying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cancelling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subscriptions.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Privacy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concerns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regarding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access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permissions.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8403" y="838200"/>
            <a:ext cx="5464810" cy="1805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buClr>
                <a:srgbClr val="1C1A1C"/>
              </a:buClr>
              <a:buFont typeface="Arial"/>
              <a:buAutoNum type="alphaUcPeriod" startAt="2"/>
              <a:tabLst>
                <a:tab pos="189230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Freem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um</a:t>
            </a:r>
            <a:r>
              <a:rPr sz="1100" b="1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Cloud</a:t>
            </a:r>
            <a:r>
              <a:rPr sz="1100" b="1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1C1A1C"/>
                </a:solidFill>
                <a:latin typeface="Arial"/>
                <a:cs typeface="Arial"/>
              </a:rPr>
              <a:t>Services</a:t>
            </a:r>
            <a:endParaRPr sz="1100" dirty="0">
              <a:latin typeface="Arial"/>
              <a:cs typeface="Arial"/>
            </a:endParaRPr>
          </a:p>
          <a:p>
            <a:pPr marL="471170" lvl="1" indent="-234950">
              <a:lnSpc>
                <a:spcPct val="100000"/>
              </a:lnSpc>
              <a:spcBef>
                <a:spcPts val="975"/>
              </a:spcBef>
              <a:buClr>
                <a:srgbClr val="1C1A1C"/>
              </a:buClr>
              <a:buFont typeface="Arial"/>
              <a:buChar char="•"/>
              <a:tabLst>
                <a:tab pos="471805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Empower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Personal</a:t>
            </a:r>
            <a:r>
              <a:rPr sz="1100" b="1" spc="1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Dashboard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1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Best-in-class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investment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net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worth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tracking</a:t>
            </a:r>
            <a:r>
              <a:rPr sz="1100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(free)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Budgeting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tools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are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rudimentary;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primarily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lead-gen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tool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advisors.</a:t>
            </a:r>
            <a:endParaRPr sz="1100" dirty="0">
              <a:latin typeface="Arial"/>
              <a:cs typeface="Arial"/>
            </a:endParaRPr>
          </a:p>
          <a:p>
            <a:pPr marL="462915" indent="-226695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62915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Wallet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by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BudgetBakers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Extensive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international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bank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support.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Bank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synchronization</a:t>
            </a:r>
            <a:r>
              <a:rPr sz="1100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is</a:t>
            </a:r>
            <a:r>
              <a:rPr sz="1100" spc="-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often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unstable;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free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version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heavily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restricted.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612" y="4191000"/>
            <a:ext cx="5697220" cy="230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buClr>
                <a:srgbClr val="1C1A1C"/>
              </a:buClr>
              <a:buFont typeface="Arial"/>
              <a:buAutoNum type="alphaUcPeriod" startAt="3"/>
              <a:tabLst>
                <a:tab pos="205740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Spreadsheet</a:t>
            </a:r>
            <a:r>
              <a:rPr sz="1100" b="1" spc="1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1C1A1C"/>
                </a:solidFill>
                <a:latin typeface="Arial"/>
                <a:cs typeface="Arial"/>
              </a:rPr>
              <a:t>&amp;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Local</a:t>
            </a:r>
            <a:r>
              <a:rPr sz="1100" b="1" spc="-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Alternatives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  <a:buClr>
                <a:srgbClr val="1C1A1C"/>
              </a:buClr>
              <a:buFont typeface="Arial"/>
              <a:buAutoNum type="alphaUcPeriod" startAt="3"/>
            </a:pPr>
            <a:endParaRPr sz="1100" dirty="0">
              <a:latin typeface="Times New Roman"/>
              <a:cs typeface="Times New Roman"/>
            </a:endParaRPr>
          </a:p>
          <a:p>
            <a:pPr marL="467995" lvl="1" indent="-226060">
              <a:lnSpc>
                <a:spcPct val="100000"/>
              </a:lnSpc>
              <a:buClr>
                <a:srgbClr val="1C1A1C"/>
              </a:buClr>
              <a:buFont typeface="Arial"/>
              <a:buChar char="•"/>
              <a:tabLst>
                <a:tab pos="468630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Tiller</a:t>
            </a:r>
            <a:r>
              <a:rPr sz="1100" b="1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5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Pipes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directly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into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Google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Sheets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maximum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customization.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0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Requires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high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spreadsheet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proficiency;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paid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subscription.</a:t>
            </a:r>
            <a:endParaRPr sz="1100" dirty="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390"/>
              </a:spcBef>
              <a:buClr>
                <a:srgbClr val="1C1A1C"/>
              </a:buClr>
              <a:buFont typeface="Arial"/>
              <a:buChar char="•"/>
              <a:tabLst>
                <a:tab pos="471805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GnuCash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Free,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open-source,</a:t>
            </a:r>
            <a:r>
              <a:rPr sz="1100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local-first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privacy,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professional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double-entry</a:t>
            </a:r>
            <a:r>
              <a:rPr sz="1100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accounting.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Extremely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complex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U</a:t>
            </a:r>
            <a:r>
              <a:rPr sz="1100" spc="-7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spc="175" dirty="0">
                <a:solidFill>
                  <a:srgbClr val="1C1A1C"/>
                </a:solidFill>
                <a:latin typeface="Arial"/>
                <a:cs typeface="Arial"/>
              </a:rPr>
              <a:t>;</a:t>
            </a:r>
            <a:r>
              <a:rPr sz="1100" spc="-1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strictly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manual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entry.</a:t>
            </a:r>
            <a:endParaRPr sz="1100" dirty="0">
              <a:latin typeface="Arial"/>
              <a:cs typeface="Arial"/>
            </a:endParaRPr>
          </a:p>
          <a:p>
            <a:pPr marL="476884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76884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HomeBank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7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Free,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lightweight,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simpler</a:t>
            </a:r>
            <a:r>
              <a:rPr sz="1100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than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GnuCash.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Lacks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automation;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relies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entirely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on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manual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file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imports.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7012" y="152400"/>
            <a:ext cx="2453005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35" dirty="0">
                <a:solidFill>
                  <a:srgbClr val="1D1C1C"/>
                </a:solidFill>
                <a:latin typeface="Arial"/>
                <a:cs typeface="Arial"/>
              </a:rPr>
              <a:t>Ill.</a:t>
            </a:r>
            <a:r>
              <a:rPr sz="1750" b="1" spc="-114" dirty="0">
                <a:solidFill>
                  <a:srgbClr val="1D1C1C"/>
                </a:solidFill>
                <a:latin typeface="Arial"/>
                <a:cs typeface="Arial"/>
              </a:rPr>
              <a:t> </a:t>
            </a:r>
            <a:r>
              <a:rPr sz="1750" b="1" spc="40" dirty="0">
                <a:solidFill>
                  <a:srgbClr val="1D1C1C"/>
                </a:solidFill>
                <a:latin typeface="Arial"/>
                <a:cs typeface="Arial"/>
              </a:rPr>
              <a:t>Comparat</a:t>
            </a:r>
            <a:r>
              <a:rPr sz="1750" b="1" spc="45" dirty="0">
                <a:solidFill>
                  <a:srgbClr val="1D1C1C"/>
                </a:solidFill>
                <a:latin typeface="Arial"/>
                <a:cs typeface="Arial"/>
              </a:rPr>
              <a:t>ive</a:t>
            </a:r>
            <a:r>
              <a:rPr sz="1750" b="1" spc="20" dirty="0">
                <a:solidFill>
                  <a:srgbClr val="1D1C1C"/>
                </a:solidFill>
                <a:latin typeface="Arial"/>
                <a:cs typeface="Arial"/>
              </a:rPr>
              <a:t> </a:t>
            </a:r>
            <a:r>
              <a:rPr sz="1750" b="1" spc="5" dirty="0">
                <a:solidFill>
                  <a:srgbClr val="1D1C1C"/>
                </a:solidFill>
                <a:latin typeface="Arial"/>
                <a:cs typeface="Arial"/>
              </a:rPr>
              <a:t>Study</a:t>
            </a:r>
            <a:endParaRPr sz="1750" dirty="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820949"/>
              </p:ext>
            </p:extLst>
          </p:nvPr>
        </p:nvGraphicFramePr>
        <p:xfrm>
          <a:off x="227012" y="609601"/>
          <a:ext cx="11658600" cy="617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7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9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6223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Software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Hosting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410209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Data Import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30835">
                        <a:lnSpc>
                          <a:spcPct val="1184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Key Feature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214629" indent="8255">
                        <a:lnSpc>
                          <a:spcPct val="1184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Key Weakness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83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YNAB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285115">
                        <a:lnSpc>
                          <a:spcPct val="1223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($109/yr)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25095" indent="-571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Zero-Based Budgeting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Expensive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Monarch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54330">
                        <a:lnSpc>
                          <a:spcPct val="1223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($99/yr)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65735" indent="-889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All-in-One Dashboard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38430" indent="-571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 Privacy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Risk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81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Simplifi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Reporting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82880" indent="-317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Subscriptio n Model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81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Empower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32766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Wealth Tracking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240665" indent="-889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Weak Budgeting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Copilot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ML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16839" marR="127000" indent="-3175">
                        <a:lnSpc>
                          <a:spcPts val="1590"/>
                        </a:lnSpc>
                        <a:spcBef>
                          <a:spcPts val="80"/>
                        </a:spcBef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Categorizat 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56235" indent="5080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Mac/iOS Only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Rocket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Freemium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56845" indent="-317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Sub. Manageme 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283210" indent="508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Privacy Concerns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480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Tiller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6957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Custom Sheets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2385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Difficulty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Gn</a:t>
                      </a:r>
                      <a:r>
                        <a:rPr sz="1100" b="1" spc="7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Cash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Manual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9969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Double- Entry</a:t>
                      </a:r>
                      <a:r>
                        <a:rPr sz="1050" spc="4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Books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37820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Steep Learning Curve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HomeBank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Manual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Lightweight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69545" indent="825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No Automation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61480">
                <a:tc>
                  <a:txBody>
                    <a:bodyPr/>
                    <a:lstStyle/>
                    <a:p>
                      <a:pPr marL="143510" marR="151765" indent="5080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LocalFinTr acker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1D1C1C"/>
                          </a:solidFill>
                          <a:latin typeface="Courier New"/>
                          <a:cs typeface="Courier New"/>
                        </a:rPr>
                        <a:t>csv</a:t>
                      </a:r>
                      <a:endParaRPr sz="1700" dirty="0">
                        <a:latin typeface="Courier New"/>
                        <a:cs typeface="Courier New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Import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62560" indent="8255">
                        <a:lnSpc>
                          <a:spcPct val="1193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Private Automatic 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42240" indent="-3175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Static Categories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412" y="914400"/>
            <a:ext cx="7010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40" dirty="0">
                <a:solidFill>
                  <a:srgbClr val="1C1A1A"/>
                </a:solidFill>
                <a:latin typeface="Arial"/>
                <a:cs typeface="Arial"/>
              </a:rPr>
              <a:t>IV.</a:t>
            </a:r>
            <a:r>
              <a:rPr sz="4000" b="1" spc="-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10" dirty="0">
                <a:solidFill>
                  <a:srgbClr val="1C1A1A"/>
                </a:solidFill>
                <a:latin typeface="Arial"/>
                <a:cs typeface="Arial"/>
              </a:rPr>
              <a:t>Problem</a:t>
            </a:r>
            <a:r>
              <a:rPr sz="40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35" dirty="0">
                <a:solidFill>
                  <a:srgbClr val="1C1A1A"/>
                </a:solidFill>
                <a:latin typeface="Arial"/>
                <a:cs typeface="Arial"/>
              </a:rPr>
              <a:t>Statement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412" y="2271824"/>
            <a:ext cx="9843782" cy="3173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 indent="-3175">
              <a:lnSpc>
                <a:spcPct val="100000"/>
              </a:lnSpc>
            </a:pPr>
            <a:r>
              <a:rPr spc="-3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track</a:t>
            </a:r>
            <a:r>
              <a:rPr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their</a:t>
            </a:r>
            <a:r>
              <a:rPr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1C1A1A"/>
                </a:solidFill>
                <a:latin typeface="Arial"/>
                <a:cs typeface="Arial"/>
              </a:rPr>
              <a:t>expenses,</a:t>
            </a:r>
            <a:r>
              <a:rPr spc="1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15" dirty="0">
                <a:solidFill>
                  <a:srgbClr val="1C1A1A"/>
                </a:solidFill>
                <a:latin typeface="Arial"/>
                <a:cs typeface="Arial"/>
              </a:rPr>
              <a:t>Users</a:t>
            </a:r>
            <a:r>
              <a:rPr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currently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face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only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55" dirty="0">
                <a:solidFill>
                  <a:srgbClr val="1C1A1A"/>
                </a:solidFill>
                <a:latin typeface="Arial"/>
                <a:cs typeface="Arial"/>
              </a:rPr>
              <a:t>2</a:t>
            </a:r>
            <a:r>
              <a:rPr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choices:</a:t>
            </a:r>
            <a:endParaRPr dirty="0">
              <a:latin typeface="Arial"/>
              <a:cs typeface="Arial"/>
            </a:endParaRPr>
          </a:p>
          <a:p>
            <a:pPr marL="15240" marR="1483360">
              <a:lnSpc>
                <a:spcPct val="210200"/>
              </a:lnSpc>
            </a:pP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Sacrifice</a:t>
            </a:r>
            <a:r>
              <a:rPr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privacy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convenience</a:t>
            </a:r>
            <a:r>
              <a:rPr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cloud-based</a:t>
            </a:r>
            <a:r>
              <a:rPr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automation.</a:t>
            </a: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endParaRPr lang="en-IN" dirty="0">
              <a:solidFill>
                <a:srgbClr val="1C1A1A"/>
              </a:solidFill>
              <a:latin typeface="Arial"/>
              <a:cs typeface="Arial"/>
            </a:endParaRPr>
          </a:p>
          <a:p>
            <a:pPr marL="15240" marR="1483360">
              <a:lnSpc>
                <a:spcPct val="210200"/>
              </a:lnSpc>
            </a:pPr>
            <a:r>
              <a:rPr spc="-95" dirty="0">
                <a:solidFill>
                  <a:srgbClr val="1C1A1A"/>
                </a:solidFill>
                <a:latin typeface="Arial"/>
                <a:cs typeface="Arial"/>
              </a:rPr>
              <a:t>OR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pc="10" dirty="0">
                <a:solidFill>
                  <a:srgbClr val="1C1A1A"/>
                </a:solidFill>
                <a:latin typeface="Arial"/>
                <a:cs typeface="Arial"/>
              </a:rPr>
              <a:t>Go through</a:t>
            </a:r>
            <a:r>
              <a:rPr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tedious</a:t>
            </a:r>
            <a:r>
              <a:rPr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process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manual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entry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security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offline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software.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lang="en-IN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 marR="5080">
              <a:lnSpc>
                <a:spcPct val="118400"/>
              </a:lnSpc>
            </a:pPr>
            <a:r>
              <a:rPr b="1" spc="-15" dirty="0">
                <a:solidFill>
                  <a:srgbClr val="1C1A1A"/>
                </a:solidFill>
                <a:latin typeface="Arial"/>
                <a:cs typeface="Arial"/>
              </a:rPr>
              <a:t>There</a:t>
            </a:r>
            <a:r>
              <a:rPr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is</a:t>
            </a:r>
            <a:r>
              <a:rPr b="1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no</a:t>
            </a:r>
            <a:r>
              <a:rPr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streamlined,</a:t>
            </a:r>
            <a:r>
              <a:rPr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15" dirty="0">
                <a:solidFill>
                  <a:srgbClr val="1C1A1A"/>
                </a:solidFill>
                <a:latin typeface="Arial"/>
                <a:cs typeface="Arial"/>
              </a:rPr>
              <a:t>free</a:t>
            </a:r>
            <a:r>
              <a:rPr b="1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1C1A1A"/>
                </a:solidFill>
                <a:latin typeface="Arial"/>
                <a:cs typeface="Arial"/>
              </a:rPr>
              <a:t>tool</a:t>
            </a:r>
            <a:r>
              <a:rPr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that</a:t>
            </a:r>
            <a:r>
              <a:rPr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automates</a:t>
            </a:r>
            <a:r>
              <a:rPr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financial</a:t>
            </a:r>
            <a:r>
              <a:rPr b="1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1C1A1A"/>
                </a:solidFill>
                <a:latin typeface="Arial"/>
                <a:cs typeface="Arial"/>
              </a:rPr>
              <a:t>analysis</a:t>
            </a:r>
            <a:r>
              <a:rPr b="1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from</a:t>
            </a:r>
            <a:r>
              <a:rPr b="1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10" dirty="0">
                <a:solidFill>
                  <a:srgbClr val="1C1A1A"/>
                </a:solidFill>
                <a:latin typeface="Arial"/>
                <a:cs typeface="Arial"/>
              </a:rPr>
              <a:t>statements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while</a:t>
            </a:r>
            <a:r>
              <a:rPr b="1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guaranteeing</a:t>
            </a:r>
            <a:r>
              <a:rPr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100%</a:t>
            </a:r>
            <a:r>
              <a:rPr b="1" spc="-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local</a:t>
            </a:r>
            <a:r>
              <a:rPr b="1" spc="-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b="1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sovereignty.</a:t>
            </a:r>
            <a:endParaRPr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18498" y="300393"/>
            <a:ext cx="48006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30" dirty="0">
                <a:solidFill>
                  <a:srgbClr val="1C1A1A"/>
                </a:solidFill>
                <a:latin typeface="Arial"/>
                <a:cs typeface="Arial"/>
              </a:rPr>
              <a:t>V.</a:t>
            </a:r>
            <a:r>
              <a:rPr sz="4000" b="1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50" dirty="0">
                <a:solidFill>
                  <a:srgbClr val="1C1A1A"/>
                </a:solidFill>
                <a:latin typeface="Arial"/>
                <a:cs typeface="Arial"/>
              </a:rPr>
              <a:t>Object</a:t>
            </a:r>
            <a:r>
              <a:rPr sz="4000" b="1" spc="-20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4000" b="1" spc="45" dirty="0">
                <a:solidFill>
                  <a:srgbClr val="1C1A1A"/>
                </a:solidFill>
                <a:latin typeface="Arial"/>
                <a:cs typeface="Arial"/>
              </a:rPr>
              <a:t>ve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8" y="1349008"/>
            <a:ext cx="3799514" cy="2146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0504" marR="5080" indent="-21844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1. 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Develop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 an</a:t>
            </a:r>
            <a:r>
              <a:rPr sz="2000" b="1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Automated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1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Program/Software:</a:t>
            </a:r>
            <a:r>
              <a:rPr sz="2000" b="1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Create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Python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application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using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pandas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clean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categorize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raw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1C1A1A"/>
                </a:solidFill>
                <a:latin typeface="Arial"/>
                <a:cs typeface="Arial"/>
              </a:rPr>
              <a:t>CSV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into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meaningful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insights.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3757" y="2053161"/>
            <a:ext cx="5576570" cy="142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475" marR="5080" indent="-23241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2.  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1C1A1A"/>
                </a:solidFill>
                <a:latin typeface="Arial"/>
                <a:cs typeface="Arial"/>
              </a:rPr>
              <a:t>Generate</a:t>
            </a:r>
            <a:r>
              <a:rPr sz="2000"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1C1A1A"/>
                </a:solidFill>
                <a:latin typeface="Arial"/>
                <a:cs typeface="Arial"/>
              </a:rPr>
              <a:t>Visual</a:t>
            </a:r>
            <a:r>
              <a:rPr sz="2000" b="1" spc="1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C1A1A"/>
                </a:solidFill>
                <a:latin typeface="Arial"/>
                <a:cs typeface="Arial"/>
              </a:rPr>
              <a:t>Reports:</a:t>
            </a:r>
            <a:r>
              <a:rPr sz="2000" b="1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Utilize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openpyxl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 to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auto-generate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Excel</a:t>
            </a:r>
            <a:r>
              <a:rPr sz="20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dashboards</a:t>
            </a:r>
            <a:r>
              <a:rPr sz="20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with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summary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tables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pie</a:t>
            </a: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charts</a:t>
            </a:r>
            <a:r>
              <a:rPr sz="2000" spc="-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immediate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user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feedback.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412" y="4572000"/>
            <a:ext cx="5425440" cy="142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 marR="5080" indent="-22987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3.  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1C1A1A"/>
                </a:solidFill>
                <a:latin typeface="Arial"/>
                <a:cs typeface="Arial"/>
              </a:rPr>
              <a:t>Ensure</a:t>
            </a:r>
            <a:r>
              <a:rPr sz="2000"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b="1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Sovereignty:</a:t>
            </a:r>
            <a:r>
              <a:rPr sz="2000"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Validate</a:t>
            </a:r>
            <a:r>
              <a:rPr sz="20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local-execution</a:t>
            </a:r>
            <a:r>
              <a:rPr sz="20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model</a:t>
            </a:r>
            <a:r>
              <a:rPr sz="20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where</a:t>
            </a:r>
            <a:r>
              <a:rPr sz="20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all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processing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occurs</a:t>
            </a:r>
            <a:r>
              <a:rPr sz="20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20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client</a:t>
            </a:r>
            <a:r>
              <a:rPr sz="20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machine,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eliminating</a:t>
            </a:r>
            <a:r>
              <a:rPr sz="20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third-party</a:t>
            </a:r>
            <a:r>
              <a:rPr sz="20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risks.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494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812" y="685801"/>
            <a:ext cx="10744200" cy="2794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VI.</a:t>
            </a:r>
            <a:r>
              <a:rPr sz="3200" b="1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Plann</a:t>
            </a:r>
            <a:r>
              <a:rPr sz="3200" b="1" spc="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spc="40" dirty="0">
                <a:solidFill>
                  <a:srgbClr val="1C1A1A"/>
                </a:solidFill>
                <a:latin typeface="Arial"/>
                <a:cs typeface="Arial"/>
              </a:rPr>
              <a:t>ng</a:t>
            </a:r>
            <a:r>
              <a:rPr sz="3200" b="1" spc="-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z="32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60" dirty="0">
                <a:solidFill>
                  <a:srgbClr val="1C1A1A"/>
                </a:solidFill>
                <a:latin typeface="Arial"/>
                <a:cs typeface="Arial"/>
              </a:rPr>
              <a:t>Work</a:t>
            </a: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i="1" spc="7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i="1" spc="1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1C1A1A"/>
                </a:solidFill>
                <a:latin typeface="Arial"/>
                <a:cs typeface="Arial"/>
              </a:rPr>
              <a:t>Proposed</a:t>
            </a:r>
            <a:r>
              <a:rPr sz="3200"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1C1A1A"/>
                </a:solidFill>
                <a:latin typeface="Arial"/>
                <a:cs typeface="Arial"/>
              </a:rPr>
              <a:t>Solut</a:t>
            </a: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spc="30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endParaRPr sz="3200" dirty="0">
              <a:latin typeface="Arial"/>
              <a:cs typeface="Arial"/>
            </a:endParaRPr>
          </a:p>
          <a:p>
            <a:pPr marL="294640" lvl="1" indent="-276860">
              <a:lnSpc>
                <a:spcPct val="100000"/>
              </a:lnSpc>
              <a:spcBef>
                <a:spcPts val="1095"/>
              </a:spcBef>
              <a:buClr>
                <a:srgbClr val="1C1A1A"/>
              </a:buClr>
              <a:buFont typeface="Arial"/>
              <a:buAutoNum type="arabicPeriod"/>
              <a:tabLst>
                <a:tab pos="295275" algn="l"/>
              </a:tabLst>
            </a:pP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Current</a:t>
            </a:r>
            <a:r>
              <a:rPr sz="1600" b="1" spc="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1C1A1A"/>
                </a:solidFill>
                <a:latin typeface="Arial"/>
                <a:cs typeface="Arial"/>
              </a:rPr>
              <a:t>Implementat</a:t>
            </a: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1600" b="1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1600" b="1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Methodology</a:t>
            </a:r>
            <a:r>
              <a:rPr sz="1600" b="1" spc="20" dirty="0">
                <a:solidFill>
                  <a:srgbClr val="1C1A1A"/>
                </a:solidFill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current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system</a:t>
            </a:r>
            <a:r>
              <a:rPr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is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functional</a:t>
            </a:r>
            <a:r>
              <a:rPr sz="1400" spc="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Python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script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executing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linear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pipeline:</a:t>
            </a:r>
            <a:endParaRPr sz="1400" dirty="0">
              <a:latin typeface="Arial"/>
              <a:cs typeface="Arial"/>
            </a:endParaRPr>
          </a:p>
          <a:p>
            <a:pPr marL="320040" lvl="2" indent="-220979">
              <a:lnSpc>
                <a:spcPct val="100000"/>
              </a:lnSpc>
              <a:spcBef>
                <a:spcPts val="835"/>
              </a:spcBef>
              <a:buClr>
                <a:srgbClr val="1C1A1A"/>
              </a:buClr>
              <a:buFont typeface="Arial"/>
              <a:buAutoNum type="arabicPeriod"/>
              <a:tabLst>
                <a:tab pos="326390" algn="l"/>
              </a:tabLst>
            </a:pP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Input</a:t>
            </a:r>
            <a:r>
              <a:rPr sz="1400"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40" dirty="0">
                <a:solidFill>
                  <a:srgbClr val="1C1A1A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script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accepts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raw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1C1A1A"/>
                </a:solidFill>
                <a:latin typeface="Arial"/>
                <a:cs typeface="Arial"/>
              </a:rPr>
              <a:t>CSV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statement.</a:t>
            </a:r>
            <a:endParaRPr sz="1400" dirty="0">
              <a:latin typeface="Arial"/>
              <a:cs typeface="Arial"/>
            </a:endParaRPr>
          </a:p>
          <a:p>
            <a:pPr marL="320040" marR="136525" lvl="2" indent="-232410">
              <a:lnSpc>
                <a:spcPct val="120100"/>
              </a:lnSpc>
              <a:buClr>
                <a:srgbClr val="1C1A1A"/>
              </a:buClr>
              <a:buFont typeface="Arial"/>
              <a:buAutoNum type="arabicPeriod"/>
              <a:tabLst>
                <a:tab pos="323215" algn="l"/>
              </a:tabLst>
            </a:pP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Cleaning:</a:t>
            </a:r>
            <a:r>
              <a:rPr sz="1400" b="1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clean_amount_column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function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sanitizes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currency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strings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(removing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55" dirty="0">
                <a:solidFill>
                  <a:srgbClr val="1C1A1A"/>
                </a:solidFill>
                <a:latin typeface="Arial"/>
                <a:cs typeface="Arial"/>
              </a:rPr>
              <a:t>·</a:t>
            </a:r>
            <a:r>
              <a:rPr sz="1400" spc="-85" dirty="0">
                <a:solidFill>
                  <a:srgbClr val="1C1A1A"/>
                </a:solidFill>
                <a:latin typeface="Arial"/>
                <a:cs typeface="Arial"/>
              </a:rPr>
              <a:t>·,</a:t>
            </a:r>
            <a:r>
              <a:rPr sz="1400" spc="-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commas)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standardizes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types.</a:t>
            </a:r>
            <a:endParaRPr sz="1400" dirty="0">
              <a:latin typeface="Arial"/>
              <a:cs typeface="Arial"/>
            </a:endParaRPr>
          </a:p>
          <a:p>
            <a:pPr marL="320040" marR="450215" lvl="2" indent="-229235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AutoNum type="arabicPeriod"/>
              <a:tabLst>
                <a:tab pos="323215" algn="l"/>
              </a:tabLst>
            </a:pP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Categorization:</a:t>
            </a:r>
            <a:r>
              <a:rPr sz="1400"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keyword-matching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algorithm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maps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transaction</a:t>
            </a:r>
            <a:r>
              <a:rPr sz="1400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descriptions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categories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e.g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.</a:t>
            </a:r>
            <a:r>
              <a:rPr sz="1400" spc="145" dirty="0">
                <a:solidFill>
                  <a:srgbClr val="1C1A1A"/>
                </a:solidFill>
                <a:latin typeface="Arial"/>
                <a:cs typeface="Arial"/>
              </a:rPr>
              <a:t>,</a:t>
            </a:r>
            <a:r>
              <a:rPr sz="1400" spc="-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"Swiggy"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70" dirty="0">
                <a:solidFill>
                  <a:srgbClr val="1C1A1A"/>
                </a:solidFill>
                <a:latin typeface="Arial"/>
                <a:cs typeface="Arial"/>
              </a:rPr>
              <a:t>---+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"Food")</a:t>
            </a:r>
            <a:r>
              <a:rPr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using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predefined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dictionary.</a:t>
            </a:r>
            <a:endParaRPr sz="1400" dirty="0">
              <a:latin typeface="Arial"/>
              <a:cs typeface="Arial"/>
            </a:endParaRPr>
          </a:p>
          <a:p>
            <a:pPr marL="322580" marR="5080" lvl="2" indent="-234950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AutoNum type="arabicPeriod"/>
              <a:tabLst>
                <a:tab pos="326390" algn="l"/>
              </a:tabLst>
            </a:pPr>
            <a:r>
              <a:rPr sz="1400" b="1" dirty="0">
                <a:solidFill>
                  <a:srgbClr val="1C1A1A"/>
                </a:solidFill>
                <a:latin typeface="Arial"/>
                <a:cs typeface="Arial"/>
              </a:rPr>
              <a:t>Reporting:</a:t>
            </a:r>
            <a:r>
              <a:rPr sz="1400" b="1" spc="-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openpyxl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library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generates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structured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C1A1A"/>
                </a:solidFill>
                <a:latin typeface="Arial"/>
                <a:cs typeface="Arial"/>
              </a:rPr>
              <a:t>.xlsx</a:t>
            </a:r>
            <a:r>
              <a:rPr sz="14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file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contai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ning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transaction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log,</a:t>
            </a:r>
            <a:r>
              <a:rPr sz="14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category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summary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table,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an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embedded</a:t>
            </a:r>
            <a:r>
              <a:rPr sz="1400" spc="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1C1A1A"/>
                </a:solidFill>
                <a:latin typeface="Arial"/>
                <a:cs typeface="Arial"/>
              </a:rPr>
              <a:t>Pie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Chart.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812" y="3620940"/>
            <a:ext cx="11277600" cy="22447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630">
              <a:lnSpc>
                <a:spcPct val="100000"/>
              </a:lnSpc>
            </a:pPr>
            <a:r>
              <a:rPr sz="1950" b="1" spc="20" dirty="0">
                <a:solidFill>
                  <a:srgbClr val="1C1A1A"/>
                </a:solidFill>
                <a:latin typeface="Arial"/>
                <a:cs typeface="Arial"/>
              </a:rPr>
              <a:t>Future</a:t>
            </a:r>
            <a:r>
              <a:rPr sz="1950" b="1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1C1A1A"/>
                </a:solidFill>
                <a:latin typeface="Arial"/>
                <a:cs typeface="Arial"/>
              </a:rPr>
              <a:t>Enhancements</a:t>
            </a: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expand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beyond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current</a:t>
            </a:r>
            <a:r>
              <a:rPr sz="1400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prototype,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project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will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integrate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1C1A1A"/>
                </a:solidFill>
                <a:latin typeface="Arial"/>
                <a:cs typeface="Arial"/>
              </a:rPr>
              <a:t>API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ML</a:t>
            </a:r>
            <a:r>
              <a:rPr sz="1400" spc="-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capabilities:</a:t>
            </a:r>
            <a:endParaRPr sz="1400" dirty="0">
              <a:latin typeface="Arial"/>
              <a:cs typeface="Arial"/>
            </a:endParaRPr>
          </a:p>
          <a:p>
            <a:pPr marL="308610" marR="109855" indent="-220979">
              <a:lnSpc>
                <a:spcPct val="119300"/>
              </a:lnSpc>
              <a:spcBef>
                <a:spcPts val="605"/>
              </a:spcBef>
              <a:buClr>
                <a:srgbClr val="1C1A1A"/>
              </a:buClr>
              <a:buFont typeface="Arial"/>
              <a:buChar char="•"/>
              <a:tabLst>
                <a:tab pos="317500" algn="l"/>
              </a:tabLst>
            </a:pP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Phase</a:t>
            </a:r>
            <a:r>
              <a:rPr sz="14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C1A1A"/>
                </a:solidFill>
                <a:latin typeface="Arial"/>
                <a:cs typeface="Arial"/>
              </a:rPr>
              <a:t>1:</a:t>
            </a:r>
            <a:r>
              <a:rPr sz="1400" b="1" spc="-1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1C1A1A"/>
                </a:solidFill>
                <a:latin typeface="Arial"/>
                <a:cs typeface="Arial"/>
              </a:rPr>
              <a:t>API</a:t>
            </a:r>
            <a:r>
              <a:rPr sz="1400" b="1" spc="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C1A1A"/>
                </a:solidFill>
                <a:latin typeface="Arial"/>
                <a:cs typeface="Arial"/>
              </a:rPr>
              <a:t>Integration</a:t>
            </a:r>
            <a:r>
              <a:rPr sz="1400" b="1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(Plaid):</a:t>
            </a:r>
            <a:r>
              <a:rPr sz="1400" b="1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Replace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manual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1C1A1A"/>
                </a:solidFill>
                <a:latin typeface="Arial"/>
                <a:cs typeface="Arial"/>
              </a:rPr>
              <a:t>CSV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downloads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with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Plaid</a:t>
            </a:r>
            <a:r>
              <a:rPr sz="14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1C1A1A"/>
                </a:solidFill>
                <a:latin typeface="Arial"/>
                <a:cs typeface="Arial"/>
              </a:rPr>
              <a:t>API.</a:t>
            </a: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application</a:t>
            </a:r>
            <a:r>
              <a:rPr sz="1400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will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fetch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transactions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directly</a:t>
            </a:r>
            <a:r>
              <a:rPr sz="1400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using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locally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stored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access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token, maintaining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"local-first"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architecture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while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adding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sync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convenience.</a:t>
            </a:r>
            <a:endParaRPr sz="1400" dirty="0">
              <a:latin typeface="Arial"/>
              <a:cs typeface="Arial"/>
            </a:endParaRPr>
          </a:p>
          <a:p>
            <a:pPr marL="314325" marR="124460" indent="-226695">
              <a:lnSpc>
                <a:spcPct val="119300"/>
              </a:lnSpc>
              <a:spcBef>
                <a:spcPts val="10"/>
              </a:spcBef>
              <a:buClr>
                <a:srgbClr val="1C1A1A"/>
              </a:buClr>
              <a:buFont typeface="Arial"/>
              <a:buChar char="•"/>
              <a:tabLst>
                <a:tab pos="317500" algn="l"/>
              </a:tabLst>
            </a:pP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Phase</a:t>
            </a:r>
            <a:r>
              <a:rPr sz="14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C1A1A"/>
                </a:solidFill>
                <a:latin typeface="Arial"/>
                <a:cs typeface="Arial"/>
              </a:rPr>
              <a:t>2:</a:t>
            </a: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Intelligent</a:t>
            </a:r>
            <a:r>
              <a:rPr sz="1400" b="1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1C1A1A"/>
                </a:solidFill>
                <a:latin typeface="Arial"/>
                <a:cs typeface="Arial"/>
              </a:rPr>
              <a:t>ML</a:t>
            </a: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Categorization:</a:t>
            </a:r>
            <a:r>
              <a:rPr sz="14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1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Replace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static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keywords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with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scikit-learn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Naive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Bayes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classifier.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system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will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learn</a:t>
            </a:r>
            <a:r>
              <a:rPr sz="14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from</a:t>
            </a:r>
            <a:r>
              <a:rPr sz="1400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user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corrections,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creating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personalized</a:t>
            </a:r>
            <a:r>
              <a:rPr sz="1400" spc="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model</a:t>
            </a:r>
            <a:r>
              <a:rPr sz="14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that</a:t>
            </a:r>
            <a:r>
              <a:rPr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improves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over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time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without</a:t>
            </a:r>
            <a:r>
              <a:rPr sz="1400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sharing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data.</a:t>
            </a:r>
            <a:endParaRPr sz="1400" dirty="0">
              <a:latin typeface="Arial"/>
              <a:cs typeface="Arial"/>
            </a:endParaRPr>
          </a:p>
          <a:p>
            <a:pPr marL="311785" marR="5080" indent="-224154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Char char="•"/>
              <a:tabLst>
                <a:tab pos="317500" algn="l"/>
              </a:tabLst>
            </a:pP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Phase</a:t>
            </a:r>
            <a:r>
              <a:rPr sz="14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1C1A1A"/>
                </a:solidFill>
                <a:latin typeface="Arial"/>
                <a:cs typeface="Arial"/>
              </a:rPr>
              <a:t>3:</a:t>
            </a:r>
            <a:r>
              <a:rPr sz="1400" b="1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C1A1A"/>
                </a:solidFill>
                <a:latin typeface="Arial"/>
                <a:cs typeface="Arial"/>
              </a:rPr>
              <a:t>Predictive</a:t>
            </a:r>
            <a:r>
              <a:rPr sz="1400"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Forecasting:</a:t>
            </a:r>
            <a:r>
              <a:rPr sz="1400"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Implement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time-series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forecasting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predict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future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spending</a:t>
            </a:r>
            <a:r>
              <a:rPr sz="1400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trends</a:t>
            </a:r>
            <a:r>
              <a:rPr sz="1400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based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historical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data,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alerting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users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potential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budget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overruns.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9012" y="914400"/>
            <a:ext cx="9982200" cy="548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9262" y="228600"/>
            <a:ext cx="39751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9259" indent="-416559">
              <a:lnSpc>
                <a:spcPct val="100000"/>
              </a:lnSpc>
              <a:buClr>
                <a:srgbClr val="1C1A1A"/>
              </a:buClr>
              <a:buFont typeface="Arial"/>
              <a:buAutoNum type="romanUcPeriod" startAt="7"/>
              <a:tabLst>
                <a:tab pos="429895" algn="l"/>
              </a:tabLst>
            </a:pP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Screenshots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4A5C96-B8CB-9ED5-7FF6-F5577A1E8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6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C01849A3-AB44-A476-BD22-9AD98D19B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1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93EEEC0-8E85-FD55-A367-4050D844D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7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D7D43C-2791-7579-8377-E7B8789D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3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32E166-826D-4F8C-D6AF-7FCEDE5E2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53"/>
            <a:ext cx="12188825" cy="65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82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52FE90-5868-CF2B-5638-0CD27E1F7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53"/>
            <a:ext cx="12188825" cy="65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9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496" y="1347985"/>
            <a:ext cx="1878964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30" dirty="0">
                <a:solidFill>
                  <a:srgbClr val="1C1A1C"/>
                </a:solidFill>
                <a:latin typeface="Arial"/>
                <a:cs typeface="Arial"/>
              </a:rPr>
              <a:t>VIII.</a:t>
            </a:r>
            <a:r>
              <a:rPr sz="1750" b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750" b="1" spc="-105" dirty="0">
                <a:solidFill>
                  <a:srgbClr val="1C1A1C"/>
                </a:solidFill>
                <a:latin typeface="Arial"/>
                <a:cs typeface="Arial"/>
              </a:rPr>
              <a:t>B</a:t>
            </a:r>
            <a:r>
              <a:rPr sz="1750" b="1" spc="-60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750" b="1" spc="5" dirty="0">
                <a:solidFill>
                  <a:srgbClr val="1C1A1C"/>
                </a:solidFill>
                <a:latin typeface="Arial"/>
                <a:cs typeface="Arial"/>
              </a:rPr>
              <a:t>bliography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997" y="1730861"/>
            <a:ext cx="5885815" cy="177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12725">
              <a:lnSpc>
                <a:spcPct val="100000"/>
              </a:lnSpc>
              <a:buClr>
                <a:srgbClr val="1C1A1C"/>
              </a:buClr>
              <a:buSzPct val="104761"/>
              <a:buFont typeface="Arial"/>
              <a:buAutoNum type="arabicPeriod"/>
              <a:tabLst>
                <a:tab pos="250825" algn="l"/>
              </a:tabLst>
            </a:pP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Pandas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Development</a:t>
            </a:r>
            <a:r>
              <a:rPr sz="1050" b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Team.</a:t>
            </a:r>
            <a:r>
              <a:rPr sz="1050" b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5" dirty="0">
                <a:solidFill>
                  <a:srgbClr val="1C1A1C"/>
                </a:solidFill>
                <a:latin typeface="Arial"/>
                <a:cs typeface="Arial"/>
              </a:rPr>
              <a:t>pandas:</a:t>
            </a:r>
            <a:r>
              <a:rPr sz="1100" i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powerful</a:t>
            </a:r>
            <a:r>
              <a:rPr sz="1100" i="1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Python</a:t>
            </a:r>
            <a:r>
              <a:rPr sz="1100" i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analysis</a:t>
            </a:r>
            <a:r>
              <a:rPr sz="1100" i="1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25" dirty="0">
                <a:solidFill>
                  <a:srgbClr val="1C1A1C"/>
                </a:solidFill>
                <a:latin typeface="Arial"/>
                <a:cs typeface="Arial"/>
              </a:rPr>
              <a:t>toolkit.</a:t>
            </a:r>
            <a:endParaRPr sz="110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265"/>
              </a:spcBef>
            </a:pP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https://pandas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pydata.org</a:t>
            </a:r>
            <a:endParaRPr sz="1100">
              <a:latin typeface="Arial"/>
              <a:cs typeface="Arial"/>
            </a:endParaRPr>
          </a:p>
          <a:p>
            <a:pPr marL="236220" marR="447040" indent="-223520">
              <a:lnSpc>
                <a:spcPts val="1590"/>
              </a:lnSpc>
              <a:spcBef>
                <a:spcPts val="90"/>
              </a:spcBef>
              <a:buClr>
                <a:srgbClr val="1C1A1C"/>
              </a:buClr>
              <a:buSzPct val="104761"/>
              <a:buFont typeface="Arial"/>
              <a:buAutoNum type="arabicPeriod" startAt="2"/>
              <a:tabLst>
                <a:tab pos="247650" algn="l"/>
              </a:tabLst>
            </a:pP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Gazoni,</a:t>
            </a:r>
            <a:r>
              <a:rPr sz="1050" b="1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1C1A1C"/>
                </a:solidFill>
                <a:latin typeface="Arial"/>
                <a:cs typeface="Arial"/>
              </a:rPr>
              <a:t>E.</a:t>
            </a:r>
            <a:r>
              <a:rPr sz="1050" b="1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50" b="1" spc="-175" dirty="0">
                <a:solidFill>
                  <a:srgbClr val="1C1A1C"/>
                </a:solidFill>
                <a:latin typeface="Times New Roman"/>
                <a:cs typeface="Times New Roman"/>
              </a:rPr>
              <a:t>&amp;</a:t>
            </a:r>
            <a:r>
              <a:rPr sz="1150" b="1" spc="50" dirty="0">
                <a:solidFill>
                  <a:srgbClr val="1C1A1C"/>
                </a:solidFill>
                <a:latin typeface="Times New Roman"/>
                <a:cs typeface="Times New Roman"/>
              </a:rPr>
              <a:t> 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Clark,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C.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openpyxl:</a:t>
            </a:r>
            <a:r>
              <a:rPr sz="1100" i="1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i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Python</a:t>
            </a:r>
            <a:r>
              <a:rPr sz="1100" i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library</a:t>
            </a:r>
            <a:r>
              <a:rPr sz="1100" i="1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45" dirty="0">
                <a:solidFill>
                  <a:srgbClr val="1C1A1C"/>
                </a:solidFill>
                <a:latin typeface="Arial"/>
                <a:cs typeface="Arial"/>
              </a:rPr>
              <a:t>to</a:t>
            </a:r>
            <a:r>
              <a:rPr sz="1100" i="1" spc="-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read/write</a:t>
            </a:r>
            <a:r>
              <a:rPr sz="1100" i="1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Excel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2010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xlsxlxlsm</a:t>
            </a:r>
            <a:r>
              <a:rPr sz="1100" i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files.</a:t>
            </a:r>
            <a:r>
              <a:rPr sz="1100" i="1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https://openpyxl.readthedocs.io</a:t>
            </a:r>
            <a:endParaRPr sz="1100">
              <a:latin typeface="Arial"/>
              <a:cs typeface="Arial"/>
            </a:endParaRPr>
          </a:p>
          <a:p>
            <a:pPr marL="250190" indent="-234950">
              <a:lnSpc>
                <a:spcPct val="100000"/>
              </a:lnSpc>
              <a:spcBef>
                <a:spcPts val="145"/>
              </a:spcBef>
              <a:buClr>
                <a:srgbClr val="1C1A1C"/>
              </a:buClr>
              <a:buSzPct val="104761"/>
              <a:buFont typeface="Arial"/>
              <a:buAutoNum type="arabicPeriod" startAt="2"/>
              <a:tabLst>
                <a:tab pos="250825" algn="l"/>
              </a:tabLst>
            </a:pP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Pedregosa,</a:t>
            </a:r>
            <a:r>
              <a:rPr sz="1050" b="1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C1A1C"/>
                </a:solidFill>
                <a:latin typeface="Arial"/>
                <a:cs typeface="Arial"/>
              </a:rPr>
              <a:t>F.</a:t>
            </a:r>
            <a:r>
              <a:rPr sz="1050" b="1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55" dirty="0">
                <a:solidFill>
                  <a:srgbClr val="1C1A1C"/>
                </a:solidFill>
                <a:latin typeface="Arial"/>
                <a:cs typeface="Arial"/>
              </a:rPr>
              <a:t>et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al.</a:t>
            </a:r>
            <a:r>
              <a:rPr sz="105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(2011)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.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Scikit-learn:</a:t>
            </a:r>
            <a:r>
              <a:rPr sz="1100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Python.</a:t>
            </a:r>
            <a:r>
              <a:rPr sz="1100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Journal</a:t>
            </a:r>
            <a:r>
              <a:rPr sz="1100" i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100" i="1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endParaRPr sz="11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265"/>
              </a:spcBef>
            </a:pP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i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1C1A1C"/>
                </a:solidFill>
                <a:latin typeface="Arial"/>
                <a:cs typeface="Arial"/>
              </a:rPr>
              <a:t>Research,</a:t>
            </a:r>
            <a:r>
              <a:rPr sz="1100" i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1C1A1C"/>
                </a:solidFill>
                <a:latin typeface="Arial"/>
                <a:cs typeface="Arial"/>
              </a:rPr>
              <a:t>12,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2825-2830.</a:t>
            </a:r>
            <a:endParaRPr sz="11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240"/>
              </a:spcBef>
              <a:buClr>
                <a:srgbClr val="1C1A1C"/>
              </a:buClr>
              <a:buSzPct val="104761"/>
              <a:buFont typeface="Arial"/>
              <a:buAutoNum type="arabicPeriod" startAt="4"/>
              <a:tabLst>
                <a:tab pos="250825" algn="l"/>
              </a:tabLst>
            </a:pPr>
            <a:r>
              <a:rPr sz="1050" b="1" spc="15" dirty="0">
                <a:solidFill>
                  <a:srgbClr val="1C1A1C"/>
                </a:solidFill>
                <a:latin typeface="Arial"/>
                <a:cs typeface="Arial"/>
              </a:rPr>
              <a:t>Plaid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Inc.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Plaid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i="1" spc="40" dirty="0">
                <a:solidFill>
                  <a:srgbClr val="1C1A1C"/>
                </a:solidFill>
                <a:latin typeface="Arial"/>
                <a:cs typeface="Arial"/>
              </a:rPr>
              <a:t>P</a:t>
            </a:r>
            <a:r>
              <a:rPr sz="1100" i="1" spc="-185" dirty="0">
                <a:solidFill>
                  <a:srgbClr val="1C1A1C"/>
                </a:solidFill>
                <a:latin typeface="Arial"/>
                <a:cs typeface="Arial"/>
              </a:rPr>
              <a:t>/</a:t>
            </a:r>
            <a:r>
              <a:rPr sz="1100" i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Documentation.</a:t>
            </a:r>
            <a:r>
              <a:rPr sz="1100" i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https://plaid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com/docs/</a:t>
            </a:r>
            <a:endParaRPr sz="1100">
              <a:latin typeface="Arial"/>
              <a:cs typeface="Arial"/>
            </a:endParaRPr>
          </a:p>
          <a:p>
            <a:pPr marL="247015" marR="761365" indent="-231775">
              <a:lnSpc>
                <a:spcPct val="118400"/>
              </a:lnSpc>
              <a:spcBef>
                <a:spcPts val="45"/>
              </a:spcBef>
              <a:buClr>
                <a:srgbClr val="1C1A1C"/>
              </a:buClr>
              <a:buSzPct val="104761"/>
              <a:buFont typeface="Arial"/>
              <a:buAutoNum type="arabicPeriod" startAt="4"/>
              <a:tabLst>
                <a:tab pos="242570" algn="l"/>
              </a:tabLst>
            </a:pPr>
            <a:r>
              <a:rPr sz="1050" b="1" spc="-15" dirty="0">
                <a:solidFill>
                  <a:srgbClr val="1C1A1C"/>
                </a:solidFill>
                <a:latin typeface="Arial"/>
                <a:cs typeface="Arial"/>
              </a:rPr>
              <a:t>You</a:t>
            </a:r>
            <a:r>
              <a:rPr sz="105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1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Need</a:t>
            </a:r>
            <a:r>
              <a:rPr sz="1050" b="1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050" b="1" spc="1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Budget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10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YNAB</a:t>
            </a:r>
            <a:r>
              <a:rPr sz="1050" b="1" spc="10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050" b="1" spc="5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100" i="1" spc="-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Four</a:t>
            </a:r>
            <a:r>
              <a:rPr sz="1100" i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1C1A1C"/>
                </a:solidFill>
                <a:latin typeface="Arial"/>
                <a:cs typeface="Arial"/>
              </a:rPr>
              <a:t>Rules</a:t>
            </a:r>
            <a:r>
              <a:rPr sz="1100" i="1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30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100" i="1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Budgeting.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  <a:hlinkClick r:id="rId3"/>
              </a:rPr>
              <a:t>https://www.ynab.com/the-fou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  <a:hlinkClick r:id="rId3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r-rules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1A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1230</Words>
  <Application>Microsoft Office PowerPoint</Application>
  <PresentationFormat>Custom</PresentationFormat>
  <Paragraphs>167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Courier New</vt:lpstr>
      <vt:lpstr>Times New Roman</vt:lpstr>
      <vt:lpstr>Office Theme</vt:lpstr>
      <vt:lpstr>Personal Finance  Tracker </vt:lpstr>
      <vt:lpstr>I. Introduction to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Piyush Prakash Sharma [CSE - 2024]</cp:lastModifiedBy>
  <cp:revision>3</cp:revision>
  <dcterms:created xsi:type="dcterms:W3CDTF">2025-11-18T21:21:43Z</dcterms:created>
  <dcterms:modified xsi:type="dcterms:W3CDTF">2025-11-18T20:45:02Z</dcterms:modified>
</cp:coreProperties>
</file>